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Bold" charset="1" panose="020B0704020202020204"/>
      <p:regular r:id="rId18"/>
    </p:embeddedFont>
    <p:embeddedFont>
      <p:font typeface="Calibri (MS) Bold" charset="1" panose="020F0702030404030204"/>
      <p:regular r:id="rId19"/>
    </p:embeddedFont>
    <p:embeddedFont>
      <p:font typeface="Aptos Bold" charset="1" panose="020B0004020202020204"/>
      <p:regular r:id="rId20"/>
    </p:embeddedFont>
    <p:embeddedFont>
      <p:font typeface="Arial" charset="1" panose="020B0604020202020204"/>
      <p:regular r:id="rId21"/>
    </p:embeddedFont>
    <p:embeddedFont>
      <p:font typeface="Aptos" charset="1" panose="020B0004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56335" y="1005459"/>
            <a:ext cx="3653790" cy="540258"/>
            <a:chOff x="0" y="0"/>
            <a:chExt cx="4871720" cy="720344"/>
          </a:xfrm>
        </p:grpSpPr>
        <p:sp>
          <p:nvSpPr>
            <p:cNvPr name="Freeform 3" id="3"/>
            <p:cNvSpPr/>
            <p:nvPr/>
          </p:nvSpPr>
          <p:spPr>
            <a:xfrm flipH="false" flipV="false" rot="0">
              <a:off x="0" y="0"/>
              <a:ext cx="4871720" cy="720344"/>
            </a:xfrm>
            <a:custGeom>
              <a:avLst/>
              <a:gdLst/>
              <a:ahLst/>
              <a:cxnLst/>
              <a:rect r="r" b="b" t="t" l="l"/>
              <a:pathLst>
                <a:path h="720344" w="4871720">
                  <a:moveTo>
                    <a:pt x="0" y="360172"/>
                  </a:moveTo>
                  <a:cubicBezTo>
                    <a:pt x="0" y="161290"/>
                    <a:pt x="161290" y="0"/>
                    <a:pt x="360172" y="0"/>
                  </a:cubicBezTo>
                  <a:lnTo>
                    <a:pt x="4511548" y="0"/>
                  </a:lnTo>
                  <a:cubicBezTo>
                    <a:pt x="4710430" y="0"/>
                    <a:pt x="4871720" y="161290"/>
                    <a:pt x="4871720" y="360172"/>
                  </a:cubicBezTo>
                  <a:cubicBezTo>
                    <a:pt x="4871720" y="559054"/>
                    <a:pt x="4710430" y="720344"/>
                    <a:pt x="4511548" y="720344"/>
                  </a:cubicBezTo>
                  <a:lnTo>
                    <a:pt x="360172" y="720344"/>
                  </a:lnTo>
                  <a:cubicBezTo>
                    <a:pt x="161290" y="720344"/>
                    <a:pt x="0" y="559054"/>
                    <a:pt x="0" y="360172"/>
                  </a:cubicBezTo>
                  <a:close/>
                </a:path>
              </a:pathLst>
            </a:custGeom>
            <a:solidFill>
              <a:srgbClr val="FFFFFF"/>
            </a:solidFill>
            <a:ln w="19050" cap="sq">
              <a:solidFill>
                <a:srgbClr val="D9D3F0"/>
              </a:solidFill>
              <a:prstDash val="solid"/>
              <a:miter/>
            </a:ln>
          </p:spPr>
        </p:sp>
      </p:grpSp>
      <p:grpSp>
        <p:nvGrpSpPr>
          <p:cNvPr name="Group 4" id="4"/>
          <p:cNvGrpSpPr/>
          <p:nvPr/>
        </p:nvGrpSpPr>
        <p:grpSpPr>
          <a:xfrm rot="0">
            <a:off x="1165860" y="1014984"/>
            <a:ext cx="3634740" cy="521208"/>
            <a:chOff x="0" y="0"/>
            <a:chExt cx="4846320" cy="694944"/>
          </a:xfrm>
        </p:grpSpPr>
        <p:sp>
          <p:nvSpPr>
            <p:cNvPr name="Freeform 5" id="5"/>
            <p:cNvSpPr/>
            <p:nvPr/>
          </p:nvSpPr>
          <p:spPr>
            <a:xfrm flipH="false" flipV="false" rot="0">
              <a:off x="0" y="0"/>
              <a:ext cx="4846320" cy="694944"/>
            </a:xfrm>
            <a:custGeom>
              <a:avLst/>
              <a:gdLst/>
              <a:ahLst/>
              <a:cxnLst/>
              <a:rect r="r" b="b" t="t" l="l"/>
              <a:pathLst>
                <a:path h="694944" w="4846320">
                  <a:moveTo>
                    <a:pt x="0" y="0"/>
                  </a:moveTo>
                  <a:lnTo>
                    <a:pt x="4846320" y="0"/>
                  </a:lnTo>
                  <a:lnTo>
                    <a:pt x="4846320" y="694944"/>
                  </a:lnTo>
                  <a:lnTo>
                    <a:pt x="0" y="694944"/>
                  </a:lnTo>
                  <a:close/>
                </a:path>
              </a:pathLst>
            </a:custGeom>
            <a:blipFill>
              <a:blip r:embed="rId2">
                <a:alphaModFix amt="0"/>
              </a:blip>
              <a:stretch>
                <a:fillRect l="0" t="-85882" r="0" b="-85882"/>
              </a:stretch>
            </a:blipFill>
          </p:spPr>
        </p:sp>
        <p:sp>
          <p:nvSpPr>
            <p:cNvPr name="TextBox 6" id="6"/>
            <p:cNvSpPr txBox="true"/>
            <p:nvPr/>
          </p:nvSpPr>
          <p:spPr>
            <a:xfrm>
              <a:off x="0" y="-19050"/>
              <a:ext cx="4846320" cy="713994"/>
            </a:xfrm>
            <a:prstGeom prst="rect">
              <a:avLst/>
            </a:prstGeom>
          </p:spPr>
          <p:txBody>
            <a:bodyPr anchor="ctr" rtlCol="false" tIns="0" lIns="0" bIns="0" rIns="0"/>
            <a:lstStyle/>
            <a:p>
              <a:pPr algn="ctr">
                <a:lnSpc>
                  <a:spcPts val="1980"/>
                </a:lnSpc>
              </a:pPr>
              <a:r>
                <a:rPr lang="en-US" b="true" sz="1650">
                  <a:solidFill>
                    <a:srgbClr val="6D28D9"/>
                  </a:solidFill>
                  <a:latin typeface="Arial Bold"/>
                  <a:ea typeface="Arial Bold"/>
                  <a:cs typeface="Arial Bold"/>
                  <a:sym typeface="Arial Bold"/>
                </a:rPr>
                <a:t>SAMSUNG PRISM</a:t>
              </a:r>
            </a:p>
          </p:txBody>
        </p:sp>
      </p:grpSp>
      <p:grpSp>
        <p:nvGrpSpPr>
          <p:cNvPr name="Group 7" id="7"/>
          <p:cNvGrpSpPr/>
          <p:nvPr/>
        </p:nvGrpSpPr>
        <p:grpSpPr>
          <a:xfrm rot="0">
            <a:off x="1165860" y="1810512"/>
            <a:ext cx="9189720" cy="1124712"/>
            <a:chOff x="0" y="0"/>
            <a:chExt cx="12252960" cy="1499616"/>
          </a:xfrm>
        </p:grpSpPr>
        <p:sp>
          <p:nvSpPr>
            <p:cNvPr name="Freeform 8" id="8"/>
            <p:cNvSpPr/>
            <p:nvPr/>
          </p:nvSpPr>
          <p:spPr>
            <a:xfrm flipH="false" flipV="false" rot="0">
              <a:off x="0" y="0"/>
              <a:ext cx="12252960" cy="1499616"/>
            </a:xfrm>
            <a:custGeom>
              <a:avLst/>
              <a:gdLst/>
              <a:ahLst/>
              <a:cxnLst/>
              <a:rect r="r" b="b" t="t" l="l"/>
              <a:pathLst>
                <a:path h="1499616" w="12252960">
                  <a:moveTo>
                    <a:pt x="0" y="0"/>
                  </a:moveTo>
                  <a:lnTo>
                    <a:pt x="12252960" y="0"/>
                  </a:lnTo>
                  <a:lnTo>
                    <a:pt x="12252960" y="1499616"/>
                  </a:lnTo>
                  <a:lnTo>
                    <a:pt x="0" y="1499616"/>
                  </a:lnTo>
                  <a:close/>
                </a:path>
              </a:pathLst>
            </a:custGeom>
            <a:blipFill>
              <a:blip r:embed="rId2">
                <a:alphaModFix amt="0"/>
              </a:blip>
              <a:stretch>
                <a:fillRect l="0" t="-109207" r="0" b="-109207"/>
              </a:stretch>
            </a:blipFill>
          </p:spPr>
        </p:sp>
        <p:sp>
          <p:nvSpPr>
            <p:cNvPr name="TextBox 9" id="9"/>
            <p:cNvSpPr txBox="true"/>
            <p:nvPr/>
          </p:nvSpPr>
          <p:spPr>
            <a:xfrm>
              <a:off x="0" y="-47625"/>
              <a:ext cx="12252960" cy="1547241"/>
            </a:xfrm>
            <a:prstGeom prst="rect">
              <a:avLst/>
            </a:prstGeom>
          </p:spPr>
          <p:txBody>
            <a:bodyPr anchor="ctr" rtlCol="false" tIns="0" lIns="0" bIns="0" rIns="0"/>
            <a:lstStyle/>
            <a:p>
              <a:pPr algn="l">
                <a:lnSpc>
                  <a:spcPts val="9000"/>
                </a:lnSpc>
              </a:pPr>
              <a:r>
                <a:rPr lang="en-US" b="true" sz="7500">
                  <a:solidFill>
                    <a:srgbClr val="14142B"/>
                  </a:solidFill>
                  <a:latin typeface="Arial Bold"/>
                  <a:ea typeface="Arial Bold"/>
                  <a:cs typeface="Arial Bold"/>
                  <a:sym typeface="Arial Bold"/>
                </a:rPr>
                <a:t>Generative AI</a:t>
              </a:r>
            </a:p>
          </p:txBody>
        </p:sp>
      </p:grpSp>
      <p:grpSp>
        <p:nvGrpSpPr>
          <p:cNvPr name="Group 10" id="10"/>
          <p:cNvGrpSpPr/>
          <p:nvPr/>
        </p:nvGrpSpPr>
        <p:grpSpPr>
          <a:xfrm rot="0">
            <a:off x="1165860" y="2852928"/>
            <a:ext cx="9189720" cy="1124712"/>
            <a:chOff x="0" y="0"/>
            <a:chExt cx="12252960" cy="1499616"/>
          </a:xfrm>
        </p:grpSpPr>
        <p:sp>
          <p:nvSpPr>
            <p:cNvPr name="Freeform 11" id="11"/>
            <p:cNvSpPr/>
            <p:nvPr/>
          </p:nvSpPr>
          <p:spPr>
            <a:xfrm flipH="false" flipV="false" rot="0">
              <a:off x="0" y="0"/>
              <a:ext cx="12252960" cy="1499616"/>
            </a:xfrm>
            <a:custGeom>
              <a:avLst/>
              <a:gdLst/>
              <a:ahLst/>
              <a:cxnLst/>
              <a:rect r="r" b="b" t="t" l="l"/>
              <a:pathLst>
                <a:path h="1499616" w="12252960">
                  <a:moveTo>
                    <a:pt x="0" y="0"/>
                  </a:moveTo>
                  <a:lnTo>
                    <a:pt x="12252960" y="0"/>
                  </a:lnTo>
                  <a:lnTo>
                    <a:pt x="12252960" y="1499616"/>
                  </a:lnTo>
                  <a:lnTo>
                    <a:pt x="0" y="1499616"/>
                  </a:lnTo>
                  <a:close/>
                </a:path>
              </a:pathLst>
            </a:custGeom>
            <a:blipFill>
              <a:blip r:embed="rId2">
                <a:alphaModFix amt="0"/>
              </a:blip>
              <a:stretch>
                <a:fillRect l="0" t="-109207" r="0" b="-109207"/>
              </a:stretch>
            </a:blipFill>
          </p:spPr>
        </p:sp>
        <p:sp>
          <p:nvSpPr>
            <p:cNvPr name="TextBox 12" id="12"/>
            <p:cNvSpPr txBox="true"/>
            <p:nvPr/>
          </p:nvSpPr>
          <p:spPr>
            <a:xfrm>
              <a:off x="0" y="-47625"/>
              <a:ext cx="12252960" cy="1547241"/>
            </a:xfrm>
            <a:prstGeom prst="rect">
              <a:avLst/>
            </a:prstGeom>
          </p:spPr>
          <p:txBody>
            <a:bodyPr anchor="ctr" rtlCol="false" tIns="0" lIns="0" bIns="0" rIns="0"/>
            <a:lstStyle/>
            <a:p>
              <a:pPr algn="l">
                <a:lnSpc>
                  <a:spcPts val="9000"/>
                </a:lnSpc>
              </a:pPr>
              <a:r>
                <a:rPr lang="en-US" b="true" sz="7500">
                  <a:solidFill>
                    <a:srgbClr val="6D28D9"/>
                  </a:solidFill>
                  <a:latin typeface="Arial Bold"/>
                  <a:ea typeface="Arial Bold"/>
                  <a:cs typeface="Arial Bold"/>
                  <a:sym typeface="Arial Bold"/>
                </a:rPr>
                <a:t>Hackathon</a:t>
              </a:r>
            </a:p>
          </p:txBody>
        </p:sp>
      </p:grpSp>
      <p:sp>
        <p:nvSpPr>
          <p:cNvPr name="TextBox 13" id="13"/>
          <p:cNvSpPr txBox="true"/>
          <p:nvPr/>
        </p:nvSpPr>
        <p:spPr>
          <a:xfrm rot="0">
            <a:off x="1028700" y="5253990"/>
            <a:ext cx="12827767" cy="2886075"/>
          </a:xfrm>
          <a:prstGeom prst="rect">
            <a:avLst/>
          </a:prstGeom>
        </p:spPr>
        <p:txBody>
          <a:bodyPr anchor="t" rtlCol="false" tIns="0" lIns="0" bIns="0" rIns="0">
            <a:spAutoFit/>
          </a:bodyPr>
          <a:lstStyle/>
          <a:p>
            <a:pPr algn="l" marL="434340" indent="-217170" lvl="1">
              <a:lnSpc>
                <a:spcPts val="2879"/>
              </a:lnSpc>
              <a:buFont typeface="Arial"/>
              <a:buChar char="•"/>
            </a:pPr>
            <a:r>
              <a:rPr lang="en-US" b="true" sz="2400">
                <a:solidFill>
                  <a:srgbClr val="63637E"/>
                </a:solidFill>
                <a:latin typeface="Calibri (MS) Bold"/>
                <a:ea typeface="Calibri (MS) Bold"/>
                <a:cs typeface="Calibri (MS) Bold"/>
                <a:sym typeface="Calibri (MS) Bold"/>
              </a:rPr>
              <a:t>Theme ID - 5</a:t>
            </a:r>
          </a:p>
          <a:p>
            <a:pPr algn="l" marL="434340" indent="-217170" lvl="1">
              <a:lnSpc>
                <a:spcPts val="2879"/>
              </a:lnSpc>
              <a:buFont typeface="Arial"/>
              <a:buChar char="•"/>
            </a:pPr>
            <a:r>
              <a:rPr lang="en-US" b="true" sz="2400">
                <a:solidFill>
                  <a:srgbClr val="63637E"/>
                </a:solidFill>
                <a:latin typeface="Calibri (MS) Bold"/>
                <a:ea typeface="Calibri (MS) Bold"/>
                <a:cs typeface="Calibri (MS) Bold"/>
                <a:sym typeface="Calibri (MS) Bold"/>
              </a:rPr>
              <a:t>Team Name - Code4Fun</a:t>
            </a:r>
          </a:p>
          <a:p>
            <a:pPr algn="l" marL="434340" indent="-217170" lvl="1">
              <a:lnSpc>
                <a:spcPts val="2879"/>
              </a:lnSpc>
              <a:buFont typeface="Arial"/>
              <a:buChar char="•"/>
            </a:pPr>
            <a:r>
              <a:rPr lang="en-US" b="true" sz="2400">
                <a:solidFill>
                  <a:srgbClr val="63637E"/>
                </a:solidFill>
                <a:latin typeface="Calibri (MS) Bold"/>
                <a:ea typeface="Calibri (MS) Bold"/>
                <a:cs typeface="Calibri (MS) Bold"/>
                <a:sym typeface="Calibri (MS) Bold"/>
              </a:rPr>
              <a:t>College Name - SRMIST</a:t>
            </a:r>
          </a:p>
          <a:p>
            <a:pPr algn="l" marL="434340" indent="-217170" lvl="1">
              <a:lnSpc>
                <a:spcPts val="2879"/>
              </a:lnSpc>
              <a:buFont typeface="Arial"/>
              <a:buChar char="•"/>
            </a:pPr>
            <a:r>
              <a:rPr lang="en-US" b="true" sz="2400">
                <a:solidFill>
                  <a:srgbClr val="63637E"/>
                </a:solidFill>
                <a:latin typeface="Calibri (MS) Bold"/>
                <a:ea typeface="Calibri (MS) Bold"/>
                <a:cs typeface="Calibri (MS) Bold"/>
                <a:sym typeface="Calibri (MS) Bold"/>
              </a:rPr>
              <a:t>Member Name &amp; Email 1- Aman Kumar Chouhan | ac8126@srmist.edu.in</a:t>
            </a:r>
          </a:p>
          <a:p>
            <a:pPr algn="l" marL="434340" indent="-217170" lvl="1">
              <a:lnSpc>
                <a:spcPts val="2879"/>
              </a:lnSpc>
              <a:buFont typeface="Arial"/>
              <a:buChar char="•"/>
            </a:pPr>
            <a:r>
              <a:rPr lang="en-US" b="true" sz="2400">
                <a:solidFill>
                  <a:srgbClr val="63637E"/>
                </a:solidFill>
                <a:latin typeface="Calibri (MS) Bold"/>
                <a:ea typeface="Calibri (MS) Bold"/>
                <a:cs typeface="Calibri (MS) Bold"/>
                <a:sym typeface="Calibri (MS) Bold"/>
              </a:rPr>
              <a:t>Member Name &amp; Email 2- Atharv Tamboli | at2421@srmist.edu.in</a:t>
            </a:r>
          </a:p>
          <a:p>
            <a:pPr algn="l" marL="434340" indent="-217170" lvl="1">
              <a:lnSpc>
                <a:spcPts val="2879"/>
              </a:lnSpc>
              <a:buFont typeface="Arial"/>
              <a:buChar char="•"/>
            </a:pPr>
            <a:r>
              <a:rPr lang="en-US" b="true" sz="2400">
                <a:solidFill>
                  <a:srgbClr val="63637E"/>
                </a:solidFill>
                <a:latin typeface="Calibri (MS) Bold"/>
                <a:ea typeface="Calibri (MS) Bold"/>
                <a:cs typeface="Calibri (MS) Bold"/>
                <a:sym typeface="Calibri (MS) Bold"/>
              </a:rPr>
              <a:t>Member Name &amp; Email 3- Ayush Kesarwani | ak2131@srmist.edu.in</a:t>
            </a:r>
          </a:p>
          <a:p>
            <a:pPr algn="l" marL="434340" indent="-217170" lvl="1">
              <a:lnSpc>
                <a:spcPts val="2879"/>
              </a:lnSpc>
              <a:buFont typeface="Arial"/>
              <a:buChar char="•"/>
            </a:pPr>
            <a:r>
              <a:rPr lang="en-US" b="true" sz="2400">
                <a:solidFill>
                  <a:srgbClr val="63637E"/>
                </a:solidFill>
                <a:latin typeface="Calibri (MS) Bold"/>
                <a:ea typeface="Calibri (MS) Bold"/>
                <a:cs typeface="Calibri (MS) Bold"/>
                <a:sym typeface="Calibri (MS) Bold"/>
              </a:rPr>
              <a:t>Submission Github link - https://github.com/atharvtamboli/PRISM_GENAI_HACKATHON_Y2026</a:t>
            </a:r>
          </a:p>
          <a:p>
            <a:pPr algn="l" marL="380048" indent="-190024" lvl="1">
              <a:lnSpc>
                <a:spcPts val="2520"/>
              </a:lnSpc>
            </a:pPr>
          </a:p>
        </p:txBody>
      </p:sp>
      <p:grpSp>
        <p:nvGrpSpPr>
          <p:cNvPr name="Group 14" id="14"/>
          <p:cNvGrpSpPr/>
          <p:nvPr/>
        </p:nvGrpSpPr>
        <p:grpSpPr>
          <a:xfrm rot="0">
            <a:off x="14367241" y="6471580"/>
            <a:ext cx="6858000" cy="6858000"/>
            <a:chOff x="0" y="0"/>
            <a:chExt cx="9144000" cy="9144000"/>
          </a:xfrm>
        </p:grpSpPr>
        <p:sp>
          <p:nvSpPr>
            <p:cNvPr name="Freeform 15" id="15" descr="hero_network.png"/>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3"/>
              <a:stretch>
                <a:fillRect l="0" t="0" r="0" b="0"/>
              </a:stretch>
            </a:blipFill>
          </p:spPr>
        </p:sp>
      </p:grpSp>
      <p:grpSp>
        <p:nvGrpSpPr>
          <p:cNvPr name="Group 16" id="16"/>
          <p:cNvGrpSpPr/>
          <p:nvPr/>
        </p:nvGrpSpPr>
        <p:grpSpPr>
          <a:xfrm rot="0">
            <a:off x="8645652" y="1275588"/>
            <a:ext cx="3154680" cy="466344"/>
            <a:chOff x="0" y="0"/>
            <a:chExt cx="4206240" cy="621792"/>
          </a:xfrm>
        </p:grpSpPr>
        <p:sp>
          <p:nvSpPr>
            <p:cNvPr name="Freeform 17" id="17"/>
            <p:cNvSpPr/>
            <p:nvPr/>
          </p:nvSpPr>
          <p:spPr>
            <a:xfrm flipH="false" flipV="false" rot="0">
              <a:off x="0" y="0"/>
              <a:ext cx="4206240" cy="621792"/>
            </a:xfrm>
            <a:custGeom>
              <a:avLst/>
              <a:gdLst/>
              <a:ahLst/>
              <a:cxnLst/>
              <a:rect r="r" b="b" t="t" l="l"/>
              <a:pathLst>
                <a:path h="621792" w="4206240">
                  <a:moveTo>
                    <a:pt x="0" y="103632"/>
                  </a:moveTo>
                  <a:cubicBezTo>
                    <a:pt x="0" y="46355"/>
                    <a:pt x="46355" y="0"/>
                    <a:pt x="103632" y="0"/>
                  </a:cubicBezTo>
                  <a:lnTo>
                    <a:pt x="4102608" y="0"/>
                  </a:lnTo>
                  <a:cubicBezTo>
                    <a:pt x="4159885" y="0"/>
                    <a:pt x="4206240" y="46355"/>
                    <a:pt x="4206240" y="103632"/>
                  </a:cubicBezTo>
                  <a:lnTo>
                    <a:pt x="4206240" y="518160"/>
                  </a:lnTo>
                  <a:cubicBezTo>
                    <a:pt x="4206240" y="575437"/>
                    <a:pt x="4159885" y="621792"/>
                    <a:pt x="4102608" y="621792"/>
                  </a:cubicBezTo>
                  <a:lnTo>
                    <a:pt x="103632" y="621792"/>
                  </a:lnTo>
                  <a:cubicBezTo>
                    <a:pt x="46355" y="621792"/>
                    <a:pt x="0" y="575437"/>
                    <a:pt x="0" y="518160"/>
                  </a:cubicBezTo>
                  <a:close/>
                </a:path>
              </a:pathLst>
            </a:custGeom>
            <a:solidFill>
              <a:srgbClr val="EEF7F8"/>
            </a:solidFill>
          </p:spPr>
        </p:sp>
        <p:sp>
          <p:nvSpPr>
            <p:cNvPr name="TextBox 18" id="18"/>
            <p:cNvSpPr txBox="true"/>
            <p:nvPr/>
          </p:nvSpPr>
          <p:spPr>
            <a:xfrm>
              <a:off x="0" y="-9525"/>
              <a:ext cx="4206240" cy="631317"/>
            </a:xfrm>
            <a:prstGeom prst="rect">
              <a:avLst/>
            </a:prstGeom>
          </p:spPr>
          <p:txBody>
            <a:bodyPr anchor="ctr" rtlCol="false" tIns="50800" lIns="50800" bIns="50800" rIns="50800"/>
            <a:lstStyle/>
            <a:p>
              <a:pPr algn="ctr">
                <a:lnSpc>
                  <a:spcPts val="1620"/>
                </a:lnSpc>
              </a:pPr>
              <a:r>
                <a:rPr lang="en-US" sz="1350" b="true">
                  <a:solidFill>
                    <a:srgbClr val="6C2FDB"/>
                  </a:solidFill>
                  <a:latin typeface="Aptos Bold"/>
                  <a:ea typeface="Aptos Bold"/>
                  <a:cs typeface="Aptos Bold"/>
                  <a:sym typeface="Aptos Bold"/>
                </a:rPr>
                <a:t>PROJECT CONCEPT</a:t>
              </a:r>
            </a:p>
          </p:txBody>
        </p:sp>
      </p:grpSp>
      <p:sp>
        <p:nvSpPr>
          <p:cNvPr name="TextBox 19" id="19"/>
          <p:cNvSpPr txBox="true"/>
          <p:nvPr/>
        </p:nvSpPr>
        <p:spPr>
          <a:xfrm rot="0">
            <a:off x="8645652" y="1869948"/>
            <a:ext cx="4727448" cy="1335024"/>
          </a:xfrm>
          <a:prstGeom prst="rect">
            <a:avLst/>
          </a:prstGeom>
        </p:spPr>
        <p:txBody>
          <a:bodyPr anchor="t" rtlCol="false" tIns="0" lIns="0" bIns="0" rIns="0">
            <a:spAutoFit/>
          </a:bodyPr>
          <a:lstStyle/>
          <a:p>
            <a:pPr algn="l">
              <a:lnSpc>
                <a:spcPts val="3960"/>
              </a:lnSpc>
            </a:pPr>
            <a:r>
              <a:rPr lang="en-US" sz="3300" b="true">
                <a:solidFill>
                  <a:srgbClr val="12122D"/>
                </a:solidFill>
                <a:latin typeface="Aptos Bold"/>
                <a:ea typeface="Aptos Bold"/>
                <a:cs typeface="Aptos Bold"/>
                <a:sym typeface="Aptos Bold"/>
              </a:rPr>
              <a:t>Full-Duplex</a:t>
            </a:r>
          </a:p>
          <a:p>
            <a:pPr algn="l">
              <a:lnSpc>
                <a:spcPts val="2520"/>
              </a:lnSpc>
            </a:pPr>
            <a:r>
              <a:rPr lang="en-US" sz="2100">
                <a:solidFill>
                  <a:srgbClr val="000000"/>
                </a:solidFill>
                <a:latin typeface="Arial"/>
                <a:ea typeface="Arial"/>
                <a:cs typeface="Arial"/>
                <a:sym typeface="Arial"/>
              </a:rPr>
              <a:t>Voice AI Agent</a:t>
            </a:r>
          </a:p>
        </p:txBody>
      </p:sp>
      <p:sp>
        <p:nvSpPr>
          <p:cNvPr name="TextBox 20" id="20"/>
          <p:cNvSpPr txBox="true"/>
          <p:nvPr/>
        </p:nvSpPr>
        <p:spPr>
          <a:xfrm rot="0">
            <a:off x="12211812" y="1741932"/>
            <a:ext cx="4590288" cy="1060704"/>
          </a:xfrm>
          <a:prstGeom prst="rect">
            <a:avLst/>
          </a:prstGeom>
        </p:spPr>
        <p:txBody>
          <a:bodyPr anchor="t" rtlCol="false" tIns="0" lIns="0" bIns="0" rIns="0">
            <a:spAutoFit/>
          </a:bodyPr>
          <a:lstStyle/>
          <a:p>
            <a:pPr algn="l">
              <a:lnSpc>
                <a:spcPts val="2160"/>
              </a:lnSpc>
            </a:pPr>
            <a:r>
              <a:rPr lang="en-US" sz="1800">
                <a:solidFill>
                  <a:srgbClr val="5C5C70"/>
                </a:solidFill>
                <a:latin typeface="Aptos"/>
                <a:ea typeface="Aptos"/>
                <a:cs typeface="Aptos"/>
                <a:sym typeface="Aptos"/>
              </a:rPr>
              <a:t>Real-time tool calling across</a:t>
            </a:r>
          </a:p>
          <a:p>
            <a:pPr algn="l">
              <a:lnSpc>
                <a:spcPts val="2520"/>
              </a:lnSpc>
            </a:pPr>
            <a:r>
              <a:rPr lang="en-US" sz="2100">
                <a:solidFill>
                  <a:srgbClr val="000000"/>
                </a:solidFill>
                <a:latin typeface="Arial"/>
                <a:ea typeface="Arial"/>
                <a:cs typeface="Arial"/>
                <a:sym typeface="Arial"/>
              </a:rPr>
              <a:t>E-Commerce • Travel • Finance • Housing</a:t>
            </a:r>
          </a:p>
        </p:txBody>
      </p:sp>
      <p:grpSp>
        <p:nvGrpSpPr>
          <p:cNvPr name="Group 21" id="21"/>
          <p:cNvGrpSpPr/>
          <p:nvPr/>
        </p:nvGrpSpPr>
        <p:grpSpPr>
          <a:xfrm rot="0">
            <a:off x="9740377" y="3001899"/>
            <a:ext cx="4626864" cy="2519172"/>
            <a:chOff x="0" y="0"/>
            <a:chExt cx="6169152" cy="3358896"/>
          </a:xfrm>
        </p:grpSpPr>
        <p:grpSp>
          <p:nvGrpSpPr>
            <p:cNvPr name="Group 22" id="22"/>
            <p:cNvGrpSpPr/>
            <p:nvPr/>
          </p:nvGrpSpPr>
          <p:grpSpPr>
            <a:xfrm rot="0">
              <a:off x="0" y="0"/>
              <a:ext cx="2011680" cy="621792"/>
              <a:chOff x="0" y="0"/>
              <a:chExt cx="2011680" cy="621792"/>
            </a:xfrm>
          </p:grpSpPr>
          <p:sp>
            <p:nvSpPr>
              <p:cNvPr name="Freeform 23" id="23"/>
              <p:cNvSpPr/>
              <p:nvPr/>
            </p:nvSpPr>
            <p:spPr>
              <a:xfrm flipH="false" flipV="false" rot="0">
                <a:off x="0" y="0"/>
                <a:ext cx="2011680" cy="621792"/>
              </a:xfrm>
              <a:custGeom>
                <a:avLst/>
                <a:gdLst/>
                <a:ahLst/>
                <a:cxnLst/>
                <a:rect r="r" b="b" t="t" l="l"/>
                <a:pathLst>
                  <a:path h="621792" w="2011680">
                    <a:moveTo>
                      <a:pt x="0" y="103632"/>
                    </a:moveTo>
                    <a:cubicBezTo>
                      <a:pt x="0" y="46355"/>
                      <a:pt x="46355" y="0"/>
                      <a:pt x="103632" y="0"/>
                    </a:cubicBezTo>
                    <a:lnTo>
                      <a:pt x="1908048" y="0"/>
                    </a:lnTo>
                    <a:cubicBezTo>
                      <a:pt x="1965325" y="0"/>
                      <a:pt x="2011680" y="46355"/>
                      <a:pt x="2011680" y="103632"/>
                    </a:cubicBezTo>
                    <a:lnTo>
                      <a:pt x="2011680" y="518160"/>
                    </a:lnTo>
                    <a:cubicBezTo>
                      <a:pt x="2011680" y="575437"/>
                      <a:pt x="1965325" y="621792"/>
                      <a:pt x="1908048" y="621792"/>
                    </a:cubicBezTo>
                    <a:lnTo>
                      <a:pt x="103632" y="621792"/>
                    </a:lnTo>
                    <a:cubicBezTo>
                      <a:pt x="46355" y="621792"/>
                      <a:pt x="0" y="575437"/>
                      <a:pt x="0" y="518160"/>
                    </a:cubicBezTo>
                    <a:close/>
                  </a:path>
                </a:pathLst>
              </a:custGeom>
              <a:solidFill>
                <a:srgbClr val="6C2FDB"/>
              </a:solidFill>
            </p:spPr>
          </p:sp>
          <p:sp>
            <p:nvSpPr>
              <p:cNvPr name="TextBox 24" id="24"/>
              <p:cNvSpPr txBox="true"/>
              <p:nvPr/>
            </p:nvSpPr>
            <p:spPr>
              <a:xfrm>
                <a:off x="0" y="0"/>
                <a:ext cx="2011680"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SUB-SECOND</a:t>
                </a:r>
              </a:p>
            </p:txBody>
          </p:sp>
        </p:grpSp>
        <p:grpSp>
          <p:nvGrpSpPr>
            <p:cNvPr name="Group 25" id="25"/>
            <p:cNvGrpSpPr/>
            <p:nvPr/>
          </p:nvGrpSpPr>
          <p:grpSpPr>
            <a:xfrm rot="0">
              <a:off x="2194560" y="0"/>
              <a:ext cx="1828800" cy="621792"/>
              <a:chOff x="0" y="0"/>
              <a:chExt cx="1828800" cy="621792"/>
            </a:xfrm>
          </p:grpSpPr>
          <p:sp>
            <p:nvSpPr>
              <p:cNvPr name="Freeform 26" id="26"/>
              <p:cNvSpPr/>
              <p:nvPr/>
            </p:nvSpPr>
            <p:spPr>
              <a:xfrm flipH="false" flipV="false" rot="0">
                <a:off x="0" y="0"/>
                <a:ext cx="1828800" cy="621792"/>
              </a:xfrm>
              <a:custGeom>
                <a:avLst/>
                <a:gdLst/>
                <a:ahLst/>
                <a:cxnLst/>
                <a:rect r="r" b="b" t="t" l="l"/>
                <a:pathLst>
                  <a:path h="621792" w="1828800">
                    <a:moveTo>
                      <a:pt x="0" y="103632"/>
                    </a:moveTo>
                    <a:cubicBezTo>
                      <a:pt x="0" y="46355"/>
                      <a:pt x="46355" y="0"/>
                      <a:pt x="103632" y="0"/>
                    </a:cubicBezTo>
                    <a:lnTo>
                      <a:pt x="1725168" y="0"/>
                    </a:lnTo>
                    <a:cubicBezTo>
                      <a:pt x="1782445" y="0"/>
                      <a:pt x="1828800" y="46355"/>
                      <a:pt x="1828800" y="103632"/>
                    </a:cubicBezTo>
                    <a:lnTo>
                      <a:pt x="1828800" y="518160"/>
                    </a:lnTo>
                    <a:cubicBezTo>
                      <a:pt x="1828800" y="575437"/>
                      <a:pt x="1782445" y="621792"/>
                      <a:pt x="1725168" y="621792"/>
                    </a:cubicBezTo>
                    <a:lnTo>
                      <a:pt x="103632" y="621792"/>
                    </a:lnTo>
                    <a:cubicBezTo>
                      <a:pt x="46355" y="621792"/>
                      <a:pt x="0" y="575437"/>
                      <a:pt x="0" y="518160"/>
                    </a:cubicBezTo>
                    <a:close/>
                  </a:path>
                </a:pathLst>
              </a:custGeom>
              <a:solidFill>
                <a:srgbClr val="3F5DD3"/>
              </a:solidFill>
            </p:spPr>
          </p:sp>
          <p:sp>
            <p:nvSpPr>
              <p:cNvPr name="TextBox 27" id="27"/>
              <p:cNvSpPr txBox="true"/>
              <p:nvPr/>
            </p:nvSpPr>
            <p:spPr>
              <a:xfrm>
                <a:off x="0" y="0"/>
                <a:ext cx="1828800"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12 TOOLS</a:t>
                </a:r>
              </a:p>
            </p:txBody>
          </p:sp>
        </p:grpSp>
        <p:grpSp>
          <p:nvGrpSpPr>
            <p:cNvPr name="Group 28" id="28"/>
            <p:cNvGrpSpPr/>
            <p:nvPr/>
          </p:nvGrpSpPr>
          <p:grpSpPr>
            <a:xfrm rot="0">
              <a:off x="4206240" y="0"/>
              <a:ext cx="1828800" cy="621792"/>
              <a:chOff x="0" y="0"/>
              <a:chExt cx="1828800" cy="621792"/>
            </a:xfrm>
          </p:grpSpPr>
          <p:sp>
            <p:nvSpPr>
              <p:cNvPr name="Freeform 29" id="29"/>
              <p:cNvSpPr/>
              <p:nvPr/>
            </p:nvSpPr>
            <p:spPr>
              <a:xfrm flipH="false" flipV="false" rot="0">
                <a:off x="0" y="0"/>
                <a:ext cx="1828800" cy="621792"/>
              </a:xfrm>
              <a:custGeom>
                <a:avLst/>
                <a:gdLst/>
                <a:ahLst/>
                <a:cxnLst/>
                <a:rect r="r" b="b" t="t" l="l"/>
                <a:pathLst>
                  <a:path h="621792" w="1828800">
                    <a:moveTo>
                      <a:pt x="0" y="103632"/>
                    </a:moveTo>
                    <a:cubicBezTo>
                      <a:pt x="0" y="46355"/>
                      <a:pt x="46355" y="0"/>
                      <a:pt x="103632" y="0"/>
                    </a:cubicBezTo>
                    <a:lnTo>
                      <a:pt x="1725168" y="0"/>
                    </a:lnTo>
                    <a:cubicBezTo>
                      <a:pt x="1782445" y="0"/>
                      <a:pt x="1828800" y="46355"/>
                      <a:pt x="1828800" y="103632"/>
                    </a:cubicBezTo>
                    <a:lnTo>
                      <a:pt x="1828800" y="518160"/>
                    </a:lnTo>
                    <a:cubicBezTo>
                      <a:pt x="1828800" y="575437"/>
                      <a:pt x="1782445" y="621792"/>
                      <a:pt x="1725168" y="621792"/>
                    </a:cubicBezTo>
                    <a:lnTo>
                      <a:pt x="103632" y="621792"/>
                    </a:lnTo>
                    <a:cubicBezTo>
                      <a:pt x="46355" y="621792"/>
                      <a:pt x="0" y="575437"/>
                      <a:pt x="0" y="518160"/>
                    </a:cubicBezTo>
                    <a:close/>
                  </a:path>
                </a:pathLst>
              </a:custGeom>
              <a:solidFill>
                <a:srgbClr val="47BEB5"/>
              </a:solidFill>
            </p:spPr>
          </p:sp>
          <p:sp>
            <p:nvSpPr>
              <p:cNvPr name="TextBox 30" id="30"/>
              <p:cNvSpPr txBox="true"/>
              <p:nvPr/>
            </p:nvSpPr>
            <p:spPr>
              <a:xfrm>
                <a:off x="0" y="0"/>
                <a:ext cx="1828800"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4 DOMAINS</a:t>
                </a:r>
              </a:p>
            </p:txBody>
          </p:sp>
        </p:grpSp>
        <p:sp>
          <p:nvSpPr>
            <p:cNvPr name="TextBox 31" id="31"/>
            <p:cNvSpPr txBox="true"/>
            <p:nvPr/>
          </p:nvSpPr>
          <p:spPr>
            <a:xfrm rot="0">
              <a:off x="48768" y="1121664"/>
              <a:ext cx="6120384" cy="2237232"/>
            </a:xfrm>
            <a:prstGeom prst="rect">
              <a:avLst/>
            </a:prstGeom>
          </p:spPr>
          <p:txBody>
            <a:bodyPr anchor="t" rtlCol="false" tIns="0" lIns="0" bIns="0" rIns="0">
              <a:spAutoFit/>
            </a:bodyPr>
            <a:lstStyle/>
            <a:p>
              <a:pPr algn="l">
                <a:lnSpc>
                  <a:spcPts val="2340"/>
                </a:lnSpc>
              </a:pPr>
              <a:r>
                <a:rPr lang="en-US" sz="1950" b="true">
                  <a:solidFill>
                    <a:srgbClr val="1F1F34"/>
                  </a:solidFill>
                  <a:latin typeface="Aptos Bold"/>
                  <a:ea typeface="Aptos Bold"/>
                  <a:cs typeface="Aptos Bold"/>
                  <a:sym typeface="Aptos Bold"/>
                </a:rPr>
                <a:t>Natural interruption • Local VAD •</a:t>
              </a:r>
            </a:p>
            <a:p>
              <a:pPr algn="l">
                <a:lnSpc>
                  <a:spcPts val="2520"/>
                </a:lnSpc>
              </a:pPr>
              <a:r>
                <a:rPr lang="en-US" sz="2100">
                  <a:solidFill>
                    <a:srgbClr val="000000"/>
                  </a:solidFill>
                  <a:latin typeface="Arial"/>
                  <a:ea typeface="Arial"/>
                  <a:cs typeface="Arial"/>
                  <a:sym typeface="Arial"/>
                </a:rPr>
                <a:t>WebRTC streaming • Function calling</a:t>
              </a: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Theme</a:t>
            </a:r>
          </a:p>
        </p:txBody>
      </p:sp>
      <p:grpSp>
        <p:nvGrpSpPr>
          <p:cNvPr name="Group 3" id="3"/>
          <p:cNvGrpSpPr/>
          <p:nvPr/>
        </p:nvGrpSpPr>
        <p:grpSpPr>
          <a:xfrm rot="0">
            <a:off x="1289304" y="1289304"/>
            <a:ext cx="2468880" cy="466344"/>
            <a:chOff x="0" y="0"/>
            <a:chExt cx="3291840" cy="621792"/>
          </a:xfrm>
        </p:grpSpPr>
        <p:sp>
          <p:nvSpPr>
            <p:cNvPr name="Freeform 4" id="4"/>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5" id="5"/>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WHY THIS MATTERS</a:t>
              </a:r>
            </a:p>
          </p:txBody>
        </p:sp>
      </p:grpSp>
      <p:sp>
        <p:nvSpPr>
          <p:cNvPr name="TextBox 6" id="6"/>
          <p:cNvSpPr txBox="true"/>
          <p:nvPr/>
        </p:nvSpPr>
        <p:spPr>
          <a:xfrm rot="0">
            <a:off x="1339596" y="2007108"/>
            <a:ext cx="8430768" cy="854964"/>
          </a:xfrm>
          <a:prstGeom prst="rect">
            <a:avLst/>
          </a:prstGeom>
        </p:spPr>
        <p:txBody>
          <a:bodyPr anchor="t" rtlCol="false" tIns="0" lIns="0" bIns="0" rIns="0">
            <a:spAutoFit/>
          </a:bodyPr>
          <a:lstStyle/>
          <a:p>
            <a:pPr algn="l">
              <a:lnSpc>
                <a:spcPts val="4320"/>
              </a:lnSpc>
            </a:pPr>
            <a:r>
              <a:rPr lang="en-US" sz="3600" b="true">
                <a:solidFill>
                  <a:srgbClr val="6C2FDB"/>
                </a:solidFill>
                <a:latin typeface="Aptos Bold"/>
                <a:ea typeface="Aptos Bold"/>
                <a:cs typeface="Aptos Bold"/>
                <a:sym typeface="Aptos Bold"/>
              </a:rPr>
              <a:t>Real-Time, Action-Oriented Conversational AI</a:t>
            </a:r>
          </a:p>
        </p:txBody>
      </p:sp>
      <p:sp>
        <p:nvSpPr>
          <p:cNvPr name="TextBox 7" id="7"/>
          <p:cNvSpPr txBox="true"/>
          <p:nvPr/>
        </p:nvSpPr>
        <p:spPr>
          <a:xfrm rot="0">
            <a:off x="1367028" y="3056192"/>
            <a:ext cx="8156448" cy="1335024"/>
          </a:xfrm>
          <a:prstGeom prst="rect">
            <a:avLst/>
          </a:prstGeom>
        </p:spPr>
        <p:txBody>
          <a:bodyPr anchor="t" rtlCol="false" tIns="0" lIns="0" bIns="0" rIns="0">
            <a:spAutoFit/>
          </a:bodyPr>
          <a:lstStyle/>
          <a:p>
            <a:pPr algn="l">
              <a:lnSpc>
                <a:spcPts val="3240"/>
              </a:lnSpc>
            </a:pPr>
            <a:r>
              <a:rPr lang="en-US" sz="2700">
                <a:solidFill>
                  <a:srgbClr val="12122D"/>
                </a:solidFill>
                <a:latin typeface="Aptos"/>
                <a:ea typeface="Aptos"/>
                <a:cs typeface="Aptos"/>
                <a:sym typeface="Aptos"/>
              </a:rPr>
              <a:t>A voice agent should feel like a conversation—not a sequence of turn-taking API calls.</a:t>
            </a:r>
          </a:p>
        </p:txBody>
      </p:sp>
      <p:grpSp>
        <p:nvGrpSpPr>
          <p:cNvPr name="Group 8" id="8"/>
          <p:cNvGrpSpPr/>
          <p:nvPr/>
        </p:nvGrpSpPr>
        <p:grpSpPr>
          <a:xfrm rot="0">
            <a:off x="1293495" y="4585335"/>
            <a:ext cx="3790950" cy="2762250"/>
            <a:chOff x="0" y="0"/>
            <a:chExt cx="5054600" cy="3683000"/>
          </a:xfrm>
        </p:grpSpPr>
        <p:sp>
          <p:nvSpPr>
            <p:cNvPr name="Freeform 9" id="9"/>
            <p:cNvSpPr/>
            <p:nvPr/>
          </p:nvSpPr>
          <p:spPr>
            <a:xfrm flipH="false" flipV="false" rot="0">
              <a:off x="0" y="0"/>
              <a:ext cx="5054600" cy="3683000"/>
            </a:xfrm>
            <a:custGeom>
              <a:avLst/>
              <a:gdLst/>
              <a:ahLst/>
              <a:cxnLst/>
              <a:rect r="r" b="b" t="t" l="l"/>
              <a:pathLst>
                <a:path h="3683000" w="5054600">
                  <a:moveTo>
                    <a:pt x="0" y="613791"/>
                  </a:moveTo>
                  <a:cubicBezTo>
                    <a:pt x="0" y="274828"/>
                    <a:pt x="274828" y="0"/>
                    <a:pt x="613791" y="0"/>
                  </a:cubicBezTo>
                  <a:lnTo>
                    <a:pt x="4440809" y="0"/>
                  </a:lnTo>
                  <a:cubicBezTo>
                    <a:pt x="4779772" y="0"/>
                    <a:pt x="5054600" y="274828"/>
                    <a:pt x="5054600" y="613791"/>
                  </a:cubicBezTo>
                  <a:lnTo>
                    <a:pt x="5054600" y="3069209"/>
                  </a:lnTo>
                  <a:cubicBezTo>
                    <a:pt x="5054600" y="3408172"/>
                    <a:pt x="4779772" y="3683000"/>
                    <a:pt x="4440809" y="3683000"/>
                  </a:cubicBezTo>
                  <a:lnTo>
                    <a:pt x="613791" y="3683000"/>
                  </a:lnTo>
                  <a:cubicBezTo>
                    <a:pt x="274828" y="3683000"/>
                    <a:pt x="0" y="3408172"/>
                    <a:pt x="0" y="3069209"/>
                  </a:cubicBezTo>
                  <a:close/>
                </a:path>
              </a:pathLst>
            </a:custGeom>
            <a:solidFill>
              <a:srgbClr val="F5F4FA"/>
            </a:solidFill>
            <a:ln w="19050" cap="sq">
              <a:solidFill>
                <a:srgbClr val="E1DFEB"/>
              </a:solidFill>
              <a:prstDash val="solid"/>
              <a:miter/>
            </a:ln>
          </p:spPr>
        </p:sp>
      </p:grpSp>
      <p:grpSp>
        <p:nvGrpSpPr>
          <p:cNvPr name="Group 10" id="10"/>
          <p:cNvGrpSpPr/>
          <p:nvPr/>
        </p:nvGrpSpPr>
        <p:grpSpPr>
          <a:xfrm rot="0">
            <a:off x="1303020" y="4594860"/>
            <a:ext cx="96012" cy="2743200"/>
            <a:chOff x="0" y="0"/>
            <a:chExt cx="128016" cy="3657600"/>
          </a:xfrm>
        </p:grpSpPr>
        <p:sp>
          <p:nvSpPr>
            <p:cNvPr name="Freeform 11" id="11"/>
            <p:cNvSpPr/>
            <p:nvPr/>
          </p:nvSpPr>
          <p:spPr>
            <a:xfrm flipH="false" flipV="false" rot="0">
              <a:off x="0" y="0"/>
              <a:ext cx="128016" cy="3657600"/>
            </a:xfrm>
            <a:custGeom>
              <a:avLst/>
              <a:gdLst/>
              <a:ahLst/>
              <a:cxnLst/>
              <a:rect r="r" b="b" t="t" l="l"/>
              <a:pathLst>
                <a:path h="3657600" w="128016">
                  <a:moveTo>
                    <a:pt x="0" y="0"/>
                  </a:moveTo>
                  <a:lnTo>
                    <a:pt x="128016" y="0"/>
                  </a:lnTo>
                  <a:lnTo>
                    <a:pt x="128016" y="3657600"/>
                  </a:lnTo>
                  <a:lnTo>
                    <a:pt x="0" y="3657600"/>
                  </a:lnTo>
                  <a:close/>
                </a:path>
              </a:pathLst>
            </a:custGeom>
            <a:solidFill>
              <a:srgbClr val="6C2FDB"/>
            </a:solidFill>
          </p:spPr>
        </p:sp>
      </p:grpSp>
      <p:sp>
        <p:nvSpPr>
          <p:cNvPr name="TextBox 12" id="12"/>
          <p:cNvSpPr txBox="true"/>
          <p:nvPr/>
        </p:nvSpPr>
        <p:spPr>
          <a:xfrm rot="0">
            <a:off x="1586484" y="4791456"/>
            <a:ext cx="3314700" cy="374904"/>
          </a:xfrm>
          <a:prstGeom prst="rect">
            <a:avLst/>
          </a:prstGeom>
        </p:spPr>
        <p:txBody>
          <a:bodyPr anchor="t" rtlCol="false" tIns="0" lIns="0" bIns="0" rIns="0">
            <a:spAutoFit/>
          </a:bodyPr>
          <a:lstStyle/>
          <a:p>
            <a:pPr algn="l">
              <a:lnSpc>
                <a:spcPts val="2700"/>
              </a:lnSpc>
            </a:pPr>
            <a:r>
              <a:rPr lang="en-US" sz="2250" b="true">
                <a:solidFill>
                  <a:srgbClr val="12122D"/>
                </a:solidFill>
                <a:latin typeface="Aptos Bold"/>
                <a:ea typeface="Aptos Bold"/>
                <a:cs typeface="Aptos Bold"/>
                <a:sym typeface="Aptos Bold"/>
              </a:rPr>
              <a:t>Full-duplex</a:t>
            </a:r>
          </a:p>
        </p:txBody>
      </p:sp>
      <p:sp>
        <p:nvSpPr>
          <p:cNvPr name="TextBox 13" id="13"/>
          <p:cNvSpPr txBox="true"/>
          <p:nvPr/>
        </p:nvSpPr>
        <p:spPr>
          <a:xfrm rot="0">
            <a:off x="1586484" y="5271516"/>
            <a:ext cx="3314700" cy="1938528"/>
          </a:xfrm>
          <a:prstGeom prst="rect">
            <a:avLst/>
          </a:prstGeom>
        </p:spPr>
        <p:txBody>
          <a:bodyPr anchor="t" rtlCol="false" tIns="0" lIns="0" bIns="0" rIns="0">
            <a:spAutoFit/>
          </a:bodyPr>
          <a:lstStyle/>
          <a:p>
            <a:pPr algn="l">
              <a:lnSpc>
                <a:spcPts val="2160"/>
              </a:lnSpc>
            </a:pPr>
            <a:r>
              <a:rPr lang="en-US" sz="1800">
                <a:solidFill>
                  <a:srgbClr val="5C5C70"/>
                </a:solidFill>
                <a:latin typeface="Aptos"/>
                <a:ea typeface="Aptos"/>
                <a:cs typeface="Aptos"/>
                <a:sym typeface="Aptos"/>
              </a:rPr>
              <a:t>User can interrupt the agent while it is speaking; playback stops and new input is processed immediately.</a:t>
            </a:r>
          </a:p>
        </p:txBody>
      </p:sp>
      <p:grpSp>
        <p:nvGrpSpPr>
          <p:cNvPr name="Group 14" id="14"/>
          <p:cNvGrpSpPr/>
          <p:nvPr/>
        </p:nvGrpSpPr>
        <p:grpSpPr>
          <a:xfrm rot="0">
            <a:off x="5339715" y="4585335"/>
            <a:ext cx="3790950" cy="2762250"/>
            <a:chOff x="0" y="0"/>
            <a:chExt cx="5054600" cy="3683000"/>
          </a:xfrm>
        </p:grpSpPr>
        <p:sp>
          <p:nvSpPr>
            <p:cNvPr name="Freeform 15" id="15"/>
            <p:cNvSpPr/>
            <p:nvPr/>
          </p:nvSpPr>
          <p:spPr>
            <a:xfrm flipH="false" flipV="false" rot="0">
              <a:off x="0" y="0"/>
              <a:ext cx="5054600" cy="3683000"/>
            </a:xfrm>
            <a:custGeom>
              <a:avLst/>
              <a:gdLst/>
              <a:ahLst/>
              <a:cxnLst/>
              <a:rect r="r" b="b" t="t" l="l"/>
              <a:pathLst>
                <a:path h="3683000" w="5054600">
                  <a:moveTo>
                    <a:pt x="0" y="613791"/>
                  </a:moveTo>
                  <a:cubicBezTo>
                    <a:pt x="0" y="274828"/>
                    <a:pt x="274828" y="0"/>
                    <a:pt x="613791" y="0"/>
                  </a:cubicBezTo>
                  <a:lnTo>
                    <a:pt x="4440809" y="0"/>
                  </a:lnTo>
                  <a:cubicBezTo>
                    <a:pt x="4779772" y="0"/>
                    <a:pt x="5054600" y="274828"/>
                    <a:pt x="5054600" y="613791"/>
                  </a:cubicBezTo>
                  <a:lnTo>
                    <a:pt x="5054600" y="3069209"/>
                  </a:lnTo>
                  <a:cubicBezTo>
                    <a:pt x="5054600" y="3408172"/>
                    <a:pt x="4779772" y="3683000"/>
                    <a:pt x="4440809" y="3683000"/>
                  </a:cubicBezTo>
                  <a:lnTo>
                    <a:pt x="613791" y="3683000"/>
                  </a:lnTo>
                  <a:cubicBezTo>
                    <a:pt x="274828" y="3683000"/>
                    <a:pt x="0" y="3408172"/>
                    <a:pt x="0" y="3069209"/>
                  </a:cubicBezTo>
                  <a:close/>
                </a:path>
              </a:pathLst>
            </a:custGeom>
            <a:solidFill>
              <a:srgbClr val="EEF7F8"/>
            </a:solidFill>
            <a:ln w="19050" cap="sq">
              <a:solidFill>
                <a:srgbClr val="E1DFEB"/>
              </a:solidFill>
              <a:prstDash val="solid"/>
              <a:miter/>
            </a:ln>
          </p:spPr>
        </p:sp>
      </p:grpSp>
      <p:grpSp>
        <p:nvGrpSpPr>
          <p:cNvPr name="Group 16" id="16"/>
          <p:cNvGrpSpPr/>
          <p:nvPr/>
        </p:nvGrpSpPr>
        <p:grpSpPr>
          <a:xfrm rot="0">
            <a:off x="5349240" y="4594860"/>
            <a:ext cx="96012" cy="2743200"/>
            <a:chOff x="0" y="0"/>
            <a:chExt cx="128016" cy="3657600"/>
          </a:xfrm>
        </p:grpSpPr>
        <p:sp>
          <p:nvSpPr>
            <p:cNvPr name="Freeform 17" id="17"/>
            <p:cNvSpPr/>
            <p:nvPr/>
          </p:nvSpPr>
          <p:spPr>
            <a:xfrm flipH="false" flipV="false" rot="0">
              <a:off x="0" y="0"/>
              <a:ext cx="128016" cy="3657600"/>
            </a:xfrm>
            <a:custGeom>
              <a:avLst/>
              <a:gdLst/>
              <a:ahLst/>
              <a:cxnLst/>
              <a:rect r="r" b="b" t="t" l="l"/>
              <a:pathLst>
                <a:path h="3657600" w="128016">
                  <a:moveTo>
                    <a:pt x="0" y="0"/>
                  </a:moveTo>
                  <a:lnTo>
                    <a:pt x="128016" y="0"/>
                  </a:lnTo>
                  <a:lnTo>
                    <a:pt x="128016" y="3657600"/>
                  </a:lnTo>
                  <a:lnTo>
                    <a:pt x="0" y="3657600"/>
                  </a:lnTo>
                  <a:close/>
                </a:path>
              </a:pathLst>
            </a:custGeom>
            <a:solidFill>
              <a:srgbClr val="3F5DD3"/>
            </a:solidFill>
          </p:spPr>
        </p:sp>
      </p:grpSp>
      <p:sp>
        <p:nvSpPr>
          <p:cNvPr name="TextBox 18" id="18"/>
          <p:cNvSpPr txBox="true"/>
          <p:nvPr/>
        </p:nvSpPr>
        <p:spPr>
          <a:xfrm rot="0">
            <a:off x="5632704" y="4791456"/>
            <a:ext cx="3314700" cy="374904"/>
          </a:xfrm>
          <a:prstGeom prst="rect">
            <a:avLst/>
          </a:prstGeom>
        </p:spPr>
        <p:txBody>
          <a:bodyPr anchor="t" rtlCol="false" tIns="0" lIns="0" bIns="0" rIns="0">
            <a:spAutoFit/>
          </a:bodyPr>
          <a:lstStyle/>
          <a:p>
            <a:pPr algn="l">
              <a:lnSpc>
                <a:spcPts val="2700"/>
              </a:lnSpc>
            </a:pPr>
            <a:r>
              <a:rPr lang="en-US" sz="2250" b="true">
                <a:solidFill>
                  <a:srgbClr val="12122D"/>
                </a:solidFill>
                <a:latin typeface="Aptos Bold"/>
                <a:ea typeface="Aptos Bold"/>
                <a:cs typeface="Aptos Bold"/>
                <a:sym typeface="Aptos Bold"/>
              </a:rPr>
              <a:t>Action-oriented</a:t>
            </a:r>
          </a:p>
        </p:txBody>
      </p:sp>
      <p:sp>
        <p:nvSpPr>
          <p:cNvPr name="TextBox 19" id="19"/>
          <p:cNvSpPr txBox="true"/>
          <p:nvPr/>
        </p:nvSpPr>
        <p:spPr>
          <a:xfrm rot="0">
            <a:off x="5632704" y="5271516"/>
            <a:ext cx="3314700" cy="1938528"/>
          </a:xfrm>
          <a:prstGeom prst="rect">
            <a:avLst/>
          </a:prstGeom>
        </p:spPr>
        <p:txBody>
          <a:bodyPr anchor="t" rtlCol="false" tIns="0" lIns="0" bIns="0" rIns="0">
            <a:spAutoFit/>
          </a:bodyPr>
          <a:lstStyle/>
          <a:p>
            <a:pPr algn="l">
              <a:lnSpc>
                <a:spcPts val="2160"/>
              </a:lnSpc>
            </a:pPr>
            <a:r>
              <a:rPr lang="en-US" sz="1800">
                <a:solidFill>
                  <a:srgbClr val="5C5C70"/>
                </a:solidFill>
                <a:latin typeface="Aptos"/>
                <a:ea typeface="Aptos"/>
                <a:cs typeface="Aptos"/>
                <a:sym typeface="Aptos"/>
              </a:rPr>
              <a:t>GPT-4o-mini can trigger executable Python functions instead of only generating text.</a:t>
            </a:r>
          </a:p>
        </p:txBody>
      </p:sp>
      <p:grpSp>
        <p:nvGrpSpPr>
          <p:cNvPr name="Group 20" id="20"/>
          <p:cNvGrpSpPr/>
          <p:nvPr/>
        </p:nvGrpSpPr>
        <p:grpSpPr>
          <a:xfrm rot="0">
            <a:off x="9385935" y="4585335"/>
            <a:ext cx="3790950" cy="2762250"/>
            <a:chOff x="0" y="0"/>
            <a:chExt cx="5054600" cy="3683000"/>
          </a:xfrm>
        </p:grpSpPr>
        <p:sp>
          <p:nvSpPr>
            <p:cNvPr name="Freeform 21" id="21"/>
            <p:cNvSpPr/>
            <p:nvPr/>
          </p:nvSpPr>
          <p:spPr>
            <a:xfrm flipH="false" flipV="false" rot="0">
              <a:off x="0" y="0"/>
              <a:ext cx="5054600" cy="3683000"/>
            </a:xfrm>
            <a:custGeom>
              <a:avLst/>
              <a:gdLst/>
              <a:ahLst/>
              <a:cxnLst/>
              <a:rect r="r" b="b" t="t" l="l"/>
              <a:pathLst>
                <a:path h="3683000" w="5054600">
                  <a:moveTo>
                    <a:pt x="0" y="613791"/>
                  </a:moveTo>
                  <a:cubicBezTo>
                    <a:pt x="0" y="274828"/>
                    <a:pt x="274828" y="0"/>
                    <a:pt x="613791" y="0"/>
                  </a:cubicBezTo>
                  <a:lnTo>
                    <a:pt x="4440809" y="0"/>
                  </a:lnTo>
                  <a:cubicBezTo>
                    <a:pt x="4779772" y="0"/>
                    <a:pt x="5054600" y="274828"/>
                    <a:pt x="5054600" y="613791"/>
                  </a:cubicBezTo>
                  <a:lnTo>
                    <a:pt x="5054600" y="3069209"/>
                  </a:lnTo>
                  <a:cubicBezTo>
                    <a:pt x="5054600" y="3408172"/>
                    <a:pt x="4779772" y="3683000"/>
                    <a:pt x="4440809" y="3683000"/>
                  </a:cubicBezTo>
                  <a:lnTo>
                    <a:pt x="613791" y="3683000"/>
                  </a:lnTo>
                  <a:cubicBezTo>
                    <a:pt x="274828" y="3683000"/>
                    <a:pt x="0" y="3408172"/>
                    <a:pt x="0" y="3069209"/>
                  </a:cubicBezTo>
                  <a:close/>
                </a:path>
              </a:pathLst>
            </a:custGeom>
            <a:solidFill>
              <a:srgbClr val="F5F4FA"/>
            </a:solidFill>
            <a:ln w="19050" cap="sq">
              <a:solidFill>
                <a:srgbClr val="E1DFEB"/>
              </a:solidFill>
              <a:prstDash val="solid"/>
              <a:miter/>
            </a:ln>
          </p:spPr>
        </p:sp>
      </p:grpSp>
      <p:grpSp>
        <p:nvGrpSpPr>
          <p:cNvPr name="Group 22" id="22"/>
          <p:cNvGrpSpPr/>
          <p:nvPr/>
        </p:nvGrpSpPr>
        <p:grpSpPr>
          <a:xfrm rot="0">
            <a:off x="9395460" y="4594860"/>
            <a:ext cx="96012" cy="2743200"/>
            <a:chOff x="0" y="0"/>
            <a:chExt cx="128016" cy="3657600"/>
          </a:xfrm>
        </p:grpSpPr>
        <p:sp>
          <p:nvSpPr>
            <p:cNvPr name="Freeform 23" id="23"/>
            <p:cNvSpPr/>
            <p:nvPr/>
          </p:nvSpPr>
          <p:spPr>
            <a:xfrm flipH="false" flipV="false" rot="0">
              <a:off x="0" y="0"/>
              <a:ext cx="128016" cy="3657600"/>
            </a:xfrm>
            <a:custGeom>
              <a:avLst/>
              <a:gdLst/>
              <a:ahLst/>
              <a:cxnLst/>
              <a:rect r="r" b="b" t="t" l="l"/>
              <a:pathLst>
                <a:path h="3657600" w="128016">
                  <a:moveTo>
                    <a:pt x="0" y="0"/>
                  </a:moveTo>
                  <a:lnTo>
                    <a:pt x="128016" y="0"/>
                  </a:lnTo>
                  <a:lnTo>
                    <a:pt x="128016" y="3657600"/>
                  </a:lnTo>
                  <a:lnTo>
                    <a:pt x="0" y="3657600"/>
                  </a:lnTo>
                  <a:close/>
                </a:path>
              </a:pathLst>
            </a:custGeom>
            <a:solidFill>
              <a:srgbClr val="47BEB5"/>
            </a:solidFill>
          </p:spPr>
        </p:sp>
      </p:grpSp>
      <p:sp>
        <p:nvSpPr>
          <p:cNvPr name="TextBox 24" id="24"/>
          <p:cNvSpPr txBox="true"/>
          <p:nvPr/>
        </p:nvSpPr>
        <p:spPr>
          <a:xfrm rot="0">
            <a:off x="9678924" y="4791456"/>
            <a:ext cx="3314700" cy="374904"/>
          </a:xfrm>
          <a:prstGeom prst="rect">
            <a:avLst/>
          </a:prstGeom>
        </p:spPr>
        <p:txBody>
          <a:bodyPr anchor="t" rtlCol="false" tIns="0" lIns="0" bIns="0" rIns="0">
            <a:spAutoFit/>
          </a:bodyPr>
          <a:lstStyle/>
          <a:p>
            <a:pPr algn="l">
              <a:lnSpc>
                <a:spcPts val="2700"/>
              </a:lnSpc>
            </a:pPr>
            <a:r>
              <a:rPr lang="en-US" sz="2250" b="true">
                <a:solidFill>
                  <a:srgbClr val="12122D"/>
                </a:solidFill>
                <a:latin typeface="Aptos Bold"/>
                <a:ea typeface="Aptos Bold"/>
                <a:cs typeface="Aptos Bold"/>
                <a:sym typeface="Aptos Bold"/>
              </a:rPr>
              <a:t>Real-time stack</a:t>
            </a:r>
          </a:p>
        </p:txBody>
      </p:sp>
      <p:sp>
        <p:nvSpPr>
          <p:cNvPr name="TextBox 25" id="25"/>
          <p:cNvSpPr txBox="true"/>
          <p:nvPr/>
        </p:nvSpPr>
        <p:spPr>
          <a:xfrm rot="0">
            <a:off x="9678924" y="5271516"/>
            <a:ext cx="3314700" cy="1938528"/>
          </a:xfrm>
          <a:prstGeom prst="rect">
            <a:avLst/>
          </a:prstGeom>
        </p:spPr>
        <p:txBody>
          <a:bodyPr anchor="t" rtlCol="false" tIns="0" lIns="0" bIns="0" rIns="0">
            <a:spAutoFit/>
          </a:bodyPr>
          <a:lstStyle/>
          <a:p>
            <a:pPr algn="l">
              <a:lnSpc>
                <a:spcPts val="2160"/>
              </a:lnSpc>
            </a:pPr>
            <a:r>
              <a:rPr lang="en-US" sz="1800">
                <a:solidFill>
                  <a:srgbClr val="5C5C70"/>
                </a:solidFill>
                <a:latin typeface="Aptos"/>
                <a:ea typeface="Aptos"/>
                <a:cs typeface="Aptos"/>
                <a:sym typeface="Aptos"/>
              </a:rPr>
              <a:t>WebRTC audio + local VAD + streaming STT/LLM/TTS keeps the interaction responsive.</a:t>
            </a:r>
          </a:p>
        </p:txBody>
      </p:sp>
      <p:grpSp>
        <p:nvGrpSpPr>
          <p:cNvPr name="Group 26" id="26"/>
          <p:cNvGrpSpPr/>
          <p:nvPr/>
        </p:nvGrpSpPr>
        <p:grpSpPr>
          <a:xfrm rot="0">
            <a:off x="13432155" y="4585335"/>
            <a:ext cx="3379470" cy="2762250"/>
            <a:chOff x="0" y="0"/>
            <a:chExt cx="4505960" cy="3683000"/>
          </a:xfrm>
        </p:grpSpPr>
        <p:sp>
          <p:nvSpPr>
            <p:cNvPr name="Freeform 27" id="27"/>
            <p:cNvSpPr/>
            <p:nvPr/>
          </p:nvSpPr>
          <p:spPr>
            <a:xfrm flipH="false" flipV="false" rot="0">
              <a:off x="0" y="0"/>
              <a:ext cx="4505960" cy="3683000"/>
            </a:xfrm>
            <a:custGeom>
              <a:avLst/>
              <a:gdLst/>
              <a:ahLst/>
              <a:cxnLst/>
              <a:rect r="r" b="b" t="t" l="l"/>
              <a:pathLst>
                <a:path h="3683000" w="4505960">
                  <a:moveTo>
                    <a:pt x="0" y="613791"/>
                  </a:moveTo>
                  <a:cubicBezTo>
                    <a:pt x="0" y="274828"/>
                    <a:pt x="274828" y="0"/>
                    <a:pt x="613791" y="0"/>
                  </a:cubicBezTo>
                  <a:lnTo>
                    <a:pt x="3892169" y="0"/>
                  </a:lnTo>
                  <a:cubicBezTo>
                    <a:pt x="4231132" y="0"/>
                    <a:pt x="4505960" y="274828"/>
                    <a:pt x="4505960" y="613791"/>
                  </a:cubicBezTo>
                  <a:lnTo>
                    <a:pt x="4505960" y="3069209"/>
                  </a:lnTo>
                  <a:cubicBezTo>
                    <a:pt x="4505960" y="3408172"/>
                    <a:pt x="4231132" y="3683000"/>
                    <a:pt x="3892169" y="3683000"/>
                  </a:cubicBezTo>
                  <a:lnTo>
                    <a:pt x="613791" y="3683000"/>
                  </a:lnTo>
                  <a:cubicBezTo>
                    <a:pt x="274828" y="3683000"/>
                    <a:pt x="0" y="3408172"/>
                    <a:pt x="0" y="3069209"/>
                  </a:cubicBezTo>
                  <a:close/>
                </a:path>
              </a:pathLst>
            </a:custGeom>
            <a:solidFill>
              <a:srgbClr val="F5F4FA"/>
            </a:solidFill>
            <a:ln w="19050" cap="sq">
              <a:solidFill>
                <a:srgbClr val="E1DFEB"/>
              </a:solidFill>
              <a:prstDash val="solid"/>
              <a:miter/>
            </a:ln>
          </p:spPr>
        </p:sp>
      </p:grpSp>
      <p:grpSp>
        <p:nvGrpSpPr>
          <p:cNvPr name="Group 28" id="28"/>
          <p:cNvGrpSpPr/>
          <p:nvPr/>
        </p:nvGrpSpPr>
        <p:grpSpPr>
          <a:xfrm rot="0">
            <a:off x="13441680" y="4594860"/>
            <a:ext cx="96012" cy="2743200"/>
            <a:chOff x="0" y="0"/>
            <a:chExt cx="128016" cy="3657600"/>
          </a:xfrm>
        </p:grpSpPr>
        <p:sp>
          <p:nvSpPr>
            <p:cNvPr name="Freeform 29" id="29"/>
            <p:cNvSpPr/>
            <p:nvPr/>
          </p:nvSpPr>
          <p:spPr>
            <a:xfrm flipH="false" flipV="false" rot="0">
              <a:off x="0" y="0"/>
              <a:ext cx="128016" cy="3657600"/>
            </a:xfrm>
            <a:custGeom>
              <a:avLst/>
              <a:gdLst/>
              <a:ahLst/>
              <a:cxnLst/>
              <a:rect r="r" b="b" t="t" l="l"/>
              <a:pathLst>
                <a:path h="3657600" w="128016">
                  <a:moveTo>
                    <a:pt x="0" y="0"/>
                  </a:moveTo>
                  <a:lnTo>
                    <a:pt x="128016" y="0"/>
                  </a:lnTo>
                  <a:lnTo>
                    <a:pt x="128016" y="3657600"/>
                  </a:lnTo>
                  <a:lnTo>
                    <a:pt x="0" y="3657600"/>
                  </a:lnTo>
                  <a:close/>
                </a:path>
              </a:pathLst>
            </a:custGeom>
            <a:solidFill>
              <a:srgbClr val="EB8741"/>
            </a:solidFill>
          </p:spPr>
        </p:sp>
      </p:grpSp>
      <p:sp>
        <p:nvSpPr>
          <p:cNvPr name="TextBox 30" id="30"/>
          <p:cNvSpPr txBox="true"/>
          <p:nvPr/>
        </p:nvSpPr>
        <p:spPr>
          <a:xfrm rot="0">
            <a:off x="13725144" y="4791456"/>
            <a:ext cx="2903220" cy="374904"/>
          </a:xfrm>
          <a:prstGeom prst="rect">
            <a:avLst/>
          </a:prstGeom>
        </p:spPr>
        <p:txBody>
          <a:bodyPr anchor="t" rtlCol="false" tIns="0" lIns="0" bIns="0" rIns="0">
            <a:spAutoFit/>
          </a:bodyPr>
          <a:lstStyle/>
          <a:p>
            <a:pPr algn="l">
              <a:lnSpc>
                <a:spcPts val="2700"/>
              </a:lnSpc>
            </a:pPr>
            <a:r>
              <a:rPr lang="en-US" sz="2250" b="true">
                <a:solidFill>
                  <a:srgbClr val="12122D"/>
                </a:solidFill>
                <a:latin typeface="Aptos Bold"/>
                <a:ea typeface="Aptos Bold"/>
                <a:cs typeface="Aptos Bold"/>
                <a:sym typeface="Aptos Bold"/>
              </a:rPr>
              <a:t>Multi-domain</a:t>
            </a:r>
          </a:p>
        </p:txBody>
      </p:sp>
      <p:sp>
        <p:nvSpPr>
          <p:cNvPr name="TextBox 31" id="31"/>
          <p:cNvSpPr txBox="true"/>
          <p:nvPr/>
        </p:nvSpPr>
        <p:spPr>
          <a:xfrm rot="0">
            <a:off x="13725144" y="5271516"/>
            <a:ext cx="2903220" cy="1938528"/>
          </a:xfrm>
          <a:prstGeom prst="rect">
            <a:avLst/>
          </a:prstGeom>
        </p:spPr>
        <p:txBody>
          <a:bodyPr anchor="t" rtlCol="false" tIns="0" lIns="0" bIns="0" rIns="0">
            <a:spAutoFit/>
          </a:bodyPr>
          <a:lstStyle/>
          <a:p>
            <a:pPr algn="l">
              <a:lnSpc>
                <a:spcPts val="2160"/>
              </a:lnSpc>
            </a:pPr>
            <a:r>
              <a:rPr lang="en-US" sz="1800">
                <a:solidFill>
                  <a:srgbClr val="5C5C70"/>
                </a:solidFill>
                <a:latin typeface="Aptos"/>
                <a:ea typeface="Aptos"/>
                <a:cs typeface="Aptos"/>
                <a:sym typeface="Aptos"/>
              </a:rPr>
              <a:t>12 tools across E-Commerce, Travel, Finance and Housing.</a:t>
            </a:r>
          </a:p>
        </p:txBody>
      </p:sp>
      <p:sp>
        <p:nvSpPr>
          <p:cNvPr name="TextBox 32" id="32"/>
          <p:cNvSpPr txBox="true"/>
          <p:nvPr/>
        </p:nvSpPr>
        <p:spPr>
          <a:xfrm rot="0">
            <a:off x="1339596" y="7895463"/>
            <a:ext cx="15288768" cy="727329"/>
          </a:xfrm>
          <a:prstGeom prst="rect">
            <a:avLst/>
          </a:prstGeom>
        </p:spPr>
        <p:txBody>
          <a:bodyPr anchor="t" rtlCol="false" tIns="0" lIns="0" bIns="0" rIns="0">
            <a:spAutoFit/>
          </a:bodyPr>
          <a:lstStyle/>
          <a:p>
            <a:pPr algn="l">
              <a:lnSpc>
                <a:spcPts val="2520"/>
              </a:lnSpc>
            </a:pPr>
            <a:r>
              <a:rPr lang="en-US" sz="2100" b="true">
                <a:solidFill>
                  <a:srgbClr val="5C5C70"/>
                </a:solidFill>
                <a:latin typeface="Aptos Bold"/>
                <a:ea typeface="Aptos Bold"/>
                <a:cs typeface="Aptos Bold"/>
                <a:sym typeface="Aptos Bold"/>
              </a:rPr>
              <a:t>Design goal: reduce conversational friction while making every response capable of taking an action.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Existing Solutions &amp; Gaps</a:t>
            </a:r>
          </a:p>
        </p:txBody>
      </p:sp>
      <p:grpSp>
        <p:nvGrpSpPr>
          <p:cNvPr name="Group 3" id="3"/>
          <p:cNvGrpSpPr/>
          <p:nvPr/>
        </p:nvGrpSpPr>
        <p:grpSpPr>
          <a:xfrm rot="0">
            <a:off x="1289304" y="1289304"/>
            <a:ext cx="2468880" cy="466344"/>
            <a:chOff x="0" y="0"/>
            <a:chExt cx="3291840" cy="621792"/>
          </a:xfrm>
        </p:grpSpPr>
        <p:sp>
          <p:nvSpPr>
            <p:cNvPr name="Freeform 4" id="4"/>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5" id="5"/>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PROBLEM → RESPONSE</a:t>
              </a:r>
            </a:p>
          </p:txBody>
        </p:sp>
      </p:grpSp>
      <p:sp>
        <p:nvSpPr>
          <p:cNvPr name="TextBox 6" id="6"/>
          <p:cNvSpPr txBox="true"/>
          <p:nvPr/>
        </p:nvSpPr>
        <p:spPr>
          <a:xfrm rot="0">
            <a:off x="1339596" y="1869948"/>
            <a:ext cx="7196328" cy="512064"/>
          </a:xfrm>
          <a:prstGeom prst="rect">
            <a:avLst/>
          </a:prstGeom>
        </p:spPr>
        <p:txBody>
          <a:bodyPr anchor="t" rtlCol="false" tIns="0" lIns="0" bIns="0" rIns="0">
            <a:spAutoFit/>
          </a:bodyPr>
          <a:lstStyle/>
          <a:p>
            <a:pPr algn="l">
              <a:lnSpc>
                <a:spcPts val="3240"/>
              </a:lnSpc>
            </a:pPr>
            <a:r>
              <a:rPr lang="en-US" sz="2700" b="true">
                <a:solidFill>
                  <a:srgbClr val="12122D"/>
                </a:solidFill>
                <a:latin typeface="Aptos Bold"/>
                <a:ea typeface="Aptos Bold"/>
                <a:cs typeface="Aptos Bold"/>
                <a:sym typeface="Aptos Bold"/>
              </a:rPr>
              <a:t>What breaks natural voice interaction?</a:t>
            </a:r>
          </a:p>
        </p:txBody>
      </p:sp>
      <p:grpSp>
        <p:nvGrpSpPr>
          <p:cNvPr name="Group 7" id="7"/>
          <p:cNvGrpSpPr/>
          <p:nvPr/>
        </p:nvGrpSpPr>
        <p:grpSpPr>
          <a:xfrm rot="0">
            <a:off x="1293495" y="2596515"/>
            <a:ext cx="7219950" cy="1322070"/>
            <a:chOff x="0" y="0"/>
            <a:chExt cx="9626600" cy="1762760"/>
          </a:xfrm>
        </p:grpSpPr>
        <p:sp>
          <p:nvSpPr>
            <p:cNvPr name="Freeform 8" id="8"/>
            <p:cNvSpPr/>
            <p:nvPr/>
          </p:nvSpPr>
          <p:spPr>
            <a:xfrm flipH="false" flipV="false" rot="0">
              <a:off x="0" y="0"/>
              <a:ext cx="9626600" cy="1762633"/>
            </a:xfrm>
            <a:custGeom>
              <a:avLst/>
              <a:gdLst/>
              <a:ahLst/>
              <a:cxnLst/>
              <a:rect r="r" b="b" t="t" l="l"/>
              <a:pathLst>
                <a:path h="1762633" w="9626600">
                  <a:moveTo>
                    <a:pt x="0" y="293751"/>
                  </a:moveTo>
                  <a:cubicBezTo>
                    <a:pt x="0" y="131572"/>
                    <a:pt x="131572" y="0"/>
                    <a:pt x="293751" y="0"/>
                  </a:cubicBezTo>
                  <a:lnTo>
                    <a:pt x="9332849" y="0"/>
                  </a:lnTo>
                  <a:cubicBezTo>
                    <a:pt x="9495028" y="0"/>
                    <a:pt x="9626600" y="131572"/>
                    <a:pt x="9626600" y="293751"/>
                  </a:cubicBezTo>
                  <a:lnTo>
                    <a:pt x="9626600" y="1468882"/>
                  </a:lnTo>
                  <a:cubicBezTo>
                    <a:pt x="9626600" y="1631188"/>
                    <a:pt x="9495028" y="1762633"/>
                    <a:pt x="9332849" y="1762633"/>
                  </a:cubicBezTo>
                  <a:lnTo>
                    <a:pt x="293751" y="1762633"/>
                  </a:lnTo>
                  <a:cubicBezTo>
                    <a:pt x="131572" y="1762760"/>
                    <a:pt x="0" y="1631188"/>
                    <a:pt x="0" y="1469009"/>
                  </a:cubicBezTo>
                  <a:close/>
                </a:path>
              </a:pathLst>
            </a:custGeom>
            <a:solidFill>
              <a:srgbClr val="FFFFFF"/>
            </a:solidFill>
            <a:ln w="19050" cap="sq">
              <a:solidFill>
                <a:srgbClr val="E1DFEB"/>
              </a:solidFill>
              <a:prstDash val="solid"/>
              <a:miter/>
            </a:ln>
          </p:spPr>
        </p:sp>
      </p:grpSp>
      <p:grpSp>
        <p:nvGrpSpPr>
          <p:cNvPr name="Group 9" id="9"/>
          <p:cNvGrpSpPr/>
          <p:nvPr/>
        </p:nvGrpSpPr>
        <p:grpSpPr>
          <a:xfrm rot="0">
            <a:off x="1303020" y="2606040"/>
            <a:ext cx="96012" cy="1303020"/>
            <a:chOff x="0" y="0"/>
            <a:chExt cx="128016" cy="1737360"/>
          </a:xfrm>
        </p:grpSpPr>
        <p:sp>
          <p:nvSpPr>
            <p:cNvPr name="Freeform 10" id="10"/>
            <p:cNvSpPr/>
            <p:nvPr/>
          </p:nvSpPr>
          <p:spPr>
            <a:xfrm flipH="false" flipV="false" rot="0">
              <a:off x="0" y="0"/>
              <a:ext cx="128016" cy="1737360"/>
            </a:xfrm>
            <a:custGeom>
              <a:avLst/>
              <a:gdLst/>
              <a:ahLst/>
              <a:cxnLst/>
              <a:rect r="r" b="b" t="t" l="l"/>
              <a:pathLst>
                <a:path h="1737360" w="128016">
                  <a:moveTo>
                    <a:pt x="0" y="0"/>
                  </a:moveTo>
                  <a:lnTo>
                    <a:pt x="128016" y="0"/>
                  </a:lnTo>
                  <a:lnTo>
                    <a:pt x="128016" y="1737360"/>
                  </a:lnTo>
                  <a:lnTo>
                    <a:pt x="0" y="1737360"/>
                  </a:lnTo>
                  <a:close/>
                </a:path>
              </a:pathLst>
            </a:custGeom>
            <a:solidFill>
              <a:srgbClr val="6C2FDB"/>
            </a:solidFill>
          </p:spPr>
        </p:sp>
      </p:grpSp>
      <p:sp>
        <p:nvSpPr>
          <p:cNvPr name="TextBox 11" id="11"/>
          <p:cNvSpPr txBox="true"/>
          <p:nvPr/>
        </p:nvSpPr>
        <p:spPr>
          <a:xfrm rot="0">
            <a:off x="1586484" y="2793111"/>
            <a:ext cx="674370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Latency</a:t>
            </a:r>
          </a:p>
        </p:txBody>
      </p:sp>
      <p:sp>
        <p:nvSpPr>
          <p:cNvPr name="TextBox 12" id="12"/>
          <p:cNvSpPr txBox="true"/>
          <p:nvPr/>
        </p:nvSpPr>
        <p:spPr>
          <a:xfrm rot="0">
            <a:off x="1586484" y="3282696"/>
            <a:ext cx="6743700" cy="49834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Traditional STT → LLM → TTS flows can take 3–5 seconds.</a:t>
            </a:r>
          </a:p>
        </p:txBody>
      </p:sp>
      <p:grpSp>
        <p:nvGrpSpPr>
          <p:cNvPr name="Group 13" id="13"/>
          <p:cNvGrpSpPr/>
          <p:nvPr/>
        </p:nvGrpSpPr>
        <p:grpSpPr>
          <a:xfrm rot="0">
            <a:off x="1293495" y="4077843"/>
            <a:ext cx="7219950" cy="1322070"/>
            <a:chOff x="0" y="0"/>
            <a:chExt cx="9626600" cy="1762760"/>
          </a:xfrm>
        </p:grpSpPr>
        <p:sp>
          <p:nvSpPr>
            <p:cNvPr name="Freeform 14" id="14"/>
            <p:cNvSpPr/>
            <p:nvPr/>
          </p:nvSpPr>
          <p:spPr>
            <a:xfrm flipH="false" flipV="false" rot="0">
              <a:off x="0" y="0"/>
              <a:ext cx="9626600" cy="1762633"/>
            </a:xfrm>
            <a:custGeom>
              <a:avLst/>
              <a:gdLst/>
              <a:ahLst/>
              <a:cxnLst/>
              <a:rect r="r" b="b" t="t" l="l"/>
              <a:pathLst>
                <a:path h="1762633" w="9626600">
                  <a:moveTo>
                    <a:pt x="0" y="293751"/>
                  </a:moveTo>
                  <a:cubicBezTo>
                    <a:pt x="0" y="131572"/>
                    <a:pt x="131572" y="0"/>
                    <a:pt x="293751" y="0"/>
                  </a:cubicBezTo>
                  <a:lnTo>
                    <a:pt x="9332849" y="0"/>
                  </a:lnTo>
                  <a:cubicBezTo>
                    <a:pt x="9495028" y="0"/>
                    <a:pt x="9626600" y="131572"/>
                    <a:pt x="9626600" y="293751"/>
                  </a:cubicBezTo>
                  <a:lnTo>
                    <a:pt x="9626600" y="1468882"/>
                  </a:lnTo>
                  <a:cubicBezTo>
                    <a:pt x="9626600" y="1631188"/>
                    <a:pt x="9495028" y="1762633"/>
                    <a:pt x="9332849" y="1762633"/>
                  </a:cubicBezTo>
                  <a:lnTo>
                    <a:pt x="293751" y="1762633"/>
                  </a:lnTo>
                  <a:cubicBezTo>
                    <a:pt x="131572" y="1762760"/>
                    <a:pt x="0" y="1631188"/>
                    <a:pt x="0" y="1469009"/>
                  </a:cubicBezTo>
                  <a:close/>
                </a:path>
              </a:pathLst>
            </a:custGeom>
            <a:solidFill>
              <a:srgbClr val="FFFFFF"/>
            </a:solidFill>
            <a:ln w="19050" cap="sq">
              <a:solidFill>
                <a:srgbClr val="E1DFEB"/>
              </a:solidFill>
              <a:prstDash val="solid"/>
              <a:miter/>
            </a:ln>
          </p:spPr>
        </p:sp>
      </p:grpSp>
      <p:grpSp>
        <p:nvGrpSpPr>
          <p:cNvPr name="Group 15" id="15"/>
          <p:cNvGrpSpPr/>
          <p:nvPr/>
        </p:nvGrpSpPr>
        <p:grpSpPr>
          <a:xfrm rot="0">
            <a:off x="1303020" y="4087368"/>
            <a:ext cx="96012" cy="1303020"/>
            <a:chOff x="0" y="0"/>
            <a:chExt cx="128016" cy="1737360"/>
          </a:xfrm>
        </p:grpSpPr>
        <p:sp>
          <p:nvSpPr>
            <p:cNvPr name="Freeform 16" id="16"/>
            <p:cNvSpPr/>
            <p:nvPr/>
          </p:nvSpPr>
          <p:spPr>
            <a:xfrm flipH="false" flipV="false" rot="0">
              <a:off x="0" y="0"/>
              <a:ext cx="128016" cy="1737360"/>
            </a:xfrm>
            <a:custGeom>
              <a:avLst/>
              <a:gdLst/>
              <a:ahLst/>
              <a:cxnLst/>
              <a:rect r="r" b="b" t="t" l="l"/>
              <a:pathLst>
                <a:path h="1737360" w="128016">
                  <a:moveTo>
                    <a:pt x="0" y="0"/>
                  </a:moveTo>
                  <a:lnTo>
                    <a:pt x="128016" y="0"/>
                  </a:lnTo>
                  <a:lnTo>
                    <a:pt x="128016" y="1737360"/>
                  </a:lnTo>
                  <a:lnTo>
                    <a:pt x="0" y="1737360"/>
                  </a:lnTo>
                  <a:close/>
                </a:path>
              </a:pathLst>
            </a:custGeom>
            <a:solidFill>
              <a:srgbClr val="3F5DD3"/>
            </a:solidFill>
          </p:spPr>
        </p:sp>
      </p:grpSp>
      <p:sp>
        <p:nvSpPr>
          <p:cNvPr name="TextBox 17" id="17"/>
          <p:cNvSpPr txBox="true"/>
          <p:nvPr/>
        </p:nvSpPr>
        <p:spPr>
          <a:xfrm rot="0">
            <a:off x="1586484" y="4274439"/>
            <a:ext cx="674370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Half-duplex behavior</a:t>
            </a:r>
          </a:p>
        </p:txBody>
      </p:sp>
      <p:sp>
        <p:nvSpPr>
          <p:cNvPr name="TextBox 18" id="18"/>
          <p:cNvSpPr txBox="true"/>
          <p:nvPr/>
        </p:nvSpPr>
        <p:spPr>
          <a:xfrm rot="0">
            <a:off x="1586484" y="4764024"/>
            <a:ext cx="6743700" cy="49834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Users often have to wait for the bot to finish speaking before they can continue.</a:t>
            </a:r>
          </a:p>
        </p:txBody>
      </p:sp>
      <p:grpSp>
        <p:nvGrpSpPr>
          <p:cNvPr name="Group 19" id="19"/>
          <p:cNvGrpSpPr/>
          <p:nvPr/>
        </p:nvGrpSpPr>
        <p:grpSpPr>
          <a:xfrm rot="0">
            <a:off x="1293495" y="5559171"/>
            <a:ext cx="7219950" cy="1322070"/>
            <a:chOff x="0" y="0"/>
            <a:chExt cx="9626600" cy="1762760"/>
          </a:xfrm>
        </p:grpSpPr>
        <p:sp>
          <p:nvSpPr>
            <p:cNvPr name="Freeform 20" id="20"/>
            <p:cNvSpPr/>
            <p:nvPr/>
          </p:nvSpPr>
          <p:spPr>
            <a:xfrm flipH="false" flipV="false" rot="0">
              <a:off x="0" y="0"/>
              <a:ext cx="9626600" cy="1762633"/>
            </a:xfrm>
            <a:custGeom>
              <a:avLst/>
              <a:gdLst/>
              <a:ahLst/>
              <a:cxnLst/>
              <a:rect r="r" b="b" t="t" l="l"/>
              <a:pathLst>
                <a:path h="1762633" w="9626600">
                  <a:moveTo>
                    <a:pt x="0" y="293751"/>
                  </a:moveTo>
                  <a:cubicBezTo>
                    <a:pt x="0" y="131572"/>
                    <a:pt x="131572" y="0"/>
                    <a:pt x="293751" y="0"/>
                  </a:cubicBezTo>
                  <a:lnTo>
                    <a:pt x="9332849" y="0"/>
                  </a:lnTo>
                  <a:cubicBezTo>
                    <a:pt x="9495028" y="0"/>
                    <a:pt x="9626600" y="131572"/>
                    <a:pt x="9626600" y="293751"/>
                  </a:cubicBezTo>
                  <a:lnTo>
                    <a:pt x="9626600" y="1468882"/>
                  </a:lnTo>
                  <a:cubicBezTo>
                    <a:pt x="9626600" y="1631188"/>
                    <a:pt x="9495028" y="1762633"/>
                    <a:pt x="9332849" y="1762633"/>
                  </a:cubicBezTo>
                  <a:lnTo>
                    <a:pt x="293751" y="1762633"/>
                  </a:lnTo>
                  <a:cubicBezTo>
                    <a:pt x="131572" y="1762760"/>
                    <a:pt x="0" y="1631188"/>
                    <a:pt x="0" y="1469009"/>
                  </a:cubicBezTo>
                  <a:close/>
                </a:path>
              </a:pathLst>
            </a:custGeom>
            <a:solidFill>
              <a:srgbClr val="FFFFFF"/>
            </a:solidFill>
            <a:ln w="19050" cap="sq">
              <a:solidFill>
                <a:srgbClr val="E1DFEB"/>
              </a:solidFill>
              <a:prstDash val="solid"/>
              <a:miter/>
            </a:ln>
          </p:spPr>
        </p:sp>
      </p:grpSp>
      <p:grpSp>
        <p:nvGrpSpPr>
          <p:cNvPr name="Group 21" id="21"/>
          <p:cNvGrpSpPr/>
          <p:nvPr/>
        </p:nvGrpSpPr>
        <p:grpSpPr>
          <a:xfrm rot="0">
            <a:off x="1303020" y="5568696"/>
            <a:ext cx="96012" cy="1303020"/>
            <a:chOff x="0" y="0"/>
            <a:chExt cx="128016" cy="1737360"/>
          </a:xfrm>
        </p:grpSpPr>
        <p:sp>
          <p:nvSpPr>
            <p:cNvPr name="Freeform 22" id="22"/>
            <p:cNvSpPr/>
            <p:nvPr/>
          </p:nvSpPr>
          <p:spPr>
            <a:xfrm flipH="false" flipV="false" rot="0">
              <a:off x="0" y="0"/>
              <a:ext cx="128016" cy="1737360"/>
            </a:xfrm>
            <a:custGeom>
              <a:avLst/>
              <a:gdLst/>
              <a:ahLst/>
              <a:cxnLst/>
              <a:rect r="r" b="b" t="t" l="l"/>
              <a:pathLst>
                <a:path h="1737360" w="128016">
                  <a:moveTo>
                    <a:pt x="0" y="0"/>
                  </a:moveTo>
                  <a:lnTo>
                    <a:pt x="128016" y="0"/>
                  </a:lnTo>
                  <a:lnTo>
                    <a:pt x="128016" y="1737360"/>
                  </a:lnTo>
                  <a:lnTo>
                    <a:pt x="0" y="1737360"/>
                  </a:lnTo>
                  <a:close/>
                </a:path>
              </a:pathLst>
            </a:custGeom>
            <a:solidFill>
              <a:srgbClr val="47BEB5"/>
            </a:solidFill>
          </p:spPr>
        </p:sp>
      </p:grpSp>
      <p:sp>
        <p:nvSpPr>
          <p:cNvPr name="TextBox 23" id="23"/>
          <p:cNvSpPr txBox="true"/>
          <p:nvPr/>
        </p:nvSpPr>
        <p:spPr>
          <a:xfrm rot="0">
            <a:off x="1586484" y="5755767"/>
            <a:ext cx="674370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API-key sprawl</a:t>
            </a:r>
          </a:p>
        </p:txBody>
      </p:sp>
      <p:sp>
        <p:nvSpPr>
          <p:cNvPr name="TextBox 24" id="24"/>
          <p:cNvSpPr txBox="true"/>
          <p:nvPr/>
        </p:nvSpPr>
        <p:spPr>
          <a:xfrm rot="0">
            <a:off x="1586484" y="6245352"/>
            <a:ext cx="6743700" cy="49834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Separate provider credentials create billing, security and initialization complexity.</a:t>
            </a:r>
          </a:p>
        </p:txBody>
      </p:sp>
      <p:grpSp>
        <p:nvGrpSpPr>
          <p:cNvPr name="Group 25" id="25"/>
          <p:cNvGrpSpPr/>
          <p:nvPr/>
        </p:nvGrpSpPr>
        <p:grpSpPr>
          <a:xfrm rot="0">
            <a:off x="1293495" y="7040499"/>
            <a:ext cx="7219950" cy="1322070"/>
            <a:chOff x="0" y="0"/>
            <a:chExt cx="9626600" cy="1762760"/>
          </a:xfrm>
        </p:grpSpPr>
        <p:sp>
          <p:nvSpPr>
            <p:cNvPr name="Freeform 26" id="26"/>
            <p:cNvSpPr/>
            <p:nvPr/>
          </p:nvSpPr>
          <p:spPr>
            <a:xfrm flipH="false" flipV="false" rot="0">
              <a:off x="0" y="0"/>
              <a:ext cx="9626600" cy="1762633"/>
            </a:xfrm>
            <a:custGeom>
              <a:avLst/>
              <a:gdLst/>
              <a:ahLst/>
              <a:cxnLst/>
              <a:rect r="r" b="b" t="t" l="l"/>
              <a:pathLst>
                <a:path h="1762633" w="9626600">
                  <a:moveTo>
                    <a:pt x="0" y="293751"/>
                  </a:moveTo>
                  <a:cubicBezTo>
                    <a:pt x="0" y="131572"/>
                    <a:pt x="131572" y="0"/>
                    <a:pt x="293751" y="0"/>
                  </a:cubicBezTo>
                  <a:lnTo>
                    <a:pt x="9332849" y="0"/>
                  </a:lnTo>
                  <a:cubicBezTo>
                    <a:pt x="9495028" y="0"/>
                    <a:pt x="9626600" y="131572"/>
                    <a:pt x="9626600" y="293751"/>
                  </a:cubicBezTo>
                  <a:lnTo>
                    <a:pt x="9626600" y="1468882"/>
                  </a:lnTo>
                  <a:cubicBezTo>
                    <a:pt x="9626600" y="1631188"/>
                    <a:pt x="9495028" y="1762633"/>
                    <a:pt x="9332849" y="1762633"/>
                  </a:cubicBezTo>
                  <a:lnTo>
                    <a:pt x="293751" y="1762633"/>
                  </a:lnTo>
                  <a:cubicBezTo>
                    <a:pt x="131572" y="1762760"/>
                    <a:pt x="0" y="1631188"/>
                    <a:pt x="0" y="1469009"/>
                  </a:cubicBezTo>
                  <a:close/>
                </a:path>
              </a:pathLst>
            </a:custGeom>
            <a:solidFill>
              <a:srgbClr val="FFFFFF"/>
            </a:solidFill>
            <a:ln w="19050" cap="sq">
              <a:solidFill>
                <a:srgbClr val="E1DFEB"/>
              </a:solidFill>
              <a:prstDash val="solid"/>
              <a:miter/>
            </a:ln>
          </p:spPr>
        </p:sp>
      </p:grpSp>
      <p:grpSp>
        <p:nvGrpSpPr>
          <p:cNvPr name="Group 27" id="27"/>
          <p:cNvGrpSpPr/>
          <p:nvPr/>
        </p:nvGrpSpPr>
        <p:grpSpPr>
          <a:xfrm rot="0">
            <a:off x="1303020" y="7050024"/>
            <a:ext cx="96012" cy="1303020"/>
            <a:chOff x="0" y="0"/>
            <a:chExt cx="128016" cy="1737360"/>
          </a:xfrm>
        </p:grpSpPr>
        <p:sp>
          <p:nvSpPr>
            <p:cNvPr name="Freeform 28" id="28"/>
            <p:cNvSpPr/>
            <p:nvPr/>
          </p:nvSpPr>
          <p:spPr>
            <a:xfrm flipH="false" flipV="false" rot="0">
              <a:off x="0" y="0"/>
              <a:ext cx="128016" cy="1737360"/>
            </a:xfrm>
            <a:custGeom>
              <a:avLst/>
              <a:gdLst/>
              <a:ahLst/>
              <a:cxnLst/>
              <a:rect r="r" b="b" t="t" l="l"/>
              <a:pathLst>
                <a:path h="1737360" w="128016">
                  <a:moveTo>
                    <a:pt x="0" y="0"/>
                  </a:moveTo>
                  <a:lnTo>
                    <a:pt x="128016" y="0"/>
                  </a:lnTo>
                  <a:lnTo>
                    <a:pt x="128016" y="1737360"/>
                  </a:lnTo>
                  <a:lnTo>
                    <a:pt x="0" y="1737360"/>
                  </a:lnTo>
                  <a:close/>
                </a:path>
              </a:pathLst>
            </a:custGeom>
            <a:solidFill>
              <a:srgbClr val="EB8741"/>
            </a:solidFill>
          </p:spPr>
        </p:sp>
      </p:grpSp>
      <p:sp>
        <p:nvSpPr>
          <p:cNvPr name="TextBox 29" id="29"/>
          <p:cNvSpPr txBox="true"/>
          <p:nvPr/>
        </p:nvSpPr>
        <p:spPr>
          <a:xfrm rot="0">
            <a:off x="1586484" y="7237095"/>
            <a:ext cx="674370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Weak proof</a:t>
            </a:r>
          </a:p>
        </p:txBody>
      </p:sp>
      <p:sp>
        <p:nvSpPr>
          <p:cNvPr name="TextBox 30" id="30"/>
          <p:cNvSpPr txBox="true"/>
          <p:nvPr/>
        </p:nvSpPr>
        <p:spPr>
          <a:xfrm rot="0">
            <a:off x="1586484" y="7726680"/>
            <a:ext cx="6743700" cy="49834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Hackathon demos may not include repeatable, data-driven voice benchmarking.</a:t>
            </a:r>
          </a:p>
        </p:txBody>
      </p:sp>
      <p:sp>
        <p:nvSpPr>
          <p:cNvPr name="TextBox 31" id="31"/>
          <p:cNvSpPr txBox="true"/>
          <p:nvPr/>
        </p:nvSpPr>
        <p:spPr>
          <a:xfrm rot="0">
            <a:off x="9157716" y="1869948"/>
            <a:ext cx="6784848" cy="512064"/>
          </a:xfrm>
          <a:prstGeom prst="rect">
            <a:avLst/>
          </a:prstGeom>
        </p:spPr>
        <p:txBody>
          <a:bodyPr anchor="t" rtlCol="false" tIns="0" lIns="0" bIns="0" rIns="0">
            <a:spAutoFit/>
          </a:bodyPr>
          <a:lstStyle/>
          <a:p>
            <a:pPr algn="l">
              <a:lnSpc>
                <a:spcPts val="3240"/>
              </a:lnSpc>
            </a:pPr>
            <a:r>
              <a:rPr lang="en-US" sz="2700" b="true">
                <a:solidFill>
                  <a:srgbClr val="12122D"/>
                </a:solidFill>
                <a:latin typeface="Aptos Bold"/>
                <a:ea typeface="Aptos Bold"/>
                <a:cs typeface="Aptos Bold"/>
                <a:sym typeface="Aptos Bold"/>
              </a:rPr>
              <a:t>Our response</a:t>
            </a:r>
          </a:p>
        </p:txBody>
      </p:sp>
      <p:sp>
        <p:nvSpPr>
          <p:cNvPr name="TextBox 32" id="32"/>
          <p:cNvSpPr txBox="true"/>
          <p:nvPr/>
        </p:nvSpPr>
        <p:spPr>
          <a:xfrm rot="0">
            <a:off x="9144000" y="2283714"/>
            <a:ext cx="6675120" cy="4000500"/>
          </a:xfrm>
          <a:prstGeom prst="rect">
            <a:avLst/>
          </a:prstGeom>
        </p:spPr>
        <p:txBody>
          <a:bodyPr anchor="t" rtlCol="false" tIns="0" lIns="0" bIns="0" rIns="0">
            <a:spAutoFit/>
          </a:bodyPr>
          <a:lstStyle/>
          <a:p>
            <a:pPr algn="just">
              <a:lnSpc>
                <a:spcPts val="3179"/>
              </a:lnSpc>
            </a:pPr>
          </a:p>
          <a:p>
            <a:pPr algn="just">
              <a:lnSpc>
                <a:spcPts val="3179"/>
              </a:lnSpc>
            </a:pPr>
            <a:r>
              <a:rPr lang="en-US" sz="2649">
                <a:solidFill>
                  <a:srgbClr val="1F1F34"/>
                </a:solidFill>
                <a:latin typeface="Aptos"/>
                <a:ea typeface="Aptos"/>
                <a:cs typeface="Aptos"/>
                <a:sym typeface="Aptos"/>
              </a:rPr>
              <a:t>Our</a:t>
            </a:r>
            <a:r>
              <a:rPr lang="en-US" sz="2649">
                <a:solidFill>
                  <a:srgbClr val="1F1F34"/>
                </a:solidFill>
                <a:latin typeface="Aptos"/>
                <a:ea typeface="Aptos"/>
                <a:cs typeface="Aptos"/>
                <a:sym typeface="Aptos"/>
              </a:rPr>
              <a:t> solution is a real-time AI agent that combines voice and vision to understand users and their surroundings. It can listen, reason, use tools, and respond through voice while also using the camera to detect objects and support navigation. The agent supports interruptions and self-corrections, making the interaction more natural and responsive than a traditional voice chatbot.</a:t>
            </a:r>
          </a:p>
        </p:txBody>
      </p:sp>
      <p:grpSp>
        <p:nvGrpSpPr>
          <p:cNvPr name="Group 33" id="33"/>
          <p:cNvGrpSpPr/>
          <p:nvPr/>
        </p:nvGrpSpPr>
        <p:grpSpPr>
          <a:xfrm rot="0">
            <a:off x="9157716" y="6994524"/>
            <a:ext cx="6821424" cy="504192"/>
            <a:chOff x="0" y="0"/>
            <a:chExt cx="8412480" cy="621792"/>
          </a:xfrm>
        </p:grpSpPr>
        <p:sp>
          <p:nvSpPr>
            <p:cNvPr name="Freeform 34" id="34"/>
            <p:cNvSpPr/>
            <p:nvPr/>
          </p:nvSpPr>
          <p:spPr>
            <a:xfrm flipH="false" flipV="false" rot="0">
              <a:off x="0" y="0"/>
              <a:ext cx="8412480" cy="621792"/>
            </a:xfrm>
            <a:custGeom>
              <a:avLst/>
              <a:gdLst/>
              <a:ahLst/>
              <a:cxnLst/>
              <a:rect r="r" b="b" t="t" l="l"/>
              <a:pathLst>
                <a:path h="621792" w="8412480">
                  <a:moveTo>
                    <a:pt x="0" y="103632"/>
                  </a:moveTo>
                  <a:cubicBezTo>
                    <a:pt x="0" y="46355"/>
                    <a:pt x="46355" y="0"/>
                    <a:pt x="103632" y="0"/>
                  </a:cubicBezTo>
                  <a:lnTo>
                    <a:pt x="8308848" y="0"/>
                  </a:lnTo>
                  <a:cubicBezTo>
                    <a:pt x="8366125" y="0"/>
                    <a:pt x="8412480" y="46355"/>
                    <a:pt x="8412480" y="103632"/>
                  </a:cubicBezTo>
                  <a:lnTo>
                    <a:pt x="8412480" y="518160"/>
                  </a:lnTo>
                  <a:cubicBezTo>
                    <a:pt x="8412480" y="575437"/>
                    <a:pt x="8366125" y="621792"/>
                    <a:pt x="8308848" y="621792"/>
                  </a:cubicBezTo>
                  <a:lnTo>
                    <a:pt x="103632" y="621792"/>
                  </a:lnTo>
                  <a:cubicBezTo>
                    <a:pt x="46355" y="621792"/>
                    <a:pt x="0" y="575437"/>
                    <a:pt x="0" y="518160"/>
                  </a:cubicBezTo>
                  <a:close/>
                </a:path>
              </a:pathLst>
            </a:custGeom>
            <a:solidFill>
              <a:srgbClr val="6C2FDB"/>
            </a:solidFill>
          </p:spPr>
        </p:sp>
        <p:sp>
          <p:nvSpPr>
            <p:cNvPr name="TextBox 35" id="35"/>
            <p:cNvSpPr txBox="true"/>
            <p:nvPr/>
          </p:nvSpPr>
          <p:spPr>
            <a:xfrm>
              <a:off x="0" y="-9525"/>
              <a:ext cx="841248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TARGET: INTERRUPTIBLE + ACTIONABLE</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89304" y="1289304"/>
            <a:ext cx="2468880" cy="466344"/>
            <a:chOff x="0" y="0"/>
            <a:chExt cx="3291840" cy="621792"/>
          </a:xfrm>
        </p:grpSpPr>
        <p:sp>
          <p:nvSpPr>
            <p:cNvPr name="Freeform 3" id="3"/>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4" id="4"/>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END-TO-END DATA FLOW</a:t>
              </a:r>
            </a:p>
          </p:txBody>
        </p:sp>
      </p:grpSp>
      <p:grpSp>
        <p:nvGrpSpPr>
          <p:cNvPr name="Group 5" id="5"/>
          <p:cNvGrpSpPr/>
          <p:nvPr/>
        </p:nvGrpSpPr>
        <p:grpSpPr>
          <a:xfrm rot="0">
            <a:off x="744855" y="2733675"/>
            <a:ext cx="2007870" cy="2967990"/>
            <a:chOff x="0" y="0"/>
            <a:chExt cx="2677160" cy="3957320"/>
          </a:xfrm>
        </p:grpSpPr>
        <p:sp>
          <p:nvSpPr>
            <p:cNvPr name="Freeform 6" id="6"/>
            <p:cNvSpPr/>
            <p:nvPr/>
          </p:nvSpPr>
          <p:spPr>
            <a:xfrm flipH="false" flipV="false" rot="0">
              <a:off x="0" y="0"/>
              <a:ext cx="2677160" cy="3957320"/>
            </a:xfrm>
            <a:custGeom>
              <a:avLst/>
              <a:gdLst/>
              <a:ahLst/>
              <a:cxnLst/>
              <a:rect r="r" b="b" t="t" l="l"/>
              <a:pathLst>
                <a:path h="3957320" w="2677160">
                  <a:moveTo>
                    <a:pt x="0" y="446151"/>
                  </a:moveTo>
                  <a:cubicBezTo>
                    <a:pt x="0" y="199771"/>
                    <a:pt x="199771" y="0"/>
                    <a:pt x="446151" y="0"/>
                  </a:cubicBezTo>
                  <a:lnTo>
                    <a:pt x="2231009" y="0"/>
                  </a:lnTo>
                  <a:cubicBezTo>
                    <a:pt x="2477389" y="0"/>
                    <a:pt x="2677160" y="199771"/>
                    <a:pt x="2677160" y="446151"/>
                  </a:cubicBezTo>
                  <a:lnTo>
                    <a:pt x="2677160" y="3511169"/>
                  </a:lnTo>
                  <a:cubicBezTo>
                    <a:pt x="2677160" y="3757549"/>
                    <a:pt x="2477389" y="3957320"/>
                    <a:pt x="2231009" y="3957320"/>
                  </a:cubicBezTo>
                  <a:lnTo>
                    <a:pt x="446151" y="3957320"/>
                  </a:lnTo>
                  <a:cubicBezTo>
                    <a:pt x="199771" y="3957320"/>
                    <a:pt x="0" y="3757549"/>
                    <a:pt x="0" y="3511169"/>
                  </a:cubicBezTo>
                  <a:close/>
                </a:path>
              </a:pathLst>
            </a:custGeom>
            <a:solidFill>
              <a:srgbClr val="F5F4FA"/>
            </a:solidFill>
            <a:ln w="19050" cap="sq">
              <a:solidFill>
                <a:srgbClr val="E1DFEB"/>
              </a:solidFill>
              <a:prstDash val="solid"/>
              <a:miter/>
            </a:ln>
          </p:spPr>
        </p:sp>
      </p:grpSp>
      <p:grpSp>
        <p:nvGrpSpPr>
          <p:cNvPr name="Group 7" id="7"/>
          <p:cNvGrpSpPr/>
          <p:nvPr/>
        </p:nvGrpSpPr>
        <p:grpSpPr>
          <a:xfrm rot="0">
            <a:off x="754380" y="2743200"/>
            <a:ext cx="96012" cy="2948940"/>
            <a:chOff x="0" y="0"/>
            <a:chExt cx="128016" cy="3931920"/>
          </a:xfrm>
        </p:grpSpPr>
        <p:sp>
          <p:nvSpPr>
            <p:cNvPr name="Freeform 8" id="8"/>
            <p:cNvSpPr/>
            <p:nvPr/>
          </p:nvSpPr>
          <p:spPr>
            <a:xfrm flipH="false" flipV="false" rot="0">
              <a:off x="0" y="0"/>
              <a:ext cx="128016" cy="3931920"/>
            </a:xfrm>
            <a:custGeom>
              <a:avLst/>
              <a:gdLst/>
              <a:ahLst/>
              <a:cxnLst/>
              <a:rect r="r" b="b" t="t" l="l"/>
              <a:pathLst>
                <a:path h="3931920" w="128016">
                  <a:moveTo>
                    <a:pt x="0" y="0"/>
                  </a:moveTo>
                  <a:lnTo>
                    <a:pt x="128016" y="0"/>
                  </a:lnTo>
                  <a:lnTo>
                    <a:pt x="128016" y="3931920"/>
                  </a:lnTo>
                  <a:lnTo>
                    <a:pt x="0" y="3931920"/>
                  </a:lnTo>
                  <a:close/>
                </a:path>
              </a:pathLst>
            </a:custGeom>
            <a:solidFill>
              <a:srgbClr val="3F5DD3"/>
            </a:solidFill>
          </p:spPr>
        </p:sp>
      </p:grpSp>
      <p:grpSp>
        <p:nvGrpSpPr>
          <p:cNvPr name="Group 9" id="9"/>
          <p:cNvGrpSpPr/>
          <p:nvPr/>
        </p:nvGrpSpPr>
        <p:grpSpPr>
          <a:xfrm rot="0">
            <a:off x="822960" y="2125980"/>
            <a:ext cx="521208" cy="466344"/>
            <a:chOff x="0" y="0"/>
            <a:chExt cx="694944" cy="621792"/>
          </a:xfrm>
        </p:grpSpPr>
        <p:sp>
          <p:nvSpPr>
            <p:cNvPr name="Freeform 10" id="10"/>
            <p:cNvSpPr/>
            <p:nvPr/>
          </p:nvSpPr>
          <p:spPr>
            <a:xfrm flipH="false" flipV="false" rot="0">
              <a:off x="0" y="0"/>
              <a:ext cx="694944" cy="621792"/>
            </a:xfrm>
            <a:custGeom>
              <a:avLst/>
              <a:gdLst/>
              <a:ahLst/>
              <a:cxnLst/>
              <a:rect r="r" b="b" t="t" l="l"/>
              <a:pathLst>
                <a:path h="621792" w="694944">
                  <a:moveTo>
                    <a:pt x="0" y="103632"/>
                  </a:moveTo>
                  <a:cubicBezTo>
                    <a:pt x="0" y="46355"/>
                    <a:pt x="46355" y="0"/>
                    <a:pt x="103632" y="0"/>
                  </a:cubicBezTo>
                  <a:lnTo>
                    <a:pt x="591312" y="0"/>
                  </a:lnTo>
                  <a:cubicBezTo>
                    <a:pt x="648589" y="0"/>
                    <a:pt x="694944" y="46355"/>
                    <a:pt x="694944" y="103632"/>
                  </a:cubicBezTo>
                  <a:lnTo>
                    <a:pt x="694944" y="518160"/>
                  </a:lnTo>
                  <a:cubicBezTo>
                    <a:pt x="694944" y="575437"/>
                    <a:pt x="648589" y="621792"/>
                    <a:pt x="591312" y="621792"/>
                  </a:cubicBezTo>
                  <a:lnTo>
                    <a:pt x="103632" y="621792"/>
                  </a:lnTo>
                  <a:cubicBezTo>
                    <a:pt x="46355" y="621792"/>
                    <a:pt x="0" y="575437"/>
                    <a:pt x="0" y="518160"/>
                  </a:cubicBezTo>
                  <a:close/>
                </a:path>
              </a:pathLst>
            </a:custGeom>
            <a:solidFill>
              <a:srgbClr val="3F5DD3"/>
            </a:solidFill>
          </p:spPr>
        </p:sp>
        <p:sp>
          <p:nvSpPr>
            <p:cNvPr name="TextBox 11" id="11"/>
            <p:cNvSpPr txBox="true"/>
            <p:nvPr/>
          </p:nvSpPr>
          <p:spPr>
            <a:xfrm>
              <a:off x="0" y="0"/>
              <a:ext cx="694944"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1</a:t>
              </a:r>
            </a:p>
          </p:txBody>
        </p:sp>
      </p:grpSp>
      <p:sp>
        <p:nvSpPr>
          <p:cNvPr name="AutoShape 12" id="12"/>
          <p:cNvSpPr/>
          <p:nvPr/>
        </p:nvSpPr>
        <p:spPr>
          <a:xfrm rot="237720">
            <a:off x="2728417" y="4215003"/>
            <a:ext cx="413614" cy="0"/>
          </a:xfrm>
          <a:prstGeom prst="line">
            <a:avLst/>
          </a:prstGeom>
          <a:ln cap="rnd" w="19050">
            <a:solidFill>
              <a:srgbClr val="5C5C70"/>
            </a:solidFill>
            <a:prstDash val="solid"/>
            <a:headEnd type="none" len="sm" w="sm"/>
            <a:tailEnd type="none" len="sm" w="sm"/>
          </a:ln>
        </p:spPr>
      </p:sp>
      <p:grpSp>
        <p:nvGrpSpPr>
          <p:cNvPr name="Group 13" id="13"/>
          <p:cNvGrpSpPr/>
          <p:nvPr/>
        </p:nvGrpSpPr>
        <p:grpSpPr>
          <a:xfrm rot="0">
            <a:off x="3117723" y="2733675"/>
            <a:ext cx="2007870" cy="2967990"/>
            <a:chOff x="0" y="0"/>
            <a:chExt cx="2677160" cy="3957320"/>
          </a:xfrm>
        </p:grpSpPr>
        <p:sp>
          <p:nvSpPr>
            <p:cNvPr name="Freeform 14" id="14"/>
            <p:cNvSpPr/>
            <p:nvPr/>
          </p:nvSpPr>
          <p:spPr>
            <a:xfrm flipH="false" flipV="false" rot="0">
              <a:off x="0" y="0"/>
              <a:ext cx="2677160" cy="3957320"/>
            </a:xfrm>
            <a:custGeom>
              <a:avLst/>
              <a:gdLst/>
              <a:ahLst/>
              <a:cxnLst/>
              <a:rect r="r" b="b" t="t" l="l"/>
              <a:pathLst>
                <a:path h="3957320" w="2677160">
                  <a:moveTo>
                    <a:pt x="0" y="446151"/>
                  </a:moveTo>
                  <a:cubicBezTo>
                    <a:pt x="0" y="199771"/>
                    <a:pt x="199771" y="0"/>
                    <a:pt x="446151" y="0"/>
                  </a:cubicBezTo>
                  <a:lnTo>
                    <a:pt x="2231009" y="0"/>
                  </a:lnTo>
                  <a:cubicBezTo>
                    <a:pt x="2477389" y="0"/>
                    <a:pt x="2677160" y="199771"/>
                    <a:pt x="2677160" y="446151"/>
                  </a:cubicBezTo>
                  <a:lnTo>
                    <a:pt x="2677160" y="3511169"/>
                  </a:lnTo>
                  <a:cubicBezTo>
                    <a:pt x="2677160" y="3757549"/>
                    <a:pt x="2477389" y="3957320"/>
                    <a:pt x="2231009" y="3957320"/>
                  </a:cubicBezTo>
                  <a:lnTo>
                    <a:pt x="446151" y="3957320"/>
                  </a:lnTo>
                  <a:cubicBezTo>
                    <a:pt x="199771" y="3957320"/>
                    <a:pt x="0" y="3757549"/>
                    <a:pt x="0" y="3511169"/>
                  </a:cubicBezTo>
                  <a:close/>
                </a:path>
              </a:pathLst>
            </a:custGeom>
            <a:solidFill>
              <a:srgbClr val="F5F4FA"/>
            </a:solidFill>
            <a:ln w="19050" cap="sq">
              <a:solidFill>
                <a:srgbClr val="E1DFEB"/>
              </a:solidFill>
              <a:prstDash val="solid"/>
              <a:miter/>
            </a:ln>
          </p:spPr>
        </p:sp>
      </p:grpSp>
      <p:grpSp>
        <p:nvGrpSpPr>
          <p:cNvPr name="Group 15" id="15"/>
          <p:cNvGrpSpPr/>
          <p:nvPr/>
        </p:nvGrpSpPr>
        <p:grpSpPr>
          <a:xfrm rot="0">
            <a:off x="3127248" y="2743200"/>
            <a:ext cx="96012" cy="2948940"/>
            <a:chOff x="0" y="0"/>
            <a:chExt cx="128016" cy="3931920"/>
          </a:xfrm>
        </p:grpSpPr>
        <p:sp>
          <p:nvSpPr>
            <p:cNvPr name="Freeform 16" id="16"/>
            <p:cNvSpPr/>
            <p:nvPr/>
          </p:nvSpPr>
          <p:spPr>
            <a:xfrm flipH="false" flipV="false" rot="0">
              <a:off x="0" y="0"/>
              <a:ext cx="128016" cy="3931920"/>
            </a:xfrm>
            <a:custGeom>
              <a:avLst/>
              <a:gdLst/>
              <a:ahLst/>
              <a:cxnLst/>
              <a:rect r="r" b="b" t="t" l="l"/>
              <a:pathLst>
                <a:path h="3931920" w="128016">
                  <a:moveTo>
                    <a:pt x="0" y="0"/>
                  </a:moveTo>
                  <a:lnTo>
                    <a:pt x="128016" y="0"/>
                  </a:lnTo>
                  <a:lnTo>
                    <a:pt x="128016" y="3931920"/>
                  </a:lnTo>
                  <a:lnTo>
                    <a:pt x="0" y="3931920"/>
                  </a:lnTo>
                  <a:close/>
                </a:path>
              </a:pathLst>
            </a:custGeom>
            <a:solidFill>
              <a:srgbClr val="47BEB5"/>
            </a:solidFill>
          </p:spPr>
        </p:sp>
      </p:grpSp>
      <p:grpSp>
        <p:nvGrpSpPr>
          <p:cNvPr name="Group 17" id="17"/>
          <p:cNvGrpSpPr/>
          <p:nvPr/>
        </p:nvGrpSpPr>
        <p:grpSpPr>
          <a:xfrm rot="0">
            <a:off x="3195828" y="2125980"/>
            <a:ext cx="521208" cy="466344"/>
            <a:chOff x="0" y="0"/>
            <a:chExt cx="694944" cy="621792"/>
          </a:xfrm>
        </p:grpSpPr>
        <p:sp>
          <p:nvSpPr>
            <p:cNvPr name="Freeform 18" id="18"/>
            <p:cNvSpPr/>
            <p:nvPr/>
          </p:nvSpPr>
          <p:spPr>
            <a:xfrm flipH="false" flipV="false" rot="0">
              <a:off x="0" y="0"/>
              <a:ext cx="694944" cy="621792"/>
            </a:xfrm>
            <a:custGeom>
              <a:avLst/>
              <a:gdLst/>
              <a:ahLst/>
              <a:cxnLst/>
              <a:rect r="r" b="b" t="t" l="l"/>
              <a:pathLst>
                <a:path h="621792" w="694944">
                  <a:moveTo>
                    <a:pt x="0" y="103632"/>
                  </a:moveTo>
                  <a:cubicBezTo>
                    <a:pt x="0" y="46355"/>
                    <a:pt x="46355" y="0"/>
                    <a:pt x="103632" y="0"/>
                  </a:cubicBezTo>
                  <a:lnTo>
                    <a:pt x="591312" y="0"/>
                  </a:lnTo>
                  <a:cubicBezTo>
                    <a:pt x="648589" y="0"/>
                    <a:pt x="694944" y="46355"/>
                    <a:pt x="694944" y="103632"/>
                  </a:cubicBezTo>
                  <a:lnTo>
                    <a:pt x="694944" y="518160"/>
                  </a:lnTo>
                  <a:cubicBezTo>
                    <a:pt x="694944" y="575437"/>
                    <a:pt x="648589" y="621792"/>
                    <a:pt x="591312" y="621792"/>
                  </a:cubicBezTo>
                  <a:lnTo>
                    <a:pt x="103632" y="621792"/>
                  </a:lnTo>
                  <a:cubicBezTo>
                    <a:pt x="46355" y="621792"/>
                    <a:pt x="0" y="575437"/>
                    <a:pt x="0" y="518160"/>
                  </a:cubicBezTo>
                  <a:close/>
                </a:path>
              </a:pathLst>
            </a:custGeom>
            <a:solidFill>
              <a:srgbClr val="47BEB5"/>
            </a:solidFill>
          </p:spPr>
        </p:sp>
        <p:sp>
          <p:nvSpPr>
            <p:cNvPr name="TextBox 19" id="19"/>
            <p:cNvSpPr txBox="true"/>
            <p:nvPr/>
          </p:nvSpPr>
          <p:spPr>
            <a:xfrm>
              <a:off x="0" y="0"/>
              <a:ext cx="694944"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2</a:t>
              </a:r>
            </a:p>
          </p:txBody>
        </p:sp>
      </p:grpSp>
      <p:sp>
        <p:nvSpPr>
          <p:cNvPr name="AutoShape 20" id="20"/>
          <p:cNvSpPr/>
          <p:nvPr/>
        </p:nvSpPr>
        <p:spPr>
          <a:xfrm rot="237720">
            <a:off x="5101285" y="4215003"/>
            <a:ext cx="413614" cy="0"/>
          </a:xfrm>
          <a:prstGeom prst="line">
            <a:avLst/>
          </a:prstGeom>
          <a:ln cap="rnd" w="19050">
            <a:solidFill>
              <a:srgbClr val="5C5C70"/>
            </a:solidFill>
            <a:prstDash val="solid"/>
            <a:headEnd type="none" len="sm" w="sm"/>
            <a:tailEnd type="none" len="sm" w="sm"/>
          </a:ln>
        </p:spPr>
      </p:sp>
      <p:grpSp>
        <p:nvGrpSpPr>
          <p:cNvPr name="Group 21" id="21"/>
          <p:cNvGrpSpPr/>
          <p:nvPr/>
        </p:nvGrpSpPr>
        <p:grpSpPr>
          <a:xfrm rot="0">
            <a:off x="5490591" y="2733675"/>
            <a:ext cx="2007870" cy="2967990"/>
            <a:chOff x="0" y="0"/>
            <a:chExt cx="2677160" cy="3957320"/>
          </a:xfrm>
        </p:grpSpPr>
        <p:sp>
          <p:nvSpPr>
            <p:cNvPr name="Freeform 22" id="22"/>
            <p:cNvSpPr/>
            <p:nvPr/>
          </p:nvSpPr>
          <p:spPr>
            <a:xfrm flipH="false" flipV="false" rot="0">
              <a:off x="0" y="0"/>
              <a:ext cx="2677160" cy="3957320"/>
            </a:xfrm>
            <a:custGeom>
              <a:avLst/>
              <a:gdLst/>
              <a:ahLst/>
              <a:cxnLst/>
              <a:rect r="r" b="b" t="t" l="l"/>
              <a:pathLst>
                <a:path h="3957320" w="2677160">
                  <a:moveTo>
                    <a:pt x="0" y="446151"/>
                  </a:moveTo>
                  <a:cubicBezTo>
                    <a:pt x="0" y="199771"/>
                    <a:pt x="199771" y="0"/>
                    <a:pt x="446151" y="0"/>
                  </a:cubicBezTo>
                  <a:lnTo>
                    <a:pt x="2231009" y="0"/>
                  </a:lnTo>
                  <a:cubicBezTo>
                    <a:pt x="2477389" y="0"/>
                    <a:pt x="2677160" y="199771"/>
                    <a:pt x="2677160" y="446151"/>
                  </a:cubicBezTo>
                  <a:lnTo>
                    <a:pt x="2677160" y="3511169"/>
                  </a:lnTo>
                  <a:cubicBezTo>
                    <a:pt x="2677160" y="3757549"/>
                    <a:pt x="2477389" y="3957320"/>
                    <a:pt x="2231009" y="3957320"/>
                  </a:cubicBezTo>
                  <a:lnTo>
                    <a:pt x="446151" y="3957320"/>
                  </a:lnTo>
                  <a:cubicBezTo>
                    <a:pt x="199771" y="3957320"/>
                    <a:pt x="0" y="3757549"/>
                    <a:pt x="0" y="3511169"/>
                  </a:cubicBezTo>
                  <a:close/>
                </a:path>
              </a:pathLst>
            </a:custGeom>
            <a:solidFill>
              <a:srgbClr val="F5F4FA"/>
            </a:solidFill>
            <a:ln w="19050" cap="sq">
              <a:solidFill>
                <a:srgbClr val="E1DFEB"/>
              </a:solidFill>
              <a:prstDash val="solid"/>
              <a:miter/>
            </a:ln>
          </p:spPr>
        </p:sp>
      </p:grpSp>
      <p:grpSp>
        <p:nvGrpSpPr>
          <p:cNvPr name="Group 23" id="23"/>
          <p:cNvGrpSpPr/>
          <p:nvPr/>
        </p:nvGrpSpPr>
        <p:grpSpPr>
          <a:xfrm rot="0">
            <a:off x="5500116" y="2743200"/>
            <a:ext cx="96012" cy="2948940"/>
            <a:chOff x="0" y="0"/>
            <a:chExt cx="128016" cy="3931920"/>
          </a:xfrm>
        </p:grpSpPr>
        <p:sp>
          <p:nvSpPr>
            <p:cNvPr name="Freeform 24" id="24"/>
            <p:cNvSpPr/>
            <p:nvPr/>
          </p:nvSpPr>
          <p:spPr>
            <a:xfrm flipH="false" flipV="false" rot="0">
              <a:off x="0" y="0"/>
              <a:ext cx="128016" cy="3931920"/>
            </a:xfrm>
            <a:custGeom>
              <a:avLst/>
              <a:gdLst/>
              <a:ahLst/>
              <a:cxnLst/>
              <a:rect r="r" b="b" t="t" l="l"/>
              <a:pathLst>
                <a:path h="3931920" w="128016">
                  <a:moveTo>
                    <a:pt x="0" y="0"/>
                  </a:moveTo>
                  <a:lnTo>
                    <a:pt x="128016" y="0"/>
                  </a:lnTo>
                  <a:lnTo>
                    <a:pt x="128016" y="3931920"/>
                  </a:lnTo>
                  <a:lnTo>
                    <a:pt x="0" y="3931920"/>
                  </a:lnTo>
                  <a:close/>
                </a:path>
              </a:pathLst>
            </a:custGeom>
            <a:solidFill>
              <a:srgbClr val="6C2FDB"/>
            </a:solidFill>
          </p:spPr>
        </p:sp>
      </p:grpSp>
      <p:grpSp>
        <p:nvGrpSpPr>
          <p:cNvPr name="Group 25" id="25"/>
          <p:cNvGrpSpPr/>
          <p:nvPr/>
        </p:nvGrpSpPr>
        <p:grpSpPr>
          <a:xfrm rot="0">
            <a:off x="5568696" y="2125980"/>
            <a:ext cx="521208" cy="466344"/>
            <a:chOff x="0" y="0"/>
            <a:chExt cx="694944" cy="621792"/>
          </a:xfrm>
        </p:grpSpPr>
        <p:sp>
          <p:nvSpPr>
            <p:cNvPr name="Freeform 26" id="26"/>
            <p:cNvSpPr/>
            <p:nvPr/>
          </p:nvSpPr>
          <p:spPr>
            <a:xfrm flipH="false" flipV="false" rot="0">
              <a:off x="0" y="0"/>
              <a:ext cx="694944" cy="621792"/>
            </a:xfrm>
            <a:custGeom>
              <a:avLst/>
              <a:gdLst/>
              <a:ahLst/>
              <a:cxnLst/>
              <a:rect r="r" b="b" t="t" l="l"/>
              <a:pathLst>
                <a:path h="621792" w="694944">
                  <a:moveTo>
                    <a:pt x="0" y="103632"/>
                  </a:moveTo>
                  <a:cubicBezTo>
                    <a:pt x="0" y="46355"/>
                    <a:pt x="46355" y="0"/>
                    <a:pt x="103632" y="0"/>
                  </a:cubicBezTo>
                  <a:lnTo>
                    <a:pt x="591312" y="0"/>
                  </a:lnTo>
                  <a:cubicBezTo>
                    <a:pt x="648589" y="0"/>
                    <a:pt x="694944" y="46355"/>
                    <a:pt x="694944" y="103632"/>
                  </a:cubicBezTo>
                  <a:lnTo>
                    <a:pt x="694944" y="518160"/>
                  </a:lnTo>
                  <a:cubicBezTo>
                    <a:pt x="694944" y="575437"/>
                    <a:pt x="648589" y="621792"/>
                    <a:pt x="591312" y="621792"/>
                  </a:cubicBezTo>
                  <a:lnTo>
                    <a:pt x="103632" y="621792"/>
                  </a:lnTo>
                  <a:cubicBezTo>
                    <a:pt x="46355" y="621792"/>
                    <a:pt x="0" y="575437"/>
                    <a:pt x="0" y="518160"/>
                  </a:cubicBezTo>
                  <a:close/>
                </a:path>
              </a:pathLst>
            </a:custGeom>
            <a:solidFill>
              <a:srgbClr val="6C2FDB"/>
            </a:solidFill>
          </p:spPr>
        </p:sp>
        <p:sp>
          <p:nvSpPr>
            <p:cNvPr name="TextBox 27" id="27"/>
            <p:cNvSpPr txBox="true"/>
            <p:nvPr/>
          </p:nvSpPr>
          <p:spPr>
            <a:xfrm>
              <a:off x="0" y="0"/>
              <a:ext cx="694944"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3</a:t>
              </a:r>
            </a:p>
          </p:txBody>
        </p:sp>
      </p:grpSp>
      <p:sp>
        <p:nvSpPr>
          <p:cNvPr name="AutoShape 28" id="28"/>
          <p:cNvSpPr/>
          <p:nvPr/>
        </p:nvSpPr>
        <p:spPr>
          <a:xfrm rot="237720">
            <a:off x="7474153" y="4215003"/>
            <a:ext cx="413614" cy="0"/>
          </a:xfrm>
          <a:prstGeom prst="line">
            <a:avLst/>
          </a:prstGeom>
          <a:ln cap="rnd" w="19050">
            <a:solidFill>
              <a:srgbClr val="5C5C70"/>
            </a:solidFill>
            <a:prstDash val="solid"/>
            <a:headEnd type="none" len="sm" w="sm"/>
            <a:tailEnd type="none" len="sm" w="sm"/>
          </a:ln>
        </p:spPr>
      </p:sp>
      <p:grpSp>
        <p:nvGrpSpPr>
          <p:cNvPr name="Group 29" id="29"/>
          <p:cNvGrpSpPr/>
          <p:nvPr/>
        </p:nvGrpSpPr>
        <p:grpSpPr>
          <a:xfrm rot="0">
            <a:off x="7863459" y="2733675"/>
            <a:ext cx="2007870" cy="2967990"/>
            <a:chOff x="0" y="0"/>
            <a:chExt cx="2677160" cy="3957320"/>
          </a:xfrm>
        </p:grpSpPr>
        <p:sp>
          <p:nvSpPr>
            <p:cNvPr name="Freeform 30" id="30"/>
            <p:cNvSpPr/>
            <p:nvPr/>
          </p:nvSpPr>
          <p:spPr>
            <a:xfrm flipH="false" flipV="false" rot="0">
              <a:off x="0" y="0"/>
              <a:ext cx="2677160" cy="3957320"/>
            </a:xfrm>
            <a:custGeom>
              <a:avLst/>
              <a:gdLst/>
              <a:ahLst/>
              <a:cxnLst/>
              <a:rect r="r" b="b" t="t" l="l"/>
              <a:pathLst>
                <a:path h="3957320" w="2677160">
                  <a:moveTo>
                    <a:pt x="0" y="446151"/>
                  </a:moveTo>
                  <a:cubicBezTo>
                    <a:pt x="0" y="199771"/>
                    <a:pt x="199771" y="0"/>
                    <a:pt x="446151" y="0"/>
                  </a:cubicBezTo>
                  <a:lnTo>
                    <a:pt x="2231009" y="0"/>
                  </a:lnTo>
                  <a:cubicBezTo>
                    <a:pt x="2477389" y="0"/>
                    <a:pt x="2677160" y="199771"/>
                    <a:pt x="2677160" y="446151"/>
                  </a:cubicBezTo>
                  <a:lnTo>
                    <a:pt x="2677160" y="3511169"/>
                  </a:lnTo>
                  <a:cubicBezTo>
                    <a:pt x="2677160" y="3757549"/>
                    <a:pt x="2477389" y="3957320"/>
                    <a:pt x="2231009" y="3957320"/>
                  </a:cubicBezTo>
                  <a:lnTo>
                    <a:pt x="446151" y="3957320"/>
                  </a:lnTo>
                  <a:cubicBezTo>
                    <a:pt x="199771" y="3957320"/>
                    <a:pt x="0" y="3757549"/>
                    <a:pt x="0" y="3511169"/>
                  </a:cubicBezTo>
                  <a:close/>
                </a:path>
              </a:pathLst>
            </a:custGeom>
            <a:solidFill>
              <a:srgbClr val="F5F4FA"/>
            </a:solidFill>
            <a:ln w="19050" cap="sq">
              <a:solidFill>
                <a:srgbClr val="E1DFEB"/>
              </a:solidFill>
              <a:prstDash val="solid"/>
              <a:miter/>
            </a:ln>
          </p:spPr>
        </p:sp>
      </p:grpSp>
      <p:grpSp>
        <p:nvGrpSpPr>
          <p:cNvPr name="Group 31" id="31"/>
          <p:cNvGrpSpPr/>
          <p:nvPr/>
        </p:nvGrpSpPr>
        <p:grpSpPr>
          <a:xfrm rot="0">
            <a:off x="7872984" y="2743200"/>
            <a:ext cx="96012" cy="2948940"/>
            <a:chOff x="0" y="0"/>
            <a:chExt cx="128016" cy="3931920"/>
          </a:xfrm>
        </p:grpSpPr>
        <p:sp>
          <p:nvSpPr>
            <p:cNvPr name="Freeform 32" id="32"/>
            <p:cNvSpPr/>
            <p:nvPr/>
          </p:nvSpPr>
          <p:spPr>
            <a:xfrm flipH="false" flipV="false" rot="0">
              <a:off x="0" y="0"/>
              <a:ext cx="128016" cy="3931920"/>
            </a:xfrm>
            <a:custGeom>
              <a:avLst/>
              <a:gdLst/>
              <a:ahLst/>
              <a:cxnLst/>
              <a:rect r="r" b="b" t="t" l="l"/>
              <a:pathLst>
                <a:path h="3931920" w="128016">
                  <a:moveTo>
                    <a:pt x="0" y="0"/>
                  </a:moveTo>
                  <a:lnTo>
                    <a:pt x="128016" y="0"/>
                  </a:lnTo>
                  <a:lnTo>
                    <a:pt x="128016" y="3931920"/>
                  </a:lnTo>
                  <a:lnTo>
                    <a:pt x="0" y="3931920"/>
                  </a:lnTo>
                  <a:close/>
                </a:path>
              </a:pathLst>
            </a:custGeom>
            <a:solidFill>
              <a:srgbClr val="3F5DD3"/>
            </a:solidFill>
          </p:spPr>
        </p:sp>
      </p:grpSp>
      <p:grpSp>
        <p:nvGrpSpPr>
          <p:cNvPr name="Group 33" id="33"/>
          <p:cNvGrpSpPr/>
          <p:nvPr/>
        </p:nvGrpSpPr>
        <p:grpSpPr>
          <a:xfrm rot="0">
            <a:off x="7941564" y="2125980"/>
            <a:ext cx="521208" cy="466344"/>
            <a:chOff x="0" y="0"/>
            <a:chExt cx="694944" cy="621792"/>
          </a:xfrm>
        </p:grpSpPr>
        <p:sp>
          <p:nvSpPr>
            <p:cNvPr name="Freeform 34" id="34"/>
            <p:cNvSpPr/>
            <p:nvPr/>
          </p:nvSpPr>
          <p:spPr>
            <a:xfrm flipH="false" flipV="false" rot="0">
              <a:off x="0" y="0"/>
              <a:ext cx="694944" cy="621792"/>
            </a:xfrm>
            <a:custGeom>
              <a:avLst/>
              <a:gdLst/>
              <a:ahLst/>
              <a:cxnLst/>
              <a:rect r="r" b="b" t="t" l="l"/>
              <a:pathLst>
                <a:path h="621792" w="694944">
                  <a:moveTo>
                    <a:pt x="0" y="103632"/>
                  </a:moveTo>
                  <a:cubicBezTo>
                    <a:pt x="0" y="46355"/>
                    <a:pt x="46355" y="0"/>
                    <a:pt x="103632" y="0"/>
                  </a:cubicBezTo>
                  <a:lnTo>
                    <a:pt x="591312" y="0"/>
                  </a:lnTo>
                  <a:cubicBezTo>
                    <a:pt x="648589" y="0"/>
                    <a:pt x="694944" y="46355"/>
                    <a:pt x="694944" y="103632"/>
                  </a:cubicBezTo>
                  <a:lnTo>
                    <a:pt x="694944" y="518160"/>
                  </a:lnTo>
                  <a:cubicBezTo>
                    <a:pt x="694944" y="575437"/>
                    <a:pt x="648589" y="621792"/>
                    <a:pt x="591312" y="621792"/>
                  </a:cubicBezTo>
                  <a:lnTo>
                    <a:pt x="103632" y="621792"/>
                  </a:lnTo>
                  <a:cubicBezTo>
                    <a:pt x="46355" y="621792"/>
                    <a:pt x="0" y="575437"/>
                    <a:pt x="0" y="518160"/>
                  </a:cubicBezTo>
                  <a:close/>
                </a:path>
              </a:pathLst>
            </a:custGeom>
            <a:solidFill>
              <a:srgbClr val="3F5DD3"/>
            </a:solidFill>
          </p:spPr>
        </p:sp>
        <p:sp>
          <p:nvSpPr>
            <p:cNvPr name="TextBox 35" id="35"/>
            <p:cNvSpPr txBox="true"/>
            <p:nvPr/>
          </p:nvSpPr>
          <p:spPr>
            <a:xfrm>
              <a:off x="0" y="0"/>
              <a:ext cx="694944"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4</a:t>
              </a:r>
            </a:p>
          </p:txBody>
        </p:sp>
      </p:grpSp>
      <p:sp>
        <p:nvSpPr>
          <p:cNvPr name="AutoShape 36" id="36"/>
          <p:cNvSpPr/>
          <p:nvPr/>
        </p:nvSpPr>
        <p:spPr>
          <a:xfrm rot="237720">
            <a:off x="9847021" y="4215003"/>
            <a:ext cx="413614" cy="0"/>
          </a:xfrm>
          <a:prstGeom prst="line">
            <a:avLst/>
          </a:prstGeom>
          <a:ln cap="rnd" w="19050">
            <a:solidFill>
              <a:srgbClr val="5C5C70"/>
            </a:solidFill>
            <a:prstDash val="solid"/>
            <a:headEnd type="none" len="sm" w="sm"/>
            <a:tailEnd type="none" len="sm" w="sm"/>
          </a:ln>
        </p:spPr>
      </p:sp>
      <p:grpSp>
        <p:nvGrpSpPr>
          <p:cNvPr name="Group 37" id="37"/>
          <p:cNvGrpSpPr/>
          <p:nvPr/>
        </p:nvGrpSpPr>
        <p:grpSpPr>
          <a:xfrm rot="0">
            <a:off x="10236327" y="2733675"/>
            <a:ext cx="2007870" cy="2967990"/>
            <a:chOff x="0" y="0"/>
            <a:chExt cx="2677160" cy="3957320"/>
          </a:xfrm>
        </p:grpSpPr>
        <p:sp>
          <p:nvSpPr>
            <p:cNvPr name="Freeform 38" id="38"/>
            <p:cNvSpPr/>
            <p:nvPr/>
          </p:nvSpPr>
          <p:spPr>
            <a:xfrm flipH="false" flipV="false" rot="0">
              <a:off x="0" y="0"/>
              <a:ext cx="2677160" cy="3957320"/>
            </a:xfrm>
            <a:custGeom>
              <a:avLst/>
              <a:gdLst/>
              <a:ahLst/>
              <a:cxnLst/>
              <a:rect r="r" b="b" t="t" l="l"/>
              <a:pathLst>
                <a:path h="3957320" w="2677160">
                  <a:moveTo>
                    <a:pt x="0" y="446151"/>
                  </a:moveTo>
                  <a:cubicBezTo>
                    <a:pt x="0" y="199771"/>
                    <a:pt x="199771" y="0"/>
                    <a:pt x="446151" y="0"/>
                  </a:cubicBezTo>
                  <a:lnTo>
                    <a:pt x="2231009" y="0"/>
                  </a:lnTo>
                  <a:cubicBezTo>
                    <a:pt x="2477389" y="0"/>
                    <a:pt x="2677160" y="199771"/>
                    <a:pt x="2677160" y="446151"/>
                  </a:cubicBezTo>
                  <a:lnTo>
                    <a:pt x="2677160" y="3511169"/>
                  </a:lnTo>
                  <a:cubicBezTo>
                    <a:pt x="2677160" y="3757549"/>
                    <a:pt x="2477389" y="3957320"/>
                    <a:pt x="2231009" y="3957320"/>
                  </a:cubicBezTo>
                  <a:lnTo>
                    <a:pt x="446151" y="3957320"/>
                  </a:lnTo>
                  <a:cubicBezTo>
                    <a:pt x="199771" y="3957320"/>
                    <a:pt x="0" y="3757549"/>
                    <a:pt x="0" y="3511169"/>
                  </a:cubicBezTo>
                  <a:close/>
                </a:path>
              </a:pathLst>
            </a:custGeom>
            <a:solidFill>
              <a:srgbClr val="F5F4FA"/>
            </a:solidFill>
            <a:ln w="19050" cap="sq">
              <a:solidFill>
                <a:srgbClr val="E1DFEB"/>
              </a:solidFill>
              <a:prstDash val="solid"/>
              <a:miter/>
            </a:ln>
          </p:spPr>
        </p:sp>
      </p:grpSp>
      <p:grpSp>
        <p:nvGrpSpPr>
          <p:cNvPr name="Group 39" id="39"/>
          <p:cNvGrpSpPr/>
          <p:nvPr/>
        </p:nvGrpSpPr>
        <p:grpSpPr>
          <a:xfrm rot="0">
            <a:off x="10245852" y="2743200"/>
            <a:ext cx="96012" cy="2948940"/>
            <a:chOff x="0" y="0"/>
            <a:chExt cx="128016" cy="3931920"/>
          </a:xfrm>
        </p:grpSpPr>
        <p:sp>
          <p:nvSpPr>
            <p:cNvPr name="Freeform 40" id="40"/>
            <p:cNvSpPr/>
            <p:nvPr/>
          </p:nvSpPr>
          <p:spPr>
            <a:xfrm flipH="false" flipV="false" rot="0">
              <a:off x="0" y="0"/>
              <a:ext cx="128016" cy="3931920"/>
            </a:xfrm>
            <a:custGeom>
              <a:avLst/>
              <a:gdLst/>
              <a:ahLst/>
              <a:cxnLst/>
              <a:rect r="r" b="b" t="t" l="l"/>
              <a:pathLst>
                <a:path h="3931920" w="128016">
                  <a:moveTo>
                    <a:pt x="0" y="0"/>
                  </a:moveTo>
                  <a:lnTo>
                    <a:pt x="128016" y="0"/>
                  </a:lnTo>
                  <a:lnTo>
                    <a:pt x="128016" y="3931920"/>
                  </a:lnTo>
                  <a:lnTo>
                    <a:pt x="0" y="3931920"/>
                  </a:lnTo>
                  <a:close/>
                </a:path>
              </a:pathLst>
            </a:custGeom>
            <a:solidFill>
              <a:srgbClr val="EB8741"/>
            </a:solidFill>
          </p:spPr>
        </p:sp>
      </p:grpSp>
      <p:grpSp>
        <p:nvGrpSpPr>
          <p:cNvPr name="Group 41" id="41"/>
          <p:cNvGrpSpPr/>
          <p:nvPr/>
        </p:nvGrpSpPr>
        <p:grpSpPr>
          <a:xfrm rot="0">
            <a:off x="10314432" y="2125980"/>
            <a:ext cx="521208" cy="466344"/>
            <a:chOff x="0" y="0"/>
            <a:chExt cx="694944" cy="621792"/>
          </a:xfrm>
        </p:grpSpPr>
        <p:sp>
          <p:nvSpPr>
            <p:cNvPr name="Freeform 42" id="42"/>
            <p:cNvSpPr/>
            <p:nvPr/>
          </p:nvSpPr>
          <p:spPr>
            <a:xfrm flipH="false" flipV="false" rot="0">
              <a:off x="0" y="0"/>
              <a:ext cx="694944" cy="621792"/>
            </a:xfrm>
            <a:custGeom>
              <a:avLst/>
              <a:gdLst/>
              <a:ahLst/>
              <a:cxnLst/>
              <a:rect r="r" b="b" t="t" l="l"/>
              <a:pathLst>
                <a:path h="621792" w="694944">
                  <a:moveTo>
                    <a:pt x="0" y="103632"/>
                  </a:moveTo>
                  <a:cubicBezTo>
                    <a:pt x="0" y="46355"/>
                    <a:pt x="46355" y="0"/>
                    <a:pt x="103632" y="0"/>
                  </a:cubicBezTo>
                  <a:lnTo>
                    <a:pt x="591312" y="0"/>
                  </a:lnTo>
                  <a:cubicBezTo>
                    <a:pt x="648589" y="0"/>
                    <a:pt x="694944" y="46355"/>
                    <a:pt x="694944" y="103632"/>
                  </a:cubicBezTo>
                  <a:lnTo>
                    <a:pt x="694944" y="518160"/>
                  </a:lnTo>
                  <a:cubicBezTo>
                    <a:pt x="694944" y="575437"/>
                    <a:pt x="648589" y="621792"/>
                    <a:pt x="591312" y="621792"/>
                  </a:cubicBezTo>
                  <a:lnTo>
                    <a:pt x="103632" y="621792"/>
                  </a:lnTo>
                  <a:cubicBezTo>
                    <a:pt x="46355" y="621792"/>
                    <a:pt x="0" y="575437"/>
                    <a:pt x="0" y="518160"/>
                  </a:cubicBezTo>
                  <a:close/>
                </a:path>
              </a:pathLst>
            </a:custGeom>
            <a:solidFill>
              <a:srgbClr val="EB8741"/>
            </a:solidFill>
          </p:spPr>
        </p:sp>
        <p:sp>
          <p:nvSpPr>
            <p:cNvPr name="TextBox 43" id="43"/>
            <p:cNvSpPr txBox="true"/>
            <p:nvPr/>
          </p:nvSpPr>
          <p:spPr>
            <a:xfrm>
              <a:off x="0" y="0"/>
              <a:ext cx="694944"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5</a:t>
              </a:r>
            </a:p>
          </p:txBody>
        </p:sp>
      </p:grpSp>
      <p:sp>
        <p:nvSpPr>
          <p:cNvPr name="AutoShape 44" id="44"/>
          <p:cNvSpPr/>
          <p:nvPr/>
        </p:nvSpPr>
        <p:spPr>
          <a:xfrm rot="237720">
            <a:off x="12219889" y="4215003"/>
            <a:ext cx="413614" cy="0"/>
          </a:xfrm>
          <a:prstGeom prst="line">
            <a:avLst/>
          </a:prstGeom>
          <a:ln cap="rnd" w="19050">
            <a:solidFill>
              <a:srgbClr val="5C5C70"/>
            </a:solidFill>
            <a:prstDash val="solid"/>
            <a:headEnd type="none" len="sm" w="sm"/>
            <a:tailEnd type="none" len="sm" w="sm"/>
          </a:ln>
        </p:spPr>
      </p:sp>
      <p:grpSp>
        <p:nvGrpSpPr>
          <p:cNvPr name="Group 45" id="45"/>
          <p:cNvGrpSpPr/>
          <p:nvPr/>
        </p:nvGrpSpPr>
        <p:grpSpPr>
          <a:xfrm rot="0">
            <a:off x="12609195" y="2733675"/>
            <a:ext cx="2007870" cy="2967990"/>
            <a:chOff x="0" y="0"/>
            <a:chExt cx="2677160" cy="3957320"/>
          </a:xfrm>
        </p:grpSpPr>
        <p:sp>
          <p:nvSpPr>
            <p:cNvPr name="Freeform 46" id="46"/>
            <p:cNvSpPr/>
            <p:nvPr/>
          </p:nvSpPr>
          <p:spPr>
            <a:xfrm flipH="false" flipV="false" rot="0">
              <a:off x="0" y="0"/>
              <a:ext cx="2677160" cy="3957320"/>
            </a:xfrm>
            <a:custGeom>
              <a:avLst/>
              <a:gdLst/>
              <a:ahLst/>
              <a:cxnLst/>
              <a:rect r="r" b="b" t="t" l="l"/>
              <a:pathLst>
                <a:path h="3957320" w="2677160">
                  <a:moveTo>
                    <a:pt x="0" y="446151"/>
                  </a:moveTo>
                  <a:cubicBezTo>
                    <a:pt x="0" y="199771"/>
                    <a:pt x="199771" y="0"/>
                    <a:pt x="446151" y="0"/>
                  </a:cubicBezTo>
                  <a:lnTo>
                    <a:pt x="2231009" y="0"/>
                  </a:lnTo>
                  <a:cubicBezTo>
                    <a:pt x="2477389" y="0"/>
                    <a:pt x="2677160" y="199771"/>
                    <a:pt x="2677160" y="446151"/>
                  </a:cubicBezTo>
                  <a:lnTo>
                    <a:pt x="2677160" y="3511169"/>
                  </a:lnTo>
                  <a:cubicBezTo>
                    <a:pt x="2677160" y="3757549"/>
                    <a:pt x="2477389" y="3957320"/>
                    <a:pt x="2231009" y="3957320"/>
                  </a:cubicBezTo>
                  <a:lnTo>
                    <a:pt x="446151" y="3957320"/>
                  </a:lnTo>
                  <a:cubicBezTo>
                    <a:pt x="199771" y="3957320"/>
                    <a:pt x="0" y="3757549"/>
                    <a:pt x="0" y="3511169"/>
                  </a:cubicBezTo>
                  <a:close/>
                </a:path>
              </a:pathLst>
            </a:custGeom>
            <a:solidFill>
              <a:srgbClr val="F5F4FA"/>
            </a:solidFill>
            <a:ln w="19050" cap="sq">
              <a:solidFill>
                <a:srgbClr val="E1DFEB"/>
              </a:solidFill>
              <a:prstDash val="solid"/>
              <a:miter/>
            </a:ln>
          </p:spPr>
        </p:sp>
      </p:grpSp>
      <p:grpSp>
        <p:nvGrpSpPr>
          <p:cNvPr name="Group 47" id="47"/>
          <p:cNvGrpSpPr/>
          <p:nvPr/>
        </p:nvGrpSpPr>
        <p:grpSpPr>
          <a:xfrm rot="0">
            <a:off x="12618720" y="2743200"/>
            <a:ext cx="96012" cy="2948940"/>
            <a:chOff x="0" y="0"/>
            <a:chExt cx="128016" cy="3931920"/>
          </a:xfrm>
        </p:grpSpPr>
        <p:sp>
          <p:nvSpPr>
            <p:cNvPr name="Freeform 48" id="48"/>
            <p:cNvSpPr/>
            <p:nvPr/>
          </p:nvSpPr>
          <p:spPr>
            <a:xfrm flipH="false" flipV="false" rot="0">
              <a:off x="0" y="0"/>
              <a:ext cx="128016" cy="3931920"/>
            </a:xfrm>
            <a:custGeom>
              <a:avLst/>
              <a:gdLst/>
              <a:ahLst/>
              <a:cxnLst/>
              <a:rect r="r" b="b" t="t" l="l"/>
              <a:pathLst>
                <a:path h="3931920" w="128016">
                  <a:moveTo>
                    <a:pt x="0" y="0"/>
                  </a:moveTo>
                  <a:lnTo>
                    <a:pt x="128016" y="0"/>
                  </a:lnTo>
                  <a:lnTo>
                    <a:pt x="128016" y="3931920"/>
                  </a:lnTo>
                  <a:lnTo>
                    <a:pt x="0" y="3931920"/>
                  </a:lnTo>
                  <a:close/>
                </a:path>
              </a:pathLst>
            </a:custGeom>
            <a:solidFill>
              <a:srgbClr val="6C2FDB"/>
            </a:solidFill>
          </p:spPr>
        </p:sp>
      </p:grpSp>
      <p:grpSp>
        <p:nvGrpSpPr>
          <p:cNvPr name="Group 49" id="49"/>
          <p:cNvGrpSpPr/>
          <p:nvPr/>
        </p:nvGrpSpPr>
        <p:grpSpPr>
          <a:xfrm rot="0">
            <a:off x="12687300" y="2125980"/>
            <a:ext cx="521208" cy="466344"/>
            <a:chOff x="0" y="0"/>
            <a:chExt cx="694944" cy="621792"/>
          </a:xfrm>
        </p:grpSpPr>
        <p:sp>
          <p:nvSpPr>
            <p:cNvPr name="Freeform 50" id="50"/>
            <p:cNvSpPr/>
            <p:nvPr/>
          </p:nvSpPr>
          <p:spPr>
            <a:xfrm flipH="false" flipV="false" rot="0">
              <a:off x="0" y="0"/>
              <a:ext cx="694944" cy="621792"/>
            </a:xfrm>
            <a:custGeom>
              <a:avLst/>
              <a:gdLst/>
              <a:ahLst/>
              <a:cxnLst/>
              <a:rect r="r" b="b" t="t" l="l"/>
              <a:pathLst>
                <a:path h="621792" w="694944">
                  <a:moveTo>
                    <a:pt x="0" y="103632"/>
                  </a:moveTo>
                  <a:cubicBezTo>
                    <a:pt x="0" y="46355"/>
                    <a:pt x="46355" y="0"/>
                    <a:pt x="103632" y="0"/>
                  </a:cubicBezTo>
                  <a:lnTo>
                    <a:pt x="591312" y="0"/>
                  </a:lnTo>
                  <a:cubicBezTo>
                    <a:pt x="648589" y="0"/>
                    <a:pt x="694944" y="46355"/>
                    <a:pt x="694944" y="103632"/>
                  </a:cubicBezTo>
                  <a:lnTo>
                    <a:pt x="694944" y="518160"/>
                  </a:lnTo>
                  <a:cubicBezTo>
                    <a:pt x="694944" y="575437"/>
                    <a:pt x="648589" y="621792"/>
                    <a:pt x="591312" y="621792"/>
                  </a:cubicBezTo>
                  <a:lnTo>
                    <a:pt x="103632" y="621792"/>
                  </a:lnTo>
                  <a:cubicBezTo>
                    <a:pt x="46355" y="621792"/>
                    <a:pt x="0" y="575437"/>
                    <a:pt x="0" y="518160"/>
                  </a:cubicBezTo>
                  <a:close/>
                </a:path>
              </a:pathLst>
            </a:custGeom>
            <a:solidFill>
              <a:srgbClr val="6C2FDB"/>
            </a:solidFill>
          </p:spPr>
        </p:sp>
        <p:sp>
          <p:nvSpPr>
            <p:cNvPr name="TextBox 51" id="51"/>
            <p:cNvSpPr txBox="true"/>
            <p:nvPr/>
          </p:nvSpPr>
          <p:spPr>
            <a:xfrm>
              <a:off x="0" y="0"/>
              <a:ext cx="694944"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6</a:t>
              </a:r>
            </a:p>
          </p:txBody>
        </p:sp>
      </p:grpSp>
      <p:sp>
        <p:nvSpPr>
          <p:cNvPr name="AutoShape 52" id="52"/>
          <p:cNvSpPr/>
          <p:nvPr/>
        </p:nvSpPr>
        <p:spPr>
          <a:xfrm rot="237720">
            <a:off x="14592757" y="4215003"/>
            <a:ext cx="413614" cy="0"/>
          </a:xfrm>
          <a:prstGeom prst="line">
            <a:avLst/>
          </a:prstGeom>
          <a:ln cap="rnd" w="19050">
            <a:solidFill>
              <a:srgbClr val="5C5C70"/>
            </a:solidFill>
            <a:prstDash val="solid"/>
            <a:headEnd type="none" len="sm" w="sm"/>
            <a:tailEnd type="none" len="sm" w="sm"/>
          </a:ln>
        </p:spPr>
      </p:sp>
      <p:grpSp>
        <p:nvGrpSpPr>
          <p:cNvPr name="Group 53" id="53"/>
          <p:cNvGrpSpPr/>
          <p:nvPr/>
        </p:nvGrpSpPr>
        <p:grpSpPr>
          <a:xfrm rot="0">
            <a:off x="14982063" y="2733675"/>
            <a:ext cx="2007870" cy="2967990"/>
            <a:chOff x="0" y="0"/>
            <a:chExt cx="2677160" cy="3957320"/>
          </a:xfrm>
        </p:grpSpPr>
        <p:sp>
          <p:nvSpPr>
            <p:cNvPr name="Freeform 54" id="54"/>
            <p:cNvSpPr/>
            <p:nvPr/>
          </p:nvSpPr>
          <p:spPr>
            <a:xfrm flipH="false" flipV="false" rot="0">
              <a:off x="0" y="0"/>
              <a:ext cx="2677160" cy="3957320"/>
            </a:xfrm>
            <a:custGeom>
              <a:avLst/>
              <a:gdLst/>
              <a:ahLst/>
              <a:cxnLst/>
              <a:rect r="r" b="b" t="t" l="l"/>
              <a:pathLst>
                <a:path h="3957320" w="2677160">
                  <a:moveTo>
                    <a:pt x="0" y="446151"/>
                  </a:moveTo>
                  <a:cubicBezTo>
                    <a:pt x="0" y="199771"/>
                    <a:pt x="199771" y="0"/>
                    <a:pt x="446151" y="0"/>
                  </a:cubicBezTo>
                  <a:lnTo>
                    <a:pt x="2231009" y="0"/>
                  </a:lnTo>
                  <a:cubicBezTo>
                    <a:pt x="2477389" y="0"/>
                    <a:pt x="2677160" y="199771"/>
                    <a:pt x="2677160" y="446151"/>
                  </a:cubicBezTo>
                  <a:lnTo>
                    <a:pt x="2677160" y="3511169"/>
                  </a:lnTo>
                  <a:cubicBezTo>
                    <a:pt x="2677160" y="3757549"/>
                    <a:pt x="2477389" y="3957320"/>
                    <a:pt x="2231009" y="3957320"/>
                  </a:cubicBezTo>
                  <a:lnTo>
                    <a:pt x="446151" y="3957320"/>
                  </a:lnTo>
                  <a:cubicBezTo>
                    <a:pt x="199771" y="3957320"/>
                    <a:pt x="0" y="3757549"/>
                    <a:pt x="0" y="3511169"/>
                  </a:cubicBezTo>
                  <a:close/>
                </a:path>
              </a:pathLst>
            </a:custGeom>
            <a:solidFill>
              <a:srgbClr val="F5F4FA"/>
            </a:solidFill>
            <a:ln w="19050" cap="sq">
              <a:solidFill>
                <a:srgbClr val="E1DFEB"/>
              </a:solidFill>
              <a:prstDash val="solid"/>
              <a:miter/>
            </a:ln>
          </p:spPr>
        </p:sp>
      </p:grpSp>
      <p:grpSp>
        <p:nvGrpSpPr>
          <p:cNvPr name="Group 55" id="55"/>
          <p:cNvGrpSpPr/>
          <p:nvPr/>
        </p:nvGrpSpPr>
        <p:grpSpPr>
          <a:xfrm rot="0">
            <a:off x="14991588" y="2743200"/>
            <a:ext cx="96012" cy="2948940"/>
            <a:chOff x="0" y="0"/>
            <a:chExt cx="128016" cy="3931920"/>
          </a:xfrm>
        </p:grpSpPr>
        <p:sp>
          <p:nvSpPr>
            <p:cNvPr name="Freeform 56" id="56"/>
            <p:cNvSpPr/>
            <p:nvPr/>
          </p:nvSpPr>
          <p:spPr>
            <a:xfrm flipH="false" flipV="false" rot="0">
              <a:off x="0" y="0"/>
              <a:ext cx="128016" cy="3931920"/>
            </a:xfrm>
            <a:custGeom>
              <a:avLst/>
              <a:gdLst/>
              <a:ahLst/>
              <a:cxnLst/>
              <a:rect r="r" b="b" t="t" l="l"/>
              <a:pathLst>
                <a:path h="3931920" w="128016">
                  <a:moveTo>
                    <a:pt x="0" y="0"/>
                  </a:moveTo>
                  <a:lnTo>
                    <a:pt x="128016" y="0"/>
                  </a:lnTo>
                  <a:lnTo>
                    <a:pt x="128016" y="3931920"/>
                  </a:lnTo>
                  <a:lnTo>
                    <a:pt x="0" y="3931920"/>
                  </a:lnTo>
                  <a:close/>
                </a:path>
              </a:pathLst>
            </a:custGeom>
            <a:solidFill>
              <a:srgbClr val="47BEB5"/>
            </a:solidFill>
          </p:spPr>
        </p:sp>
      </p:grpSp>
      <p:grpSp>
        <p:nvGrpSpPr>
          <p:cNvPr name="Group 57" id="57"/>
          <p:cNvGrpSpPr/>
          <p:nvPr/>
        </p:nvGrpSpPr>
        <p:grpSpPr>
          <a:xfrm rot="0">
            <a:off x="15060168" y="2125980"/>
            <a:ext cx="521208" cy="466344"/>
            <a:chOff x="0" y="0"/>
            <a:chExt cx="694944" cy="621792"/>
          </a:xfrm>
        </p:grpSpPr>
        <p:sp>
          <p:nvSpPr>
            <p:cNvPr name="Freeform 58" id="58"/>
            <p:cNvSpPr/>
            <p:nvPr/>
          </p:nvSpPr>
          <p:spPr>
            <a:xfrm flipH="false" flipV="false" rot="0">
              <a:off x="0" y="0"/>
              <a:ext cx="694944" cy="621792"/>
            </a:xfrm>
            <a:custGeom>
              <a:avLst/>
              <a:gdLst/>
              <a:ahLst/>
              <a:cxnLst/>
              <a:rect r="r" b="b" t="t" l="l"/>
              <a:pathLst>
                <a:path h="621792" w="694944">
                  <a:moveTo>
                    <a:pt x="0" y="103632"/>
                  </a:moveTo>
                  <a:cubicBezTo>
                    <a:pt x="0" y="46355"/>
                    <a:pt x="46355" y="0"/>
                    <a:pt x="103632" y="0"/>
                  </a:cubicBezTo>
                  <a:lnTo>
                    <a:pt x="591312" y="0"/>
                  </a:lnTo>
                  <a:cubicBezTo>
                    <a:pt x="648589" y="0"/>
                    <a:pt x="694944" y="46355"/>
                    <a:pt x="694944" y="103632"/>
                  </a:cubicBezTo>
                  <a:lnTo>
                    <a:pt x="694944" y="518160"/>
                  </a:lnTo>
                  <a:cubicBezTo>
                    <a:pt x="694944" y="575437"/>
                    <a:pt x="648589" y="621792"/>
                    <a:pt x="591312" y="621792"/>
                  </a:cubicBezTo>
                  <a:lnTo>
                    <a:pt x="103632" y="621792"/>
                  </a:lnTo>
                  <a:cubicBezTo>
                    <a:pt x="46355" y="621792"/>
                    <a:pt x="0" y="575437"/>
                    <a:pt x="0" y="518160"/>
                  </a:cubicBezTo>
                  <a:close/>
                </a:path>
              </a:pathLst>
            </a:custGeom>
            <a:solidFill>
              <a:srgbClr val="47BEB5"/>
            </a:solidFill>
          </p:spPr>
        </p:sp>
        <p:sp>
          <p:nvSpPr>
            <p:cNvPr name="TextBox 59" id="59"/>
            <p:cNvSpPr txBox="true"/>
            <p:nvPr/>
          </p:nvSpPr>
          <p:spPr>
            <a:xfrm>
              <a:off x="0" y="0"/>
              <a:ext cx="694944" cy="621792"/>
            </a:xfrm>
            <a:prstGeom prst="rect">
              <a:avLst/>
            </a:prstGeom>
          </p:spPr>
          <p:txBody>
            <a:bodyPr anchor="ctr" rtlCol="false" tIns="50800" lIns="50800" bIns="50800" rIns="50800"/>
            <a:lstStyle/>
            <a:p>
              <a:pPr algn="ctr">
                <a:lnSpc>
                  <a:spcPts val="1439"/>
                </a:lnSpc>
              </a:pPr>
              <a:r>
                <a:rPr lang="en-US" sz="1200" b="true">
                  <a:solidFill>
                    <a:srgbClr val="FFFFFF"/>
                  </a:solidFill>
                  <a:latin typeface="Aptos Bold"/>
                  <a:ea typeface="Aptos Bold"/>
                  <a:cs typeface="Aptos Bold"/>
                  <a:sym typeface="Aptos Bold"/>
                </a:rPr>
                <a:t>7</a:t>
              </a:r>
            </a:p>
          </p:txBody>
        </p:sp>
      </p:grpSp>
      <p:grpSp>
        <p:nvGrpSpPr>
          <p:cNvPr name="Group 60" id="60"/>
          <p:cNvGrpSpPr/>
          <p:nvPr/>
        </p:nvGrpSpPr>
        <p:grpSpPr>
          <a:xfrm rot="0">
            <a:off x="754380" y="6637782"/>
            <a:ext cx="2743200" cy="466344"/>
            <a:chOff x="0" y="0"/>
            <a:chExt cx="3657600" cy="621792"/>
          </a:xfrm>
        </p:grpSpPr>
        <p:sp>
          <p:nvSpPr>
            <p:cNvPr name="Freeform 61" id="61"/>
            <p:cNvSpPr/>
            <p:nvPr/>
          </p:nvSpPr>
          <p:spPr>
            <a:xfrm flipH="false" flipV="false" rot="0">
              <a:off x="0" y="0"/>
              <a:ext cx="3657600" cy="621792"/>
            </a:xfrm>
            <a:custGeom>
              <a:avLst/>
              <a:gdLst/>
              <a:ahLst/>
              <a:cxnLst/>
              <a:rect r="r" b="b" t="t" l="l"/>
              <a:pathLst>
                <a:path h="621792" w="3657600">
                  <a:moveTo>
                    <a:pt x="0" y="103632"/>
                  </a:moveTo>
                  <a:cubicBezTo>
                    <a:pt x="0" y="46355"/>
                    <a:pt x="46355" y="0"/>
                    <a:pt x="103632" y="0"/>
                  </a:cubicBezTo>
                  <a:lnTo>
                    <a:pt x="3553968" y="0"/>
                  </a:lnTo>
                  <a:cubicBezTo>
                    <a:pt x="3611245" y="0"/>
                    <a:pt x="3657600" y="46355"/>
                    <a:pt x="3657600" y="103632"/>
                  </a:cubicBezTo>
                  <a:lnTo>
                    <a:pt x="3657600" y="518160"/>
                  </a:lnTo>
                  <a:cubicBezTo>
                    <a:pt x="3657600" y="575437"/>
                    <a:pt x="3611245" y="621792"/>
                    <a:pt x="3553968" y="621792"/>
                  </a:cubicBezTo>
                  <a:lnTo>
                    <a:pt x="103632" y="621792"/>
                  </a:lnTo>
                  <a:cubicBezTo>
                    <a:pt x="46355" y="621792"/>
                    <a:pt x="0" y="575437"/>
                    <a:pt x="0" y="518160"/>
                  </a:cubicBezTo>
                  <a:close/>
                </a:path>
              </a:pathLst>
            </a:custGeom>
            <a:solidFill>
              <a:srgbClr val="EB8741"/>
            </a:solidFill>
          </p:spPr>
        </p:sp>
        <p:sp>
          <p:nvSpPr>
            <p:cNvPr name="TextBox 62" id="62"/>
            <p:cNvSpPr txBox="true"/>
            <p:nvPr/>
          </p:nvSpPr>
          <p:spPr>
            <a:xfrm>
              <a:off x="0" y="-9525"/>
              <a:ext cx="365760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INTERRUPT PATH</a:t>
              </a:r>
            </a:p>
          </p:txBody>
        </p:sp>
      </p:grpSp>
      <p:sp>
        <p:nvSpPr>
          <p:cNvPr name="TextBox 63" id="63"/>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Our Solution &amp; Architecture</a:t>
            </a:r>
          </a:p>
        </p:txBody>
      </p:sp>
      <p:sp>
        <p:nvSpPr>
          <p:cNvPr name="TextBox 64" id="64"/>
          <p:cNvSpPr txBox="true"/>
          <p:nvPr/>
        </p:nvSpPr>
        <p:spPr>
          <a:xfrm rot="0">
            <a:off x="1037844" y="2939796"/>
            <a:ext cx="1531620" cy="374904"/>
          </a:xfrm>
          <a:prstGeom prst="rect">
            <a:avLst/>
          </a:prstGeom>
        </p:spPr>
        <p:txBody>
          <a:bodyPr anchor="t" rtlCol="false" tIns="0" lIns="0" bIns="0" rIns="0">
            <a:spAutoFit/>
          </a:bodyPr>
          <a:lstStyle/>
          <a:p>
            <a:pPr algn="l">
              <a:lnSpc>
                <a:spcPts val="1980"/>
              </a:lnSpc>
            </a:pPr>
            <a:r>
              <a:rPr lang="en-US" sz="1650" b="true">
                <a:solidFill>
                  <a:srgbClr val="12122D"/>
                </a:solidFill>
                <a:latin typeface="Aptos Bold"/>
                <a:ea typeface="Aptos Bold"/>
                <a:cs typeface="Aptos Bold"/>
                <a:sym typeface="Aptos Bold"/>
              </a:rPr>
              <a:t>MIC / WEBRTC</a:t>
            </a:r>
          </a:p>
        </p:txBody>
      </p:sp>
      <p:sp>
        <p:nvSpPr>
          <p:cNvPr name="TextBox 65" id="65"/>
          <p:cNvSpPr txBox="true"/>
          <p:nvPr/>
        </p:nvSpPr>
        <p:spPr>
          <a:xfrm rot="0">
            <a:off x="1037844" y="3419856"/>
            <a:ext cx="1531620" cy="1028700"/>
          </a:xfrm>
          <a:prstGeom prst="rect">
            <a:avLst/>
          </a:prstGeom>
        </p:spPr>
        <p:txBody>
          <a:bodyPr anchor="t" rtlCol="false" tIns="0" lIns="0" bIns="0" rIns="0">
            <a:spAutoFit/>
          </a:bodyPr>
          <a:lstStyle/>
          <a:p>
            <a:pPr algn="l">
              <a:lnSpc>
                <a:spcPts val="2099"/>
              </a:lnSpc>
            </a:pPr>
            <a:r>
              <a:rPr lang="en-US" sz="1749">
                <a:solidFill>
                  <a:srgbClr val="5C5C70"/>
                </a:solidFill>
                <a:latin typeface="Aptos"/>
                <a:ea typeface="Aptos"/>
                <a:cs typeface="Aptos"/>
                <a:sym typeface="Aptos"/>
              </a:rPr>
              <a:t>User audio enters as a live WebRTC stream.</a:t>
            </a:r>
          </a:p>
        </p:txBody>
      </p:sp>
      <p:sp>
        <p:nvSpPr>
          <p:cNvPr name="TextBox 66" id="66"/>
          <p:cNvSpPr txBox="true"/>
          <p:nvPr/>
        </p:nvSpPr>
        <p:spPr>
          <a:xfrm rot="0">
            <a:off x="3410712" y="2939796"/>
            <a:ext cx="1531620" cy="374904"/>
          </a:xfrm>
          <a:prstGeom prst="rect">
            <a:avLst/>
          </a:prstGeom>
        </p:spPr>
        <p:txBody>
          <a:bodyPr anchor="t" rtlCol="false" tIns="0" lIns="0" bIns="0" rIns="0">
            <a:spAutoFit/>
          </a:bodyPr>
          <a:lstStyle/>
          <a:p>
            <a:pPr algn="l">
              <a:lnSpc>
                <a:spcPts val="1980"/>
              </a:lnSpc>
            </a:pPr>
            <a:r>
              <a:rPr lang="en-US" sz="1650" b="true">
                <a:solidFill>
                  <a:srgbClr val="12122D"/>
                </a:solidFill>
                <a:latin typeface="Aptos Bold"/>
                <a:ea typeface="Aptos Bold"/>
                <a:cs typeface="Aptos Bold"/>
                <a:sym typeface="Aptos Bold"/>
              </a:rPr>
              <a:t>SILERO VAD</a:t>
            </a:r>
          </a:p>
        </p:txBody>
      </p:sp>
      <p:sp>
        <p:nvSpPr>
          <p:cNvPr name="TextBox 67" id="67"/>
          <p:cNvSpPr txBox="true"/>
          <p:nvPr/>
        </p:nvSpPr>
        <p:spPr>
          <a:xfrm rot="0">
            <a:off x="3410712" y="3419856"/>
            <a:ext cx="1528484" cy="988572"/>
          </a:xfrm>
          <a:prstGeom prst="rect">
            <a:avLst/>
          </a:prstGeom>
        </p:spPr>
        <p:txBody>
          <a:bodyPr anchor="t" rtlCol="false" tIns="0" lIns="0" bIns="0" rIns="0">
            <a:spAutoFit/>
          </a:bodyPr>
          <a:lstStyle/>
          <a:p>
            <a:pPr algn="l">
              <a:lnSpc>
                <a:spcPts val="1975"/>
              </a:lnSpc>
            </a:pPr>
            <a:r>
              <a:rPr lang="en-US" sz="1646">
                <a:solidFill>
                  <a:srgbClr val="5C5C70"/>
                </a:solidFill>
                <a:latin typeface="Aptos"/>
                <a:ea typeface="Aptos"/>
                <a:cs typeface="Aptos"/>
                <a:sym typeface="Aptos"/>
              </a:rPr>
              <a:t>Local ONNX VAD detects start/stop of speech.</a:t>
            </a:r>
          </a:p>
        </p:txBody>
      </p:sp>
      <p:sp>
        <p:nvSpPr>
          <p:cNvPr name="TextBox 68" id="68"/>
          <p:cNvSpPr txBox="true"/>
          <p:nvPr/>
        </p:nvSpPr>
        <p:spPr>
          <a:xfrm rot="0">
            <a:off x="5783580" y="2939796"/>
            <a:ext cx="1531620" cy="374904"/>
          </a:xfrm>
          <a:prstGeom prst="rect">
            <a:avLst/>
          </a:prstGeom>
        </p:spPr>
        <p:txBody>
          <a:bodyPr anchor="t" rtlCol="false" tIns="0" lIns="0" bIns="0" rIns="0">
            <a:spAutoFit/>
          </a:bodyPr>
          <a:lstStyle/>
          <a:p>
            <a:pPr algn="l">
              <a:lnSpc>
                <a:spcPts val="1980"/>
              </a:lnSpc>
            </a:pPr>
            <a:r>
              <a:rPr lang="en-US" sz="1650" b="true">
                <a:solidFill>
                  <a:srgbClr val="12122D"/>
                </a:solidFill>
                <a:latin typeface="Aptos Bold"/>
                <a:ea typeface="Aptos Bold"/>
                <a:cs typeface="Aptos Bold"/>
                <a:sym typeface="Aptos Bold"/>
              </a:rPr>
              <a:t>DEEPGRAM NOVA-3</a:t>
            </a:r>
          </a:p>
        </p:txBody>
      </p:sp>
      <p:sp>
        <p:nvSpPr>
          <p:cNvPr name="TextBox 69" id="69"/>
          <p:cNvSpPr txBox="true"/>
          <p:nvPr/>
        </p:nvSpPr>
        <p:spPr>
          <a:xfrm rot="0">
            <a:off x="5783580" y="3419856"/>
            <a:ext cx="1625790" cy="818961"/>
          </a:xfrm>
          <a:prstGeom prst="rect">
            <a:avLst/>
          </a:prstGeom>
        </p:spPr>
        <p:txBody>
          <a:bodyPr anchor="t" rtlCol="false" tIns="0" lIns="0" bIns="0" rIns="0">
            <a:spAutoFit/>
          </a:bodyPr>
          <a:lstStyle/>
          <a:p>
            <a:pPr algn="l">
              <a:lnSpc>
                <a:spcPts val="2229"/>
              </a:lnSpc>
            </a:pPr>
            <a:r>
              <a:rPr lang="en-US" sz="1857">
                <a:solidFill>
                  <a:srgbClr val="5C5C70"/>
                </a:solidFill>
                <a:latin typeface="Aptos"/>
                <a:ea typeface="Aptos"/>
                <a:cs typeface="Aptos"/>
                <a:sym typeface="Aptos"/>
              </a:rPr>
              <a:t>Streaming STT converts speech to text.</a:t>
            </a:r>
          </a:p>
        </p:txBody>
      </p:sp>
      <p:sp>
        <p:nvSpPr>
          <p:cNvPr name="TextBox 70" id="70"/>
          <p:cNvSpPr txBox="true"/>
          <p:nvPr/>
        </p:nvSpPr>
        <p:spPr>
          <a:xfrm rot="0">
            <a:off x="8156448" y="2939796"/>
            <a:ext cx="1531620" cy="374904"/>
          </a:xfrm>
          <a:prstGeom prst="rect">
            <a:avLst/>
          </a:prstGeom>
        </p:spPr>
        <p:txBody>
          <a:bodyPr anchor="t" rtlCol="false" tIns="0" lIns="0" bIns="0" rIns="0">
            <a:spAutoFit/>
          </a:bodyPr>
          <a:lstStyle/>
          <a:p>
            <a:pPr algn="l">
              <a:lnSpc>
                <a:spcPts val="1980"/>
              </a:lnSpc>
            </a:pPr>
            <a:r>
              <a:rPr lang="en-US" sz="1650" b="true">
                <a:solidFill>
                  <a:srgbClr val="12122D"/>
                </a:solidFill>
                <a:latin typeface="Aptos Bold"/>
                <a:ea typeface="Aptos Bold"/>
                <a:cs typeface="Aptos Bold"/>
                <a:sym typeface="Aptos Bold"/>
              </a:rPr>
              <a:t>GPT-4o-mini</a:t>
            </a:r>
          </a:p>
        </p:txBody>
      </p:sp>
      <p:sp>
        <p:nvSpPr>
          <p:cNvPr name="TextBox 71" id="71"/>
          <p:cNvSpPr txBox="true"/>
          <p:nvPr/>
        </p:nvSpPr>
        <p:spPr>
          <a:xfrm rot="0">
            <a:off x="8156448" y="3429381"/>
            <a:ext cx="1596288" cy="1062609"/>
          </a:xfrm>
          <a:prstGeom prst="rect">
            <a:avLst/>
          </a:prstGeom>
        </p:spPr>
        <p:txBody>
          <a:bodyPr anchor="t" rtlCol="false" tIns="0" lIns="0" bIns="0" rIns="0">
            <a:spAutoFit/>
          </a:bodyPr>
          <a:lstStyle/>
          <a:p>
            <a:pPr algn="l">
              <a:lnSpc>
                <a:spcPts val="2188"/>
              </a:lnSpc>
            </a:pPr>
            <a:r>
              <a:rPr lang="en-US" sz="1823">
                <a:solidFill>
                  <a:srgbClr val="5C5C70"/>
                </a:solidFill>
                <a:latin typeface="Aptos"/>
                <a:ea typeface="Aptos"/>
                <a:cs typeface="Aptos"/>
                <a:sym typeface="Aptos"/>
              </a:rPr>
              <a:t>Intent + tool selection + response generation.</a:t>
            </a:r>
          </a:p>
        </p:txBody>
      </p:sp>
      <p:sp>
        <p:nvSpPr>
          <p:cNvPr name="TextBox 72" id="72"/>
          <p:cNvSpPr txBox="true"/>
          <p:nvPr/>
        </p:nvSpPr>
        <p:spPr>
          <a:xfrm rot="0">
            <a:off x="10529316" y="2939796"/>
            <a:ext cx="1531620" cy="374904"/>
          </a:xfrm>
          <a:prstGeom prst="rect">
            <a:avLst/>
          </a:prstGeom>
        </p:spPr>
        <p:txBody>
          <a:bodyPr anchor="t" rtlCol="false" tIns="0" lIns="0" bIns="0" rIns="0">
            <a:spAutoFit/>
          </a:bodyPr>
          <a:lstStyle/>
          <a:p>
            <a:pPr algn="l">
              <a:lnSpc>
                <a:spcPts val="1980"/>
              </a:lnSpc>
            </a:pPr>
            <a:r>
              <a:rPr lang="en-US" sz="1650" b="true">
                <a:solidFill>
                  <a:srgbClr val="12122D"/>
                </a:solidFill>
                <a:latin typeface="Aptos Bold"/>
                <a:ea typeface="Aptos Bold"/>
                <a:cs typeface="Aptos Bold"/>
                <a:sym typeface="Aptos Bold"/>
              </a:rPr>
              <a:t>PYTHON TOOLS</a:t>
            </a:r>
          </a:p>
        </p:txBody>
      </p:sp>
      <p:sp>
        <p:nvSpPr>
          <p:cNvPr name="TextBox 73" id="73"/>
          <p:cNvSpPr txBox="true"/>
          <p:nvPr/>
        </p:nvSpPr>
        <p:spPr>
          <a:xfrm rot="0">
            <a:off x="10608564" y="3438906"/>
            <a:ext cx="1531620" cy="990600"/>
          </a:xfrm>
          <a:prstGeom prst="rect">
            <a:avLst/>
          </a:prstGeom>
        </p:spPr>
        <p:txBody>
          <a:bodyPr anchor="t" rtlCol="false" tIns="0" lIns="0" bIns="0" rIns="0">
            <a:spAutoFit/>
          </a:bodyPr>
          <a:lstStyle/>
          <a:p>
            <a:pPr algn="l">
              <a:lnSpc>
                <a:spcPts val="1979"/>
              </a:lnSpc>
            </a:pPr>
            <a:r>
              <a:rPr lang="en-US" sz="1649">
                <a:solidFill>
                  <a:srgbClr val="5C5C70"/>
                </a:solidFill>
                <a:latin typeface="Aptos"/>
                <a:ea typeface="Aptos"/>
                <a:cs typeface="Aptos"/>
                <a:sym typeface="Aptos"/>
              </a:rPr>
              <a:t>12 executable functions call the mock API registry.</a:t>
            </a:r>
          </a:p>
        </p:txBody>
      </p:sp>
      <p:sp>
        <p:nvSpPr>
          <p:cNvPr name="TextBox 74" id="74"/>
          <p:cNvSpPr txBox="true"/>
          <p:nvPr/>
        </p:nvSpPr>
        <p:spPr>
          <a:xfrm rot="0">
            <a:off x="12902184" y="2939796"/>
            <a:ext cx="1531620" cy="374904"/>
          </a:xfrm>
          <a:prstGeom prst="rect">
            <a:avLst/>
          </a:prstGeom>
        </p:spPr>
        <p:txBody>
          <a:bodyPr anchor="t" rtlCol="false" tIns="0" lIns="0" bIns="0" rIns="0">
            <a:spAutoFit/>
          </a:bodyPr>
          <a:lstStyle/>
          <a:p>
            <a:pPr algn="l">
              <a:lnSpc>
                <a:spcPts val="1980"/>
              </a:lnSpc>
            </a:pPr>
            <a:r>
              <a:rPr lang="en-US" sz="1650" b="true">
                <a:solidFill>
                  <a:srgbClr val="12122D"/>
                </a:solidFill>
                <a:latin typeface="Aptos Bold"/>
                <a:ea typeface="Aptos Bold"/>
                <a:cs typeface="Aptos Bold"/>
                <a:sym typeface="Aptos Bold"/>
              </a:rPr>
              <a:t>CARTESIA SONIC-3</a:t>
            </a:r>
          </a:p>
        </p:txBody>
      </p:sp>
      <p:sp>
        <p:nvSpPr>
          <p:cNvPr name="TextBox 75" id="75"/>
          <p:cNvSpPr txBox="true"/>
          <p:nvPr/>
        </p:nvSpPr>
        <p:spPr>
          <a:xfrm rot="0">
            <a:off x="12947904" y="3584448"/>
            <a:ext cx="1531620" cy="771525"/>
          </a:xfrm>
          <a:prstGeom prst="rect">
            <a:avLst/>
          </a:prstGeom>
        </p:spPr>
        <p:txBody>
          <a:bodyPr anchor="t" rtlCol="false" tIns="0" lIns="0" bIns="0" rIns="0">
            <a:spAutoFit/>
          </a:bodyPr>
          <a:lstStyle/>
          <a:p>
            <a:pPr algn="l">
              <a:lnSpc>
                <a:spcPts val="2099"/>
              </a:lnSpc>
            </a:pPr>
            <a:r>
              <a:rPr lang="en-US" sz="1749">
                <a:solidFill>
                  <a:srgbClr val="5C5C70"/>
                </a:solidFill>
                <a:latin typeface="Aptos"/>
                <a:ea typeface="Aptos"/>
                <a:cs typeface="Aptos"/>
                <a:sym typeface="Aptos"/>
              </a:rPr>
              <a:t>Streaming TTS synthesizes the response.</a:t>
            </a:r>
          </a:p>
        </p:txBody>
      </p:sp>
      <p:sp>
        <p:nvSpPr>
          <p:cNvPr name="TextBox 76" id="76"/>
          <p:cNvSpPr txBox="true"/>
          <p:nvPr/>
        </p:nvSpPr>
        <p:spPr>
          <a:xfrm rot="0">
            <a:off x="15275052" y="2939796"/>
            <a:ext cx="1531620" cy="374904"/>
          </a:xfrm>
          <a:prstGeom prst="rect">
            <a:avLst/>
          </a:prstGeom>
        </p:spPr>
        <p:txBody>
          <a:bodyPr anchor="t" rtlCol="false" tIns="0" lIns="0" bIns="0" rIns="0">
            <a:spAutoFit/>
          </a:bodyPr>
          <a:lstStyle/>
          <a:p>
            <a:pPr algn="l">
              <a:lnSpc>
                <a:spcPts val="1980"/>
              </a:lnSpc>
            </a:pPr>
            <a:r>
              <a:rPr lang="en-US" sz="1650" b="true">
                <a:solidFill>
                  <a:srgbClr val="12122D"/>
                </a:solidFill>
                <a:latin typeface="Aptos Bold"/>
                <a:ea typeface="Aptos Bold"/>
                <a:cs typeface="Aptos Bold"/>
                <a:sym typeface="Aptos Bold"/>
              </a:rPr>
              <a:t>WEBRTC OUT</a:t>
            </a:r>
          </a:p>
        </p:txBody>
      </p:sp>
      <p:sp>
        <p:nvSpPr>
          <p:cNvPr name="TextBox 77" id="77"/>
          <p:cNvSpPr txBox="true"/>
          <p:nvPr/>
        </p:nvSpPr>
        <p:spPr>
          <a:xfrm rot="0">
            <a:off x="15275052" y="3419856"/>
            <a:ext cx="1531620" cy="1028700"/>
          </a:xfrm>
          <a:prstGeom prst="rect">
            <a:avLst/>
          </a:prstGeom>
        </p:spPr>
        <p:txBody>
          <a:bodyPr anchor="t" rtlCol="false" tIns="0" lIns="0" bIns="0" rIns="0">
            <a:spAutoFit/>
          </a:bodyPr>
          <a:lstStyle/>
          <a:p>
            <a:pPr algn="l">
              <a:lnSpc>
                <a:spcPts val="2099"/>
              </a:lnSpc>
            </a:pPr>
            <a:r>
              <a:rPr lang="en-US" sz="1749">
                <a:solidFill>
                  <a:srgbClr val="5C5C70"/>
                </a:solidFill>
                <a:latin typeface="Aptos"/>
                <a:ea typeface="Aptos"/>
                <a:cs typeface="Aptos"/>
                <a:sym typeface="Aptos"/>
              </a:rPr>
              <a:t>Audio returns to the user with interruption support.</a:t>
            </a:r>
          </a:p>
        </p:txBody>
      </p:sp>
      <p:sp>
        <p:nvSpPr>
          <p:cNvPr name="TextBox 78" id="78"/>
          <p:cNvSpPr txBox="true"/>
          <p:nvPr/>
        </p:nvSpPr>
        <p:spPr>
          <a:xfrm rot="0">
            <a:off x="3671316" y="6587490"/>
            <a:ext cx="7470648" cy="85496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If the user speaks during TTS, playback halts, the remaining audio queue is discarded, and the new turn starts.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2616" y="762808"/>
            <a:ext cx="17522769" cy="8761384"/>
          </a:xfrm>
          <a:custGeom>
            <a:avLst/>
            <a:gdLst/>
            <a:ahLst/>
            <a:cxnLst/>
            <a:rect r="r" b="b" t="t" l="l"/>
            <a:pathLst>
              <a:path h="8761384" w="17522769">
                <a:moveTo>
                  <a:pt x="0" y="0"/>
                </a:moveTo>
                <a:lnTo>
                  <a:pt x="17522768" y="0"/>
                </a:lnTo>
                <a:lnTo>
                  <a:pt x="17522768" y="8761384"/>
                </a:lnTo>
                <a:lnTo>
                  <a:pt x="0" y="8761384"/>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89304" y="1289304"/>
            <a:ext cx="2468880" cy="466344"/>
            <a:chOff x="0" y="0"/>
            <a:chExt cx="3291840" cy="621792"/>
          </a:xfrm>
        </p:grpSpPr>
        <p:sp>
          <p:nvSpPr>
            <p:cNvPr name="Freeform 3" id="3"/>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4" id="4"/>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VOICE → INTENT → ACTION</a:t>
              </a:r>
            </a:p>
          </p:txBody>
        </p:sp>
      </p:grpSp>
      <p:grpSp>
        <p:nvGrpSpPr>
          <p:cNvPr name="Group 5" id="5"/>
          <p:cNvGrpSpPr/>
          <p:nvPr/>
        </p:nvGrpSpPr>
        <p:grpSpPr>
          <a:xfrm rot="0">
            <a:off x="1371600" y="2674620"/>
            <a:ext cx="1371600" cy="466344"/>
            <a:chOff x="0" y="0"/>
            <a:chExt cx="1828800" cy="621792"/>
          </a:xfrm>
        </p:grpSpPr>
        <p:sp>
          <p:nvSpPr>
            <p:cNvPr name="Freeform 6" id="6"/>
            <p:cNvSpPr/>
            <p:nvPr/>
          </p:nvSpPr>
          <p:spPr>
            <a:xfrm flipH="false" flipV="false" rot="0">
              <a:off x="0" y="0"/>
              <a:ext cx="1828800" cy="621792"/>
            </a:xfrm>
            <a:custGeom>
              <a:avLst/>
              <a:gdLst/>
              <a:ahLst/>
              <a:cxnLst/>
              <a:rect r="r" b="b" t="t" l="l"/>
              <a:pathLst>
                <a:path h="621792" w="1828800">
                  <a:moveTo>
                    <a:pt x="0" y="103632"/>
                  </a:moveTo>
                  <a:cubicBezTo>
                    <a:pt x="0" y="46355"/>
                    <a:pt x="46355" y="0"/>
                    <a:pt x="103632" y="0"/>
                  </a:cubicBezTo>
                  <a:lnTo>
                    <a:pt x="1725168" y="0"/>
                  </a:lnTo>
                  <a:cubicBezTo>
                    <a:pt x="1782445" y="0"/>
                    <a:pt x="1828800" y="46355"/>
                    <a:pt x="1828800" y="103632"/>
                  </a:cubicBezTo>
                  <a:lnTo>
                    <a:pt x="1828800" y="518160"/>
                  </a:lnTo>
                  <a:cubicBezTo>
                    <a:pt x="1828800" y="575437"/>
                    <a:pt x="1782445" y="621792"/>
                    <a:pt x="1725168" y="621792"/>
                  </a:cubicBezTo>
                  <a:lnTo>
                    <a:pt x="103632" y="621792"/>
                  </a:lnTo>
                  <a:cubicBezTo>
                    <a:pt x="46355" y="621792"/>
                    <a:pt x="0" y="575437"/>
                    <a:pt x="0" y="518160"/>
                  </a:cubicBezTo>
                  <a:close/>
                </a:path>
              </a:pathLst>
            </a:custGeom>
            <a:solidFill>
              <a:srgbClr val="3F5DD3"/>
            </a:solidFill>
          </p:spPr>
        </p:sp>
        <p:sp>
          <p:nvSpPr>
            <p:cNvPr name="TextBox 7" id="7"/>
            <p:cNvSpPr txBox="true"/>
            <p:nvPr/>
          </p:nvSpPr>
          <p:spPr>
            <a:xfrm>
              <a:off x="0" y="-9525"/>
              <a:ext cx="182880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USER</a:t>
              </a:r>
            </a:p>
          </p:txBody>
        </p:sp>
      </p:grpSp>
      <p:sp>
        <p:nvSpPr>
          <p:cNvPr name="AutoShape 8" id="8"/>
          <p:cNvSpPr/>
          <p:nvPr/>
        </p:nvSpPr>
        <p:spPr>
          <a:xfrm rot="5187000">
            <a:off x="1749723" y="3419475"/>
            <a:ext cx="615353" cy="0"/>
          </a:xfrm>
          <a:prstGeom prst="line">
            <a:avLst/>
          </a:prstGeom>
          <a:ln cap="rnd" w="19050">
            <a:solidFill>
              <a:srgbClr val="CDCBD7"/>
            </a:solidFill>
            <a:prstDash val="solid"/>
            <a:headEnd type="none" len="sm" w="sm"/>
            <a:tailEnd type="none" len="sm" w="sm"/>
          </a:ln>
        </p:spPr>
      </p:sp>
      <p:grpSp>
        <p:nvGrpSpPr>
          <p:cNvPr name="Group 9" id="9"/>
          <p:cNvGrpSpPr/>
          <p:nvPr/>
        </p:nvGrpSpPr>
        <p:grpSpPr>
          <a:xfrm rot="0">
            <a:off x="1371600" y="3744468"/>
            <a:ext cx="1371600" cy="466344"/>
            <a:chOff x="0" y="0"/>
            <a:chExt cx="1828800" cy="621792"/>
          </a:xfrm>
        </p:grpSpPr>
        <p:sp>
          <p:nvSpPr>
            <p:cNvPr name="Freeform 10" id="10"/>
            <p:cNvSpPr/>
            <p:nvPr/>
          </p:nvSpPr>
          <p:spPr>
            <a:xfrm flipH="false" flipV="false" rot="0">
              <a:off x="0" y="0"/>
              <a:ext cx="1828800" cy="621792"/>
            </a:xfrm>
            <a:custGeom>
              <a:avLst/>
              <a:gdLst/>
              <a:ahLst/>
              <a:cxnLst/>
              <a:rect r="r" b="b" t="t" l="l"/>
              <a:pathLst>
                <a:path h="621792" w="1828800">
                  <a:moveTo>
                    <a:pt x="0" y="103632"/>
                  </a:moveTo>
                  <a:cubicBezTo>
                    <a:pt x="0" y="46355"/>
                    <a:pt x="46355" y="0"/>
                    <a:pt x="103632" y="0"/>
                  </a:cubicBezTo>
                  <a:lnTo>
                    <a:pt x="1725168" y="0"/>
                  </a:lnTo>
                  <a:cubicBezTo>
                    <a:pt x="1782445" y="0"/>
                    <a:pt x="1828800" y="46355"/>
                    <a:pt x="1828800" y="103632"/>
                  </a:cubicBezTo>
                  <a:lnTo>
                    <a:pt x="1828800" y="518160"/>
                  </a:lnTo>
                  <a:cubicBezTo>
                    <a:pt x="1828800" y="575437"/>
                    <a:pt x="1782445" y="621792"/>
                    <a:pt x="1725168" y="621792"/>
                  </a:cubicBezTo>
                  <a:lnTo>
                    <a:pt x="103632" y="621792"/>
                  </a:lnTo>
                  <a:cubicBezTo>
                    <a:pt x="46355" y="621792"/>
                    <a:pt x="0" y="575437"/>
                    <a:pt x="0" y="518160"/>
                  </a:cubicBezTo>
                  <a:close/>
                </a:path>
              </a:pathLst>
            </a:custGeom>
            <a:solidFill>
              <a:srgbClr val="47BEB5"/>
            </a:solidFill>
          </p:spPr>
        </p:sp>
        <p:sp>
          <p:nvSpPr>
            <p:cNvPr name="TextBox 11" id="11"/>
            <p:cNvSpPr txBox="true"/>
            <p:nvPr/>
          </p:nvSpPr>
          <p:spPr>
            <a:xfrm>
              <a:off x="0" y="-9525"/>
              <a:ext cx="182880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STT</a:t>
              </a:r>
            </a:p>
          </p:txBody>
        </p:sp>
      </p:grpSp>
      <p:sp>
        <p:nvSpPr>
          <p:cNvPr name="AutoShape 12" id="12"/>
          <p:cNvSpPr/>
          <p:nvPr/>
        </p:nvSpPr>
        <p:spPr>
          <a:xfrm rot="5187000">
            <a:off x="1749723" y="4489323"/>
            <a:ext cx="615353" cy="0"/>
          </a:xfrm>
          <a:prstGeom prst="line">
            <a:avLst/>
          </a:prstGeom>
          <a:ln cap="rnd" w="19050">
            <a:solidFill>
              <a:srgbClr val="CDCBD7"/>
            </a:solidFill>
            <a:prstDash val="solid"/>
            <a:headEnd type="none" len="sm" w="sm"/>
            <a:tailEnd type="none" len="sm" w="sm"/>
          </a:ln>
        </p:spPr>
      </p:sp>
      <p:grpSp>
        <p:nvGrpSpPr>
          <p:cNvPr name="Group 13" id="13"/>
          <p:cNvGrpSpPr/>
          <p:nvPr/>
        </p:nvGrpSpPr>
        <p:grpSpPr>
          <a:xfrm rot="0">
            <a:off x="1371600" y="4814316"/>
            <a:ext cx="1371600" cy="466344"/>
            <a:chOff x="0" y="0"/>
            <a:chExt cx="1828800" cy="621792"/>
          </a:xfrm>
        </p:grpSpPr>
        <p:sp>
          <p:nvSpPr>
            <p:cNvPr name="Freeform 14" id="14"/>
            <p:cNvSpPr/>
            <p:nvPr/>
          </p:nvSpPr>
          <p:spPr>
            <a:xfrm flipH="false" flipV="false" rot="0">
              <a:off x="0" y="0"/>
              <a:ext cx="1828800" cy="621792"/>
            </a:xfrm>
            <a:custGeom>
              <a:avLst/>
              <a:gdLst/>
              <a:ahLst/>
              <a:cxnLst/>
              <a:rect r="r" b="b" t="t" l="l"/>
              <a:pathLst>
                <a:path h="621792" w="1828800">
                  <a:moveTo>
                    <a:pt x="0" y="103632"/>
                  </a:moveTo>
                  <a:cubicBezTo>
                    <a:pt x="0" y="46355"/>
                    <a:pt x="46355" y="0"/>
                    <a:pt x="103632" y="0"/>
                  </a:cubicBezTo>
                  <a:lnTo>
                    <a:pt x="1725168" y="0"/>
                  </a:lnTo>
                  <a:cubicBezTo>
                    <a:pt x="1782445" y="0"/>
                    <a:pt x="1828800" y="46355"/>
                    <a:pt x="1828800" y="103632"/>
                  </a:cubicBezTo>
                  <a:lnTo>
                    <a:pt x="1828800" y="518160"/>
                  </a:lnTo>
                  <a:cubicBezTo>
                    <a:pt x="1828800" y="575437"/>
                    <a:pt x="1782445" y="621792"/>
                    <a:pt x="1725168" y="621792"/>
                  </a:cubicBezTo>
                  <a:lnTo>
                    <a:pt x="103632" y="621792"/>
                  </a:lnTo>
                  <a:cubicBezTo>
                    <a:pt x="46355" y="621792"/>
                    <a:pt x="0" y="575437"/>
                    <a:pt x="0" y="518160"/>
                  </a:cubicBezTo>
                  <a:close/>
                </a:path>
              </a:pathLst>
            </a:custGeom>
            <a:solidFill>
              <a:srgbClr val="6C2FDB"/>
            </a:solidFill>
          </p:spPr>
        </p:sp>
        <p:sp>
          <p:nvSpPr>
            <p:cNvPr name="TextBox 15" id="15"/>
            <p:cNvSpPr txBox="true"/>
            <p:nvPr/>
          </p:nvSpPr>
          <p:spPr>
            <a:xfrm>
              <a:off x="0" y="-9525"/>
              <a:ext cx="182880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LLM</a:t>
              </a:r>
            </a:p>
          </p:txBody>
        </p:sp>
      </p:grpSp>
      <p:sp>
        <p:nvSpPr>
          <p:cNvPr name="AutoShape 16" id="16"/>
          <p:cNvSpPr/>
          <p:nvPr/>
        </p:nvSpPr>
        <p:spPr>
          <a:xfrm rot="5187000">
            <a:off x="1749723" y="5559171"/>
            <a:ext cx="615353" cy="0"/>
          </a:xfrm>
          <a:prstGeom prst="line">
            <a:avLst/>
          </a:prstGeom>
          <a:ln cap="rnd" w="19050">
            <a:solidFill>
              <a:srgbClr val="CDCBD7"/>
            </a:solidFill>
            <a:prstDash val="solid"/>
            <a:headEnd type="none" len="sm" w="sm"/>
            <a:tailEnd type="none" len="sm" w="sm"/>
          </a:ln>
        </p:spPr>
      </p:sp>
      <p:grpSp>
        <p:nvGrpSpPr>
          <p:cNvPr name="Group 17" id="17"/>
          <p:cNvGrpSpPr/>
          <p:nvPr/>
        </p:nvGrpSpPr>
        <p:grpSpPr>
          <a:xfrm rot="0">
            <a:off x="1371600" y="5884164"/>
            <a:ext cx="1371600" cy="466344"/>
            <a:chOff x="0" y="0"/>
            <a:chExt cx="1828800" cy="621792"/>
          </a:xfrm>
        </p:grpSpPr>
        <p:sp>
          <p:nvSpPr>
            <p:cNvPr name="Freeform 18" id="18"/>
            <p:cNvSpPr/>
            <p:nvPr/>
          </p:nvSpPr>
          <p:spPr>
            <a:xfrm flipH="false" flipV="false" rot="0">
              <a:off x="0" y="0"/>
              <a:ext cx="1828800" cy="621792"/>
            </a:xfrm>
            <a:custGeom>
              <a:avLst/>
              <a:gdLst/>
              <a:ahLst/>
              <a:cxnLst/>
              <a:rect r="r" b="b" t="t" l="l"/>
              <a:pathLst>
                <a:path h="621792" w="1828800">
                  <a:moveTo>
                    <a:pt x="0" y="103632"/>
                  </a:moveTo>
                  <a:cubicBezTo>
                    <a:pt x="0" y="46355"/>
                    <a:pt x="46355" y="0"/>
                    <a:pt x="103632" y="0"/>
                  </a:cubicBezTo>
                  <a:lnTo>
                    <a:pt x="1725168" y="0"/>
                  </a:lnTo>
                  <a:cubicBezTo>
                    <a:pt x="1782445" y="0"/>
                    <a:pt x="1828800" y="46355"/>
                    <a:pt x="1828800" y="103632"/>
                  </a:cubicBezTo>
                  <a:lnTo>
                    <a:pt x="1828800" y="518160"/>
                  </a:lnTo>
                  <a:cubicBezTo>
                    <a:pt x="1828800" y="575437"/>
                    <a:pt x="1782445" y="621792"/>
                    <a:pt x="1725168" y="621792"/>
                  </a:cubicBezTo>
                  <a:lnTo>
                    <a:pt x="103632" y="621792"/>
                  </a:lnTo>
                  <a:cubicBezTo>
                    <a:pt x="46355" y="621792"/>
                    <a:pt x="0" y="575437"/>
                    <a:pt x="0" y="518160"/>
                  </a:cubicBezTo>
                  <a:close/>
                </a:path>
              </a:pathLst>
            </a:custGeom>
            <a:solidFill>
              <a:srgbClr val="EB8741"/>
            </a:solidFill>
          </p:spPr>
        </p:sp>
        <p:sp>
          <p:nvSpPr>
            <p:cNvPr name="TextBox 19" id="19"/>
            <p:cNvSpPr txBox="true"/>
            <p:nvPr/>
          </p:nvSpPr>
          <p:spPr>
            <a:xfrm>
              <a:off x="0" y="-9525"/>
              <a:ext cx="182880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TOOL</a:t>
              </a:r>
            </a:p>
          </p:txBody>
        </p:sp>
      </p:grpSp>
      <p:sp>
        <p:nvSpPr>
          <p:cNvPr name="AutoShape 20" id="20"/>
          <p:cNvSpPr/>
          <p:nvPr/>
        </p:nvSpPr>
        <p:spPr>
          <a:xfrm rot="5187000">
            <a:off x="1749723" y="6629019"/>
            <a:ext cx="615353" cy="0"/>
          </a:xfrm>
          <a:prstGeom prst="line">
            <a:avLst/>
          </a:prstGeom>
          <a:ln cap="rnd" w="19050">
            <a:solidFill>
              <a:srgbClr val="CDCBD7"/>
            </a:solidFill>
            <a:prstDash val="solid"/>
            <a:headEnd type="none" len="sm" w="sm"/>
            <a:tailEnd type="none" len="sm" w="sm"/>
          </a:ln>
        </p:spPr>
      </p:sp>
      <p:grpSp>
        <p:nvGrpSpPr>
          <p:cNvPr name="Group 21" id="21"/>
          <p:cNvGrpSpPr/>
          <p:nvPr/>
        </p:nvGrpSpPr>
        <p:grpSpPr>
          <a:xfrm rot="0">
            <a:off x="1371600" y="6954012"/>
            <a:ext cx="1371600" cy="466344"/>
            <a:chOff x="0" y="0"/>
            <a:chExt cx="1828800" cy="621792"/>
          </a:xfrm>
        </p:grpSpPr>
        <p:sp>
          <p:nvSpPr>
            <p:cNvPr name="Freeform 22" id="22"/>
            <p:cNvSpPr/>
            <p:nvPr/>
          </p:nvSpPr>
          <p:spPr>
            <a:xfrm flipH="false" flipV="false" rot="0">
              <a:off x="0" y="0"/>
              <a:ext cx="1828800" cy="621792"/>
            </a:xfrm>
            <a:custGeom>
              <a:avLst/>
              <a:gdLst/>
              <a:ahLst/>
              <a:cxnLst/>
              <a:rect r="r" b="b" t="t" l="l"/>
              <a:pathLst>
                <a:path h="621792" w="1828800">
                  <a:moveTo>
                    <a:pt x="0" y="103632"/>
                  </a:moveTo>
                  <a:cubicBezTo>
                    <a:pt x="0" y="46355"/>
                    <a:pt x="46355" y="0"/>
                    <a:pt x="103632" y="0"/>
                  </a:cubicBezTo>
                  <a:lnTo>
                    <a:pt x="1725168" y="0"/>
                  </a:lnTo>
                  <a:cubicBezTo>
                    <a:pt x="1782445" y="0"/>
                    <a:pt x="1828800" y="46355"/>
                    <a:pt x="1828800" y="103632"/>
                  </a:cubicBezTo>
                  <a:lnTo>
                    <a:pt x="1828800" y="518160"/>
                  </a:lnTo>
                  <a:cubicBezTo>
                    <a:pt x="1828800" y="575437"/>
                    <a:pt x="1782445" y="621792"/>
                    <a:pt x="1725168" y="621792"/>
                  </a:cubicBezTo>
                  <a:lnTo>
                    <a:pt x="103632" y="621792"/>
                  </a:lnTo>
                  <a:cubicBezTo>
                    <a:pt x="46355" y="621792"/>
                    <a:pt x="0" y="575437"/>
                    <a:pt x="0" y="518160"/>
                  </a:cubicBezTo>
                  <a:close/>
                </a:path>
              </a:pathLst>
            </a:custGeom>
            <a:solidFill>
              <a:srgbClr val="6C2FDB"/>
            </a:solidFill>
          </p:spPr>
        </p:sp>
        <p:sp>
          <p:nvSpPr>
            <p:cNvPr name="TextBox 23" id="23"/>
            <p:cNvSpPr txBox="true"/>
            <p:nvPr/>
          </p:nvSpPr>
          <p:spPr>
            <a:xfrm>
              <a:off x="0" y="-9525"/>
              <a:ext cx="182880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VOICE</a:t>
              </a:r>
            </a:p>
          </p:txBody>
        </p:sp>
      </p:grpSp>
      <p:sp>
        <p:nvSpPr>
          <p:cNvPr name="Freeform 24" id="24"/>
          <p:cNvSpPr/>
          <p:nvPr/>
        </p:nvSpPr>
        <p:spPr>
          <a:xfrm flipH="false" flipV="false" rot="0">
            <a:off x="8035555" y="1257300"/>
            <a:ext cx="10252445" cy="5767000"/>
          </a:xfrm>
          <a:custGeom>
            <a:avLst/>
            <a:gdLst/>
            <a:ahLst/>
            <a:cxnLst/>
            <a:rect r="r" b="b" t="t" l="l"/>
            <a:pathLst>
              <a:path h="5767000" w="10252445">
                <a:moveTo>
                  <a:pt x="0" y="0"/>
                </a:moveTo>
                <a:lnTo>
                  <a:pt x="10252445" y="0"/>
                </a:lnTo>
                <a:lnTo>
                  <a:pt x="10252445" y="5767000"/>
                </a:lnTo>
                <a:lnTo>
                  <a:pt x="0" y="5767000"/>
                </a:lnTo>
                <a:lnTo>
                  <a:pt x="0" y="0"/>
                </a:lnTo>
                <a:close/>
              </a:path>
            </a:pathLst>
          </a:custGeom>
          <a:blipFill>
            <a:blip r:embed="rId2"/>
            <a:stretch>
              <a:fillRect l="0" t="0" r="0" b="0"/>
            </a:stretch>
          </a:blipFill>
        </p:spPr>
      </p:sp>
      <p:sp>
        <p:nvSpPr>
          <p:cNvPr name="TextBox 25" id="25"/>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Demo &amp; Product Walkthrough</a:t>
            </a:r>
          </a:p>
        </p:txBody>
      </p:sp>
      <p:sp>
        <p:nvSpPr>
          <p:cNvPr name="TextBox 26" id="26"/>
          <p:cNvSpPr txBox="true"/>
          <p:nvPr/>
        </p:nvSpPr>
        <p:spPr>
          <a:xfrm rot="0">
            <a:off x="1339596" y="1869948"/>
            <a:ext cx="15288768" cy="580644"/>
          </a:xfrm>
          <a:prstGeom prst="rect">
            <a:avLst/>
          </a:prstGeom>
        </p:spPr>
        <p:txBody>
          <a:bodyPr anchor="t" rtlCol="false" tIns="0" lIns="0" bIns="0" rIns="0">
            <a:spAutoFit/>
          </a:bodyPr>
          <a:lstStyle/>
          <a:p>
            <a:pPr algn="l">
              <a:lnSpc>
                <a:spcPts val="3600"/>
              </a:lnSpc>
            </a:pPr>
            <a:r>
              <a:rPr lang="en-US" sz="3000" b="true">
                <a:solidFill>
                  <a:srgbClr val="12122D"/>
                </a:solidFill>
                <a:latin typeface="Aptos Bold"/>
                <a:ea typeface="Aptos Bold"/>
                <a:cs typeface="Aptos Bold"/>
                <a:sym typeface="Aptos Bold"/>
              </a:rPr>
              <a:t>Example: “Track order ABC123”</a:t>
            </a:r>
          </a:p>
        </p:txBody>
      </p:sp>
      <p:sp>
        <p:nvSpPr>
          <p:cNvPr name="TextBox 27" id="27"/>
          <p:cNvSpPr txBox="true"/>
          <p:nvPr/>
        </p:nvSpPr>
        <p:spPr>
          <a:xfrm rot="0">
            <a:off x="3122676" y="2655951"/>
            <a:ext cx="8705088" cy="658749"/>
          </a:xfrm>
          <a:prstGeom prst="rect">
            <a:avLst/>
          </a:prstGeom>
        </p:spPr>
        <p:txBody>
          <a:bodyPr anchor="t" rtlCol="false" tIns="0" lIns="0" bIns="0" rIns="0">
            <a:spAutoFit/>
          </a:bodyPr>
          <a:lstStyle/>
          <a:p>
            <a:pPr algn="l">
              <a:lnSpc>
                <a:spcPts val="2520"/>
              </a:lnSpc>
            </a:pPr>
            <a:r>
              <a:rPr lang="en-US" sz="2100" b="true">
                <a:solidFill>
                  <a:srgbClr val="1F1F34"/>
                </a:solidFill>
                <a:latin typeface="Aptos Bold"/>
                <a:ea typeface="Aptos Bold"/>
                <a:cs typeface="Aptos Bold"/>
                <a:sym typeface="Aptos Bold"/>
              </a:rPr>
              <a:t>“Track order ABC123”</a:t>
            </a:r>
          </a:p>
        </p:txBody>
      </p:sp>
      <p:sp>
        <p:nvSpPr>
          <p:cNvPr name="TextBox 28" id="28"/>
          <p:cNvSpPr txBox="true"/>
          <p:nvPr/>
        </p:nvSpPr>
        <p:spPr>
          <a:xfrm rot="0">
            <a:off x="3122676" y="3725799"/>
            <a:ext cx="8705088" cy="658749"/>
          </a:xfrm>
          <a:prstGeom prst="rect">
            <a:avLst/>
          </a:prstGeom>
        </p:spPr>
        <p:txBody>
          <a:bodyPr anchor="t" rtlCol="false" tIns="0" lIns="0" bIns="0" rIns="0">
            <a:spAutoFit/>
          </a:bodyPr>
          <a:lstStyle/>
          <a:p>
            <a:pPr algn="l">
              <a:lnSpc>
                <a:spcPts val="2520"/>
              </a:lnSpc>
            </a:pPr>
            <a:r>
              <a:rPr lang="en-US" sz="2100" b="true">
                <a:solidFill>
                  <a:srgbClr val="1F1F34"/>
                </a:solidFill>
                <a:latin typeface="Aptos Bold"/>
                <a:ea typeface="Aptos Bold"/>
                <a:cs typeface="Aptos Bold"/>
                <a:sym typeface="Aptos Bold"/>
              </a:rPr>
              <a:t>Deepgram transcribes in the stream</a:t>
            </a:r>
          </a:p>
        </p:txBody>
      </p:sp>
      <p:sp>
        <p:nvSpPr>
          <p:cNvPr name="TextBox 29" id="29"/>
          <p:cNvSpPr txBox="true"/>
          <p:nvPr/>
        </p:nvSpPr>
        <p:spPr>
          <a:xfrm rot="0">
            <a:off x="3122676" y="4795647"/>
            <a:ext cx="8705088" cy="658749"/>
          </a:xfrm>
          <a:prstGeom prst="rect">
            <a:avLst/>
          </a:prstGeom>
        </p:spPr>
        <p:txBody>
          <a:bodyPr anchor="t" rtlCol="false" tIns="0" lIns="0" bIns="0" rIns="0">
            <a:spAutoFit/>
          </a:bodyPr>
          <a:lstStyle/>
          <a:p>
            <a:pPr algn="l">
              <a:lnSpc>
                <a:spcPts val="2520"/>
              </a:lnSpc>
            </a:pPr>
            <a:r>
              <a:rPr lang="en-US" sz="2100" b="true">
                <a:solidFill>
                  <a:srgbClr val="1F1F34"/>
                </a:solidFill>
                <a:latin typeface="Aptos Bold"/>
                <a:ea typeface="Aptos Bold"/>
                <a:cs typeface="Aptos Bold"/>
                <a:sym typeface="Aptos Bold"/>
              </a:rPr>
              <a:t>GPT-4o-mini selects track_order()</a:t>
            </a:r>
          </a:p>
        </p:txBody>
      </p:sp>
      <p:sp>
        <p:nvSpPr>
          <p:cNvPr name="TextBox 30" id="30"/>
          <p:cNvSpPr txBox="true"/>
          <p:nvPr/>
        </p:nvSpPr>
        <p:spPr>
          <a:xfrm rot="0">
            <a:off x="3122676" y="5865495"/>
            <a:ext cx="8705088" cy="658749"/>
          </a:xfrm>
          <a:prstGeom prst="rect">
            <a:avLst/>
          </a:prstGeom>
        </p:spPr>
        <p:txBody>
          <a:bodyPr anchor="t" rtlCol="false" tIns="0" lIns="0" bIns="0" rIns="0">
            <a:spAutoFit/>
          </a:bodyPr>
          <a:lstStyle/>
          <a:p>
            <a:pPr algn="l">
              <a:lnSpc>
                <a:spcPts val="2520"/>
              </a:lnSpc>
            </a:pPr>
            <a:r>
              <a:rPr lang="en-US" sz="2100" b="true">
                <a:solidFill>
                  <a:srgbClr val="1F1F34"/>
                </a:solidFill>
                <a:latin typeface="Aptos Bold"/>
                <a:ea typeface="Aptos Bold"/>
                <a:cs typeface="Aptos Bold"/>
                <a:sym typeface="Aptos Bold"/>
              </a:rPr>
              <a:t>Python function queries mock API registry</a:t>
            </a:r>
          </a:p>
        </p:txBody>
      </p:sp>
      <p:sp>
        <p:nvSpPr>
          <p:cNvPr name="TextBox 31" id="31"/>
          <p:cNvSpPr txBox="true"/>
          <p:nvPr/>
        </p:nvSpPr>
        <p:spPr>
          <a:xfrm rot="0">
            <a:off x="3122676" y="6935343"/>
            <a:ext cx="8705088" cy="658749"/>
          </a:xfrm>
          <a:prstGeom prst="rect">
            <a:avLst/>
          </a:prstGeom>
        </p:spPr>
        <p:txBody>
          <a:bodyPr anchor="t" rtlCol="false" tIns="0" lIns="0" bIns="0" rIns="0">
            <a:spAutoFit/>
          </a:bodyPr>
          <a:lstStyle/>
          <a:p>
            <a:pPr algn="l">
              <a:lnSpc>
                <a:spcPts val="2520"/>
              </a:lnSpc>
            </a:pPr>
            <a:r>
              <a:rPr lang="en-US" sz="2100" b="true">
                <a:solidFill>
                  <a:srgbClr val="1F1F34"/>
                </a:solidFill>
                <a:latin typeface="Aptos Bold"/>
                <a:ea typeface="Aptos Bold"/>
                <a:cs typeface="Aptos Bold"/>
                <a:sym typeface="Aptos Bold"/>
              </a:rPr>
              <a:t>“Your order is out for delivery.”</a:t>
            </a:r>
          </a:p>
        </p:txBody>
      </p:sp>
      <p:grpSp>
        <p:nvGrpSpPr>
          <p:cNvPr name="Group 32" id="32"/>
          <p:cNvGrpSpPr/>
          <p:nvPr/>
        </p:nvGrpSpPr>
        <p:grpSpPr>
          <a:xfrm rot="0">
            <a:off x="1399399" y="7662566"/>
            <a:ext cx="5402015" cy="1438817"/>
            <a:chOff x="0" y="0"/>
            <a:chExt cx="8678114" cy="2311400"/>
          </a:xfrm>
        </p:grpSpPr>
        <p:sp>
          <p:nvSpPr>
            <p:cNvPr name="Freeform 33" id="33"/>
            <p:cNvSpPr/>
            <p:nvPr/>
          </p:nvSpPr>
          <p:spPr>
            <a:xfrm flipH="false" flipV="false" rot="0">
              <a:off x="0" y="0"/>
              <a:ext cx="8678114" cy="2311400"/>
            </a:xfrm>
            <a:custGeom>
              <a:avLst/>
              <a:gdLst/>
              <a:ahLst/>
              <a:cxnLst/>
              <a:rect r="r" b="b" t="t" l="l"/>
              <a:pathLst>
                <a:path h="2311400" w="8678114">
                  <a:moveTo>
                    <a:pt x="0" y="385191"/>
                  </a:moveTo>
                  <a:cubicBezTo>
                    <a:pt x="0" y="172466"/>
                    <a:pt x="271541" y="0"/>
                    <a:pt x="606468" y="0"/>
                  </a:cubicBezTo>
                  <a:lnTo>
                    <a:pt x="8071646" y="0"/>
                  </a:lnTo>
                  <a:cubicBezTo>
                    <a:pt x="8406574" y="0"/>
                    <a:pt x="8678114" y="172466"/>
                    <a:pt x="8678114" y="385191"/>
                  </a:cubicBezTo>
                  <a:lnTo>
                    <a:pt x="8678114" y="1926209"/>
                  </a:lnTo>
                  <a:cubicBezTo>
                    <a:pt x="8678114" y="2138934"/>
                    <a:pt x="8406574" y="2311400"/>
                    <a:pt x="8071646" y="2311400"/>
                  </a:cubicBezTo>
                  <a:lnTo>
                    <a:pt x="606468" y="2311400"/>
                  </a:lnTo>
                  <a:cubicBezTo>
                    <a:pt x="271541" y="2311400"/>
                    <a:pt x="0" y="2138934"/>
                    <a:pt x="0" y="1926209"/>
                  </a:cubicBezTo>
                  <a:close/>
                </a:path>
              </a:pathLst>
            </a:custGeom>
            <a:solidFill>
              <a:srgbClr val="F5F4FA"/>
            </a:solidFill>
            <a:ln w="19050" cap="sq">
              <a:solidFill>
                <a:srgbClr val="E1DFEB"/>
              </a:solidFill>
              <a:prstDash val="solid"/>
              <a:miter/>
            </a:ln>
          </p:spPr>
        </p:sp>
      </p:grpSp>
      <p:grpSp>
        <p:nvGrpSpPr>
          <p:cNvPr name="Group 34" id="34"/>
          <p:cNvGrpSpPr/>
          <p:nvPr/>
        </p:nvGrpSpPr>
        <p:grpSpPr>
          <a:xfrm rot="0">
            <a:off x="1411846" y="7670472"/>
            <a:ext cx="125466" cy="1423006"/>
            <a:chOff x="0" y="0"/>
            <a:chExt cx="201556" cy="2286000"/>
          </a:xfrm>
        </p:grpSpPr>
        <p:sp>
          <p:nvSpPr>
            <p:cNvPr name="Freeform 35" id="35"/>
            <p:cNvSpPr/>
            <p:nvPr/>
          </p:nvSpPr>
          <p:spPr>
            <a:xfrm flipH="false" flipV="false" rot="0">
              <a:off x="0" y="0"/>
              <a:ext cx="201556" cy="2286000"/>
            </a:xfrm>
            <a:custGeom>
              <a:avLst/>
              <a:gdLst/>
              <a:ahLst/>
              <a:cxnLst/>
              <a:rect r="r" b="b" t="t" l="l"/>
              <a:pathLst>
                <a:path h="2286000" w="201556">
                  <a:moveTo>
                    <a:pt x="0" y="0"/>
                  </a:moveTo>
                  <a:lnTo>
                    <a:pt x="201556" y="0"/>
                  </a:lnTo>
                  <a:lnTo>
                    <a:pt x="201556" y="2286000"/>
                  </a:lnTo>
                  <a:lnTo>
                    <a:pt x="0" y="2286000"/>
                  </a:lnTo>
                  <a:close/>
                </a:path>
              </a:pathLst>
            </a:custGeom>
            <a:solidFill>
              <a:srgbClr val="6C2FDB"/>
            </a:solidFill>
          </p:spPr>
        </p:sp>
      </p:grpSp>
      <p:grpSp>
        <p:nvGrpSpPr>
          <p:cNvPr name="Group 36" id="36"/>
          <p:cNvGrpSpPr/>
          <p:nvPr/>
        </p:nvGrpSpPr>
        <p:grpSpPr>
          <a:xfrm rot="0">
            <a:off x="12808839" y="7594092"/>
            <a:ext cx="5402015" cy="1438817"/>
            <a:chOff x="0" y="0"/>
            <a:chExt cx="8678114" cy="2311400"/>
          </a:xfrm>
        </p:grpSpPr>
        <p:sp>
          <p:nvSpPr>
            <p:cNvPr name="Freeform 37" id="37"/>
            <p:cNvSpPr/>
            <p:nvPr/>
          </p:nvSpPr>
          <p:spPr>
            <a:xfrm flipH="false" flipV="false" rot="0">
              <a:off x="0" y="0"/>
              <a:ext cx="8678114" cy="2311400"/>
            </a:xfrm>
            <a:custGeom>
              <a:avLst/>
              <a:gdLst/>
              <a:ahLst/>
              <a:cxnLst/>
              <a:rect r="r" b="b" t="t" l="l"/>
              <a:pathLst>
                <a:path h="2311400" w="8678114">
                  <a:moveTo>
                    <a:pt x="0" y="385191"/>
                  </a:moveTo>
                  <a:cubicBezTo>
                    <a:pt x="0" y="172466"/>
                    <a:pt x="271541" y="0"/>
                    <a:pt x="606468" y="0"/>
                  </a:cubicBezTo>
                  <a:lnTo>
                    <a:pt x="8071646" y="0"/>
                  </a:lnTo>
                  <a:cubicBezTo>
                    <a:pt x="8406574" y="0"/>
                    <a:pt x="8678114" y="172466"/>
                    <a:pt x="8678114" y="385191"/>
                  </a:cubicBezTo>
                  <a:lnTo>
                    <a:pt x="8678114" y="1926209"/>
                  </a:lnTo>
                  <a:cubicBezTo>
                    <a:pt x="8678114" y="2138934"/>
                    <a:pt x="8406574" y="2311400"/>
                    <a:pt x="8071646" y="2311400"/>
                  </a:cubicBezTo>
                  <a:lnTo>
                    <a:pt x="606468" y="2311400"/>
                  </a:lnTo>
                  <a:cubicBezTo>
                    <a:pt x="271541" y="2311400"/>
                    <a:pt x="0" y="2138934"/>
                    <a:pt x="0" y="1926209"/>
                  </a:cubicBezTo>
                  <a:close/>
                </a:path>
              </a:pathLst>
            </a:custGeom>
            <a:solidFill>
              <a:srgbClr val="EEF7F8"/>
            </a:solidFill>
            <a:ln w="19050" cap="sq">
              <a:solidFill>
                <a:srgbClr val="E1DFEB"/>
              </a:solidFill>
              <a:prstDash val="solid"/>
              <a:miter/>
            </a:ln>
          </p:spPr>
        </p:sp>
      </p:grpSp>
      <p:grpSp>
        <p:nvGrpSpPr>
          <p:cNvPr name="Group 38" id="38"/>
          <p:cNvGrpSpPr/>
          <p:nvPr/>
        </p:nvGrpSpPr>
        <p:grpSpPr>
          <a:xfrm rot="0">
            <a:off x="12821286" y="7601998"/>
            <a:ext cx="125466" cy="1423006"/>
            <a:chOff x="0" y="0"/>
            <a:chExt cx="201556" cy="2286000"/>
          </a:xfrm>
        </p:grpSpPr>
        <p:sp>
          <p:nvSpPr>
            <p:cNvPr name="Freeform 39" id="39"/>
            <p:cNvSpPr/>
            <p:nvPr/>
          </p:nvSpPr>
          <p:spPr>
            <a:xfrm flipH="false" flipV="false" rot="0">
              <a:off x="0" y="0"/>
              <a:ext cx="201556" cy="2286000"/>
            </a:xfrm>
            <a:custGeom>
              <a:avLst/>
              <a:gdLst/>
              <a:ahLst/>
              <a:cxnLst/>
              <a:rect r="r" b="b" t="t" l="l"/>
              <a:pathLst>
                <a:path h="2286000" w="201556">
                  <a:moveTo>
                    <a:pt x="0" y="0"/>
                  </a:moveTo>
                  <a:lnTo>
                    <a:pt x="201556" y="0"/>
                  </a:lnTo>
                  <a:lnTo>
                    <a:pt x="201556" y="2286000"/>
                  </a:lnTo>
                  <a:lnTo>
                    <a:pt x="0" y="2286000"/>
                  </a:lnTo>
                  <a:close/>
                </a:path>
              </a:pathLst>
            </a:custGeom>
            <a:solidFill>
              <a:srgbClr val="3F5DD3"/>
            </a:solidFill>
          </p:spPr>
        </p:sp>
      </p:grpSp>
      <p:grpSp>
        <p:nvGrpSpPr>
          <p:cNvPr name="Group 40" id="40"/>
          <p:cNvGrpSpPr/>
          <p:nvPr/>
        </p:nvGrpSpPr>
        <p:grpSpPr>
          <a:xfrm rot="0">
            <a:off x="7049064" y="7662566"/>
            <a:ext cx="5402015" cy="1438817"/>
            <a:chOff x="0" y="0"/>
            <a:chExt cx="8678114" cy="2311400"/>
          </a:xfrm>
        </p:grpSpPr>
        <p:sp>
          <p:nvSpPr>
            <p:cNvPr name="Freeform 41" id="41"/>
            <p:cNvSpPr/>
            <p:nvPr/>
          </p:nvSpPr>
          <p:spPr>
            <a:xfrm flipH="false" flipV="false" rot="0">
              <a:off x="0" y="0"/>
              <a:ext cx="8678114" cy="2311400"/>
            </a:xfrm>
            <a:custGeom>
              <a:avLst/>
              <a:gdLst/>
              <a:ahLst/>
              <a:cxnLst/>
              <a:rect r="r" b="b" t="t" l="l"/>
              <a:pathLst>
                <a:path h="2311400" w="8678114">
                  <a:moveTo>
                    <a:pt x="0" y="385191"/>
                  </a:moveTo>
                  <a:cubicBezTo>
                    <a:pt x="0" y="172466"/>
                    <a:pt x="271541" y="0"/>
                    <a:pt x="606468" y="0"/>
                  </a:cubicBezTo>
                  <a:lnTo>
                    <a:pt x="8071646" y="0"/>
                  </a:lnTo>
                  <a:cubicBezTo>
                    <a:pt x="8406574" y="0"/>
                    <a:pt x="8678114" y="172466"/>
                    <a:pt x="8678114" y="385191"/>
                  </a:cubicBezTo>
                  <a:lnTo>
                    <a:pt x="8678114" y="1926209"/>
                  </a:lnTo>
                  <a:cubicBezTo>
                    <a:pt x="8678114" y="2138934"/>
                    <a:pt x="8406574" y="2311400"/>
                    <a:pt x="8071646" y="2311400"/>
                  </a:cubicBezTo>
                  <a:lnTo>
                    <a:pt x="606468" y="2311400"/>
                  </a:lnTo>
                  <a:cubicBezTo>
                    <a:pt x="271541" y="2311400"/>
                    <a:pt x="0" y="2138934"/>
                    <a:pt x="0" y="1926209"/>
                  </a:cubicBezTo>
                  <a:close/>
                </a:path>
              </a:pathLst>
            </a:custGeom>
            <a:solidFill>
              <a:srgbClr val="F5F4FA"/>
            </a:solidFill>
            <a:ln w="19050" cap="sq">
              <a:solidFill>
                <a:srgbClr val="E1DFEB"/>
              </a:solidFill>
              <a:prstDash val="solid"/>
              <a:miter/>
            </a:ln>
          </p:spPr>
        </p:sp>
      </p:grpSp>
      <p:grpSp>
        <p:nvGrpSpPr>
          <p:cNvPr name="Group 42" id="42"/>
          <p:cNvGrpSpPr/>
          <p:nvPr/>
        </p:nvGrpSpPr>
        <p:grpSpPr>
          <a:xfrm rot="0">
            <a:off x="7061511" y="7670472"/>
            <a:ext cx="125466" cy="1423006"/>
            <a:chOff x="0" y="0"/>
            <a:chExt cx="201556" cy="2286000"/>
          </a:xfrm>
        </p:grpSpPr>
        <p:sp>
          <p:nvSpPr>
            <p:cNvPr name="Freeform 43" id="43"/>
            <p:cNvSpPr/>
            <p:nvPr/>
          </p:nvSpPr>
          <p:spPr>
            <a:xfrm flipH="false" flipV="false" rot="0">
              <a:off x="0" y="0"/>
              <a:ext cx="201556" cy="2286000"/>
            </a:xfrm>
            <a:custGeom>
              <a:avLst/>
              <a:gdLst/>
              <a:ahLst/>
              <a:cxnLst/>
              <a:rect r="r" b="b" t="t" l="l"/>
              <a:pathLst>
                <a:path h="2286000" w="201556">
                  <a:moveTo>
                    <a:pt x="0" y="0"/>
                  </a:moveTo>
                  <a:lnTo>
                    <a:pt x="201556" y="0"/>
                  </a:lnTo>
                  <a:lnTo>
                    <a:pt x="201556" y="2286000"/>
                  </a:lnTo>
                  <a:lnTo>
                    <a:pt x="0" y="2286000"/>
                  </a:lnTo>
                  <a:close/>
                </a:path>
              </a:pathLst>
            </a:custGeom>
            <a:solidFill>
              <a:srgbClr val="47BEB5"/>
            </a:solidFill>
          </p:spPr>
        </p:sp>
      </p:grpSp>
      <p:grpSp>
        <p:nvGrpSpPr>
          <p:cNvPr name="Group 44" id="44"/>
          <p:cNvGrpSpPr/>
          <p:nvPr/>
        </p:nvGrpSpPr>
        <p:grpSpPr>
          <a:xfrm rot="0">
            <a:off x="1437637" y="9215683"/>
            <a:ext cx="5390059" cy="889124"/>
            <a:chOff x="0" y="0"/>
            <a:chExt cx="8678114" cy="1431510"/>
          </a:xfrm>
        </p:grpSpPr>
        <p:sp>
          <p:nvSpPr>
            <p:cNvPr name="Freeform 45" id="45"/>
            <p:cNvSpPr/>
            <p:nvPr/>
          </p:nvSpPr>
          <p:spPr>
            <a:xfrm flipH="false" flipV="false" rot="0">
              <a:off x="0" y="0"/>
              <a:ext cx="8678114" cy="1431510"/>
            </a:xfrm>
            <a:custGeom>
              <a:avLst/>
              <a:gdLst/>
              <a:ahLst/>
              <a:cxnLst/>
              <a:rect r="r" b="b" t="t" l="l"/>
              <a:pathLst>
                <a:path h="1431510" w="8678114">
                  <a:moveTo>
                    <a:pt x="0" y="238535"/>
                  </a:moveTo>
                  <a:cubicBezTo>
                    <a:pt x="0" y="106764"/>
                    <a:pt x="142569" y="0"/>
                    <a:pt x="318531" y="0"/>
                  </a:cubicBezTo>
                  <a:lnTo>
                    <a:pt x="8359584" y="0"/>
                  </a:lnTo>
                  <a:cubicBezTo>
                    <a:pt x="8535545" y="0"/>
                    <a:pt x="8678114" y="106764"/>
                    <a:pt x="8678114" y="238535"/>
                  </a:cubicBezTo>
                  <a:lnTo>
                    <a:pt x="8678114" y="1192975"/>
                  </a:lnTo>
                  <a:cubicBezTo>
                    <a:pt x="8678114" y="1324745"/>
                    <a:pt x="8535545" y="1431510"/>
                    <a:pt x="8359584" y="1431510"/>
                  </a:cubicBezTo>
                  <a:lnTo>
                    <a:pt x="318531" y="1431510"/>
                  </a:lnTo>
                  <a:cubicBezTo>
                    <a:pt x="142569" y="1431510"/>
                    <a:pt x="0" y="1324745"/>
                    <a:pt x="0" y="1192975"/>
                  </a:cubicBezTo>
                  <a:close/>
                </a:path>
              </a:pathLst>
            </a:custGeom>
            <a:solidFill>
              <a:srgbClr val="F5F4FA"/>
            </a:solidFill>
            <a:ln w="19050" cap="sq">
              <a:solidFill>
                <a:srgbClr val="E1DFEB"/>
              </a:solidFill>
              <a:prstDash val="solid"/>
              <a:miter/>
            </a:ln>
          </p:spPr>
        </p:sp>
      </p:grpSp>
      <p:grpSp>
        <p:nvGrpSpPr>
          <p:cNvPr name="Group 46" id="46"/>
          <p:cNvGrpSpPr/>
          <p:nvPr/>
        </p:nvGrpSpPr>
        <p:grpSpPr>
          <a:xfrm rot="0">
            <a:off x="1411846" y="9258300"/>
            <a:ext cx="125466" cy="838619"/>
            <a:chOff x="0" y="0"/>
            <a:chExt cx="177845" cy="1188720"/>
          </a:xfrm>
        </p:grpSpPr>
        <p:sp>
          <p:nvSpPr>
            <p:cNvPr name="Freeform 47" id="47"/>
            <p:cNvSpPr/>
            <p:nvPr/>
          </p:nvSpPr>
          <p:spPr>
            <a:xfrm flipH="false" flipV="false" rot="0">
              <a:off x="0" y="0"/>
              <a:ext cx="177845" cy="1188720"/>
            </a:xfrm>
            <a:custGeom>
              <a:avLst/>
              <a:gdLst/>
              <a:ahLst/>
              <a:cxnLst/>
              <a:rect r="r" b="b" t="t" l="l"/>
              <a:pathLst>
                <a:path h="1188720" w="177845">
                  <a:moveTo>
                    <a:pt x="0" y="0"/>
                  </a:moveTo>
                  <a:lnTo>
                    <a:pt x="177845" y="0"/>
                  </a:lnTo>
                  <a:lnTo>
                    <a:pt x="177845" y="1188720"/>
                  </a:lnTo>
                  <a:lnTo>
                    <a:pt x="0" y="1188720"/>
                  </a:lnTo>
                  <a:close/>
                </a:path>
              </a:pathLst>
            </a:custGeom>
            <a:solidFill>
              <a:srgbClr val="EB8741"/>
            </a:solidFill>
          </p:spPr>
        </p:sp>
      </p:grpSp>
      <p:sp>
        <p:nvSpPr>
          <p:cNvPr name="TextBox 48" id="48"/>
          <p:cNvSpPr txBox="true"/>
          <p:nvPr/>
        </p:nvSpPr>
        <p:spPr>
          <a:xfrm rot="0">
            <a:off x="1782270" y="7833643"/>
            <a:ext cx="4779663" cy="260884"/>
          </a:xfrm>
          <a:prstGeom prst="rect">
            <a:avLst/>
          </a:prstGeom>
        </p:spPr>
        <p:txBody>
          <a:bodyPr anchor="t" rtlCol="false" tIns="0" lIns="0" bIns="0" rIns="0">
            <a:spAutoFit/>
          </a:bodyPr>
          <a:lstStyle/>
          <a:p>
            <a:pPr algn="l">
              <a:lnSpc>
                <a:spcPts val="2091"/>
              </a:lnSpc>
            </a:pPr>
            <a:r>
              <a:rPr lang="en-US" sz="1742" b="true">
                <a:solidFill>
                  <a:srgbClr val="12122D"/>
                </a:solidFill>
                <a:latin typeface="Aptos Bold"/>
                <a:ea typeface="Aptos Bold"/>
                <a:cs typeface="Aptos Bold"/>
                <a:sym typeface="Aptos Bold"/>
              </a:rPr>
              <a:t>E-Commerce</a:t>
            </a:r>
          </a:p>
        </p:txBody>
      </p:sp>
      <p:sp>
        <p:nvSpPr>
          <p:cNvPr name="TextBox 49" id="49"/>
          <p:cNvSpPr txBox="true"/>
          <p:nvPr/>
        </p:nvSpPr>
        <p:spPr>
          <a:xfrm rot="0">
            <a:off x="1782270" y="8222560"/>
            <a:ext cx="4779663" cy="215070"/>
          </a:xfrm>
          <a:prstGeom prst="rect">
            <a:avLst/>
          </a:prstGeom>
        </p:spPr>
        <p:txBody>
          <a:bodyPr anchor="t" rtlCol="false" tIns="0" lIns="0" bIns="0" rIns="0">
            <a:spAutoFit/>
          </a:bodyPr>
          <a:lstStyle/>
          <a:p>
            <a:pPr algn="l">
              <a:lnSpc>
                <a:spcPts val="1643"/>
              </a:lnSpc>
            </a:pPr>
            <a:r>
              <a:rPr lang="en-US" sz="1369">
                <a:solidFill>
                  <a:srgbClr val="5C5C70"/>
                </a:solidFill>
                <a:latin typeface="Aptos"/>
                <a:ea typeface="Aptos"/>
                <a:cs typeface="Aptos"/>
                <a:sym typeface="Aptos"/>
              </a:rPr>
              <a:t>track_order • search_products • add_to_cart</a:t>
            </a:r>
          </a:p>
        </p:txBody>
      </p:sp>
      <p:sp>
        <p:nvSpPr>
          <p:cNvPr name="TextBox 50" id="50"/>
          <p:cNvSpPr txBox="true"/>
          <p:nvPr/>
        </p:nvSpPr>
        <p:spPr>
          <a:xfrm rot="0">
            <a:off x="13191710" y="7765169"/>
            <a:ext cx="4779663" cy="260884"/>
          </a:xfrm>
          <a:prstGeom prst="rect">
            <a:avLst/>
          </a:prstGeom>
        </p:spPr>
        <p:txBody>
          <a:bodyPr anchor="t" rtlCol="false" tIns="0" lIns="0" bIns="0" rIns="0">
            <a:spAutoFit/>
          </a:bodyPr>
          <a:lstStyle/>
          <a:p>
            <a:pPr algn="l">
              <a:lnSpc>
                <a:spcPts val="2091"/>
              </a:lnSpc>
            </a:pPr>
            <a:r>
              <a:rPr lang="en-US" sz="1742" b="true">
                <a:solidFill>
                  <a:srgbClr val="12122D"/>
                </a:solidFill>
                <a:latin typeface="Aptos Bold"/>
                <a:ea typeface="Aptos Bold"/>
                <a:cs typeface="Aptos Bold"/>
                <a:sym typeface="Aptos Bold"/>
              </a:rPr>
              <a:t>Travel &amp; Identity</a:t>
            </a:r>
          </a:p>
        </p:txBody>
      </p:sp>
      <p:sp>
        <p:nvSpPr>
          <p:cNvPr name="TextBox 51" id="51"/>
          <p:cNvSpPr txBox="true"/>
          <p:nvPr/>
        </p:nvSpPr>
        <p:spPr>
          <a:xfrm rot="0">
            <a:off x="13191710" y="8154085"/>
            <a:ext cx="4779663" cy="215070"/>
          </a:xfrm>
          <a:prstGeom prst="rect">
            <a:avLst/>
          </a:prstGeom>
        </p:spPr>
        <p:txBody>
          <a:bodyPr anchor="t" rtlCol="false" tIns="0" lIns="0" bIns="0" rIns="0">
            <a:spAutoFit/>
          </a:bodyPr>
          <a:lstStyle/>
          <a:p>
            <a:pPr algn="l">
              <a:lnSpc>
                <a:spcPts val="1643"/>
              </a:lnSpc>
            </a:pPr>
            <a:r>
              <a:rPr lang="en-US" sz="1369">
                <a:solidFill>
                  <a:srgbClr val="5C5C70"/>
                </a:solidFill>
                <a:latin typeface="Aptos"/>
                <a:ea typeface="Aptos"/>
                <a:cs typeface="Aptos"/>
                <a:sym typeface="Aptos"/>
              </a:rPr>
              <a:t>search_flights • book_flight • update_identity_doc</a:t>
            </a:r>
          </a:p>
        </p:txBody>
      </p:sp>
      <p:sp>
        <p:nvSpPr>
          <p:cNvPr name="TextBox 52" id="52"/>
          <p:cNvSpPr txBox="true"/>
          <p:nvPr/>
        </p:nvSpPr>
        <p:spPr>
          <a:xfrm rot="0">
            <a:off x="7431935" y="7833643"/>
            <a:ext cx="4779663" cy="260884"/>
          </a:xfrm>
          <a:prstGeom prst="rect">
            <a:avLst/>
          </a:prstGeom>
        </p:spPr>
        <p:txBody>
          <a:bodyPr anchor="t" rtlCol="false" tIns="0" lIns="0" bIns="0" rIns="0">
            <a:spAutoFit/>
          </a:bodyPr>
          <a:lstStyle/>
          <a:p>
            <a:pPr algn="l">
              <a:lnSpc>
                <a:spcPts val="2091"/>
              </a:lnSpc>
            </a:pPr>
            <a:r>
              <a:rPr lang="en-US" sz="1742" b="true">
                <a:solidFill>
                  <a:srgbClr val="12122D"/>
                </a:solidFill>
                <a:latin typeface="Aptos Bold"/>
                <a:ea typeface="Aptos Bold"/>
                <a:cs typeface="Aptos Bold"/>
                <a:sym typeface="Aptos Bold"/>
              </a:rPr>
              <a:t>Finance &amp; Billing</a:t>
            </a:r>
          </a:p>
        </p:txBody>
      </p:sp>
      <p:sp>
        <p:nvSpPr>
          <p:cNvPr name="TextBox 53" id="53"/>
          <p:cNvSpPr txBox="true"/>
          <p:nvPr/>
        </p:nvSpPr>
        <p:spPr>
          <a:xfrm rot="0">
            <a:off x="7431935" y="8222560"/>
            <a:ext cx="4700297" cy="211657"/>
          </a:xfrm>
          <a:prstGeom prst="rect">
            <a:avLst/>
          </a:prstGeom>
        </p:spPr>
        <p:txBody>
          <a:bodyPr anchor="t" rtlCol="false" tIns="0" lIns="0" bIns="0" rIns="0">
            <a:spAutoFit/>
          </a:bodyPr>
          <a:lstStyle/>
          <a:p>
            <a:pPr algn="l">
              <a:lnSpc>
                <a:spcPts val="1616"/>
              </a:lnSpc>
            </a:pPr>
            <a:r>
              <a:rPr lang="en-US" sz="1346">
                <a:solidFill>
                  <a:srgbClr val="5C5C70"/>
                </a:solidFill>
                <a:latin typeface="Aptos"/>
                <a:ea typeface="Aptos"/>
                <a:cs typeface="Aptos"/>
                <a:sym typeface="Aptos"/>
              </a:rPr>
              <a:t>get_card_benefits • get_exchange_rate • modify_autopay</a:t>
            </a:r>
          </a:p>
        </p:txBody>
      </p:sp>
      <p:sp>
        <p:nvSpPr>
          <p:cNvPr name="TextBox 54" id="54"/>
          <p:cNvSpPr txBox="true"/>
          <p:nvPr/>
        </p:nvSpPr>
        <p:spPr>
          <a:xfrm rot="0">
            <a:off x="1782270" y="9329983"/>
            <a:ext cx="4769084" cy="214615"/>
          </a:xfrm>
          <a:prstGeom prst="rect">
            <a:avLst/>
          </a:prstGeom>
        </p:spPr>
        <p:txBody>
          <a:bodyPr anchor="t" rtlCol="false" tIns="0" lIns="0" bIns="0" rIns="0">
            <a:spAutoFit/>
          </a:bodyPr>
          <a:lstStyle/>
          <a:p>
            <a:pPr algn="l">
              <a:lnSpc>
                <a:spcPts val="1639"/>
              </a:lnSpc>
            </a:pPr>
            <a:r>
              <a:rPr lang="en-US" sz="1366" b="true">
                <a:solidFill>
                  <a:srgbClr val="12122D"/>
                </a:solidFill>
                <a:latin typeface="Aptos Bold"/>
                <a:ea typeface="Aptos Bold"/>
                <a:cs typeface="Aptos Bold"/>
                <a:sym typeface="Aptos Bold"/>
              </a:rPr>
              <a:t>Housing &amp; Location</a:t>
            </a:r>
          </a:p>
        </p:txBody>
      </p:sp>
      <p:sp>
        <p:nvSpPr>
          <p:cNvPr name="TextBox 55" id="55"/>
          <p:cNvSpPr txBox="true"/>
          <p:nvPr/>
        </p:nvSpPr>
        <p:spPr>
          <a:xfrm rot="0">
            <a:off x="1782270" y="9658898"/>
            <a:ext cx="5229403" cy="165650"/>
          </a:xfrm>
          <a:prstGeom prst="rect">
            <a:avLst/>
          </a:prstGeom>
        </p:spPr>
        <p:txBody>
          <a:bodyPr anchor="t" rtlCol="false" tIns="0" lIns="0" bIns="0" rIns="0">
            <a:spAutoFit/>
          </a:bodyPr>
          <a:lstStyle/>
          <a:p>
            <a:pPr algn="l">
              <a:lnSpc>
                <a:spcPts val="1341"/>
              </a:lnSpc>
            </a:pPr>
            <a:r>
              <a:rPr lang="en-US" sz="1117">
                <a:solidFill>
                  <a:srgbClr val="5C5C70"/>
                </a:solidFill>
                <a:latin typeface="Aptos"/>
                <a:ea typeface="Aptos"/>
                <a:cs typeface="Aptos"/>
                <a:sym typeface="Aptos"/>
              </a:rPr>
              <a:t>search_apartments • calculate_commute • update_search_filter</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Tools and Tech Stack Used</a:t>
            </a:r>
          </a:p>
        </p:txBody>
      </p:sp>
      <p:grpSp>
        <p:nvGrpSpPr>
          <p:cNvPr name="Group 3" id="3"/>
          <p:cNvGrpSpPr/>
          <p:nvPr/>
        </p:nvGrpSpPr>
        <p:grpSpPr>
          <a:xfrm rot="0">
            <a:off x="1289304" y="1289304"/>
            <a:ext cx="2468880" cy="466344"/>
            <a:chOff x="0" y="0"/>
            <a:chExt cx="3291840" cy="621792"/>
          </a:xfrm>
        </p:grpSpPr>
        <p:sp>
          <p:nvSpPr>
            <p:cNvPr name="Freeform 4" id="4"/>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5" id="5"/>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BUILDING BLOCKS</a:t>
              </a:r>
            </a:p>
          </p:txBody>
        </p:sp>
      </p:grpSp>
      <p:grpSp>
        <p:nvGrpSpPr>
          <p:cNvPr name="Group 6" id="6"/>
          <p:cNvGrpSpPr/>
          <p:nvPr/>
        </p:nvGrpSpPr>
        <p:grpSpPr>
          <a:xfrm rot="0">
            <a:off x="1224915" y="2116455"/>
            <a:ext cx="3722370" cy="2007870"/>
            <a:chOff x="0" y="0"/>
            <a:chExt cx="4963160" cy="2677160"/>
          </a:xfrm>
        </p:grpSpPr>
        <p:sp>
          <p:nvSpPr>
            <p:cNvPr name="Freeform 7" id="7"/>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F5F4FA"/>
            </a:solidFill>
            <a:ln w="19050" cap="sq">
              <a:solidFill>
                <a:srgbClr val="E1DFEB"/>
              </a:solidFill>
              <a:prstDash val="solid"/>
              <a:miter/>
            </a:ln>
          </p:spPr>
        </p:sp>
      </p:grpSp>
      <p:grpSp>
        <p:nvGrpSpPr>
          <p:cNvPr name="Group 8" id="8"/>
          <p:cNvGrpSpPr/>
          <p:nvPr/>
        </p:nvGrpSpPr>
        <p:grpSpPr>
          <a:xfrm rot="0">
            <a:off x="1234440" y="2125980"/>
            <a:ext cx="96012" cy="1988820"/>
            <a:chOff x="0" y="0"/>
            <a:chExt cx="128016" cy="2651760"/>
          </a:xfrm>
        </p:grpSpPr>
        <p:sp>
          <p:nvSpPr>
            <p:cNvPr name="Freeform 9" id="9"/>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3F5DD3"/>
            </a:solidFill>
          </p:spPr>
        </p:sp>
      </p:grpSp>
      <p:sp>
        <p:nvSpPr>
          <p:cNvPr name="TextBox 10" id="10"/>
          <p:cNvSpPr txBox="true"/>
          <p:nvPr/>
        </p:nvSpPr>
        <p:spPr>
          <a:xfrm rot="0">
            <a:off x="1517904" y="232257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LiveKit Cloud</a:t>
            </a:r>
          </a:p>
        </p:txBody>
      </p:sp>
      <p:sp>
        <p:nvSpPr>
          <p:cNvPr name="TextBox 11" id="11"/>
          <p:cNvSpPr txBox="true"/>
          <p:nvPr/>
        </p:nvSpPr>
        <p:spPr>
          <a:xfrm rot="0">
            <a:off x="1517904" y="280263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WebRTC signaling + SFU routing</a:t>
            </a:r>
          </a:p>
        </p:txBody>
      </p:sp>
      <p:grpSp>
        <p:nvGrpSpPr>
          <p:cNvPr name="Group 12" id="12"/>
          <p:cNvGrpSpPr/>
          <p:nvPr/>
        </p:nvGrpSpPr>
        <p:grpSpPr>
          <a:xfrm rot="0">
            <a:off x="5339715" y="2116455"/>
            <a:ext cx="3722370" cy="2007870"/>
            <a:chOff x="0" y="0"/>
            <a:chExt cx="4963160" cy="2677160"/>
          </a:xfrm>
        </p:grpSpPr>
        <p:sp>
          <p:nvSpPr>
            <p:cNvPr name="Freeform 13" id="13"/>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F5F4FA"/>
            </a:solidFill>
            <a:ln w="19050" cap="sq">
              <a:solidFill>
                <a:srgbClr val="E1DFEB"/>
              </a:solidFill>
              <a:prstDash val="solid"/>
              <a:miter/>
            </a:ln>
          </p:spPr>
        </p:sp>
      </p:grpSp>
      <p:grpSp>
        <p:nvGrpSpPr>
          <p:cNvPr name="Group 14" id="14"/>
          <p:cNvGrpSpPr/>
          <p:nvPr/>
        </p:nvGrpSpPr>
        <p:grpSpPr>
          <a:xfrm rot="0">
            <a:off x="5349240" y="2125980"/>
            <a:ext cx="96012" cy="1988820"/>
            <a:chOff x="0" y="0"/>
            <a:chExt cx="128016" cy="2651760"/>
          </a:xfrm>
        </p:grpSpPr>
        <p:sp>
          <p:nvSpPr>
            <p:cNvPr name="Freeform 15" id="15"/>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6C2FDB"/>
            </a:solidFill>
          </p:spPr>
        </p:sp>
      </p:grpSp>
      <p:sp>
        <p:nvSpPr>
          <p:cNvPr name="TextBox 16" id="16"/>
          <p:cNvSpPr txBox="true"/>
          <p:nvPr/>
        </p:nvSpPr>
        <p:spPr>
          <a:xfrm rot="0">
            <a:off x="5632704" y="232257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LiveKit Agents</a:t>
            </a:r>
          </a:p>
        </p:txBody>
      </p:sp>
      <p:sp>
        <p:nvSpPr>
          <p:cNvPr name="TextBox 17" id="17"/>
          <p:cNvSpPr txBox="true"/>
          <p:nvPr/>
        </p:nvSpPr>
        <p:spPr>
          <a:xfrm rot="0">
            <a:off x="5632704" y="280263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Python agent framework</a:t>
            </a:r>
          </a:p>
        </p:txBody>
      </p:sp>
      <p:grpSp>
        <p:nvGrpSpPr>
          <p:cNvPr name="Group 18" id="18"/>
          <p:cNvGrpSpPr/>
          <p:nvPr/>
        </p:nvGrpSpPr>
        <p:grpSpPr>
          <a:xfrm rot="0">
            <a:off x="9454515" y="2116455"/>
            <a:ext cx="3722370" cy="2007870"/>
            <a:chOff x="0" y="0"/>
            <a:chExt cx="4963160" cy="2677160"/>
          </a:xfrm>
        </p:grpSpPr>
        <p:sp>
          <p:nvSpPr>
            <p:cNvPr name="Freeform 19" id="19"/>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F5F4FA"/>
            </a:solidFill>
            <a:ln w="19050" cap="sq">
              <a:solidFill>
                <a:srgbClr val="E1DFEB"/>
              </a:solidFill>
              <a:prstDash val="solid"/>
              <a:miter/>
            </a:ln>
          </p:spPr>
        </p:sp>
      </p:grpSp>
      <p:grpSp>
        <p:nvGrpSpPr>
          <p:cNvPr name="Group 20" id="20"/>
          <p:cNvGrpSpPr/>
          <p:nvPr/>
        </p:nvGrpSpPr>
        <p:grpSpPr>
          <a:xfrm rot="0">
            <a:off x="9464040" y="2125980"/>
            <a:ext cx="96012" cy="1988820"/>
            <a:chOff x="0" y="0"/>
            <a:chExt cx="128016" cy="2651760"/>
          </a:xfrm>
        </p:grpSpPr>
        <p:sp>
          <p:nvSpPr>
            <p:cNvPr name="Freeform 21" id="21"/>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47BEB5"/>
            </a:solidFill>
          </p:spPr>
        </p:sp>
      </p:grpSp>
      <p:sp>
        <p:nvSpPr>
          <p:cNvPr name="TextBox 22" id="22"/>
          <p:cNvSpPr txBox="true"/>
          <p:nvPr/>
        </p:nvSpPr>
        <p:spPr>
          <a:xfrm rot="0">
            <a:off x="9747504" y="232257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uv</a:t>
            </a:r>
          </a:p>
        </p:txBody>
      </p:sp>
      <p:sp>
        <p:nvSpPr>
          <p:cNvPr name="TextBox 23" id="23"/>
          <p:cNvSpPr txBox="true"/>
          <p:nvPr/>
        </p:nvSpPr>
        <p:spPr>
          <a:xfrm rot="0">
            <a:off x="9747504" y="280263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Fast Rust-based package manager</a:t>
            </a:r>
          </a:p>
        </p:txBody>
      </p:sp>
      <p:grpSp>
        <p:nvGrpSpPr>
          <p:cNvPr name="Group 24" id="24"/>
          <p:cNvGrpSpPr/>
          <p:nvPr/>
        </p:nvGrpSpPr>
        <p:grpSpPr>
          <a:xfrm rot="0">
            <a:off x="13569315" y="2116455"/>
            <a:ext cx="3722370" cy="2007870"/>
            <a:chOff x="0" y="0"/>
            <a:chExt cx="4963160" cy="2677160"/>
          </a:xfrm>
        </p:grpSpPr>
        <p:sp>
          <p:nvSpPr>
            <p:cNvPr name="Freeform 25" id="25"/>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F5F4FA"/>
            </a:solidFill>
            <a:ln w="19050" cap="sq">
              <a:solidFill>
                <a:srgbClr val="E1DFEB"/>
              </a:solidFill>
              <a:prstDash val="solid"/>
              <a:miter/>
            </a:ln>
          </p:spPr>
        </p:sp>
      </p:grpSp>
      <p:grpSp>
        <p:nvGrpSpPr>
          <p:cNvPr name="Group 26" id="26"/>
          <p:cNvGrpSpPr/>
          <p:nvPr/>
        </p:nvGrpSpPr>
        <p:grpSpPr>
          <a:xfrm rot="0">
            <a:off x="13578840" y="2125980"/>
            <a:ext cx="96012" cy="1988820"/>
            <a:chOff x="0" y="0"/>
            <a:chExt cx="128016" cy="2651760"/>
          </a:xfrm>
        </p:grpSpPr>
        <p:sp>
          <p:nvSpPr>
            <p:cNvPr name="Freeform 27" id="27"/>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EB8741"/>
            </a:solidFill>
          </p:spPr>
        </p:sp>
      </p:grpSp>
      <p:sp>
        <p:nvSpPr>
          <p:cNvPr name="TextBox 28" id="28"/>
          <p:cNvSpPr txBox="true"/>
          <p:nvPr/>
        </p:nvSpPr>
        <p:spPr>
          <a:xfrm rot="0">
            <a:off x="13862304" y="232257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Silero VAD v4</a:t>
            </a:r>
          </a:p>
        </p:txBody>
      </p:sp>
      <p:sp>
        <p:nvSpPr>
          <p:cNvPr name="TextBox 29" id="29"/>
          <p:cNvSpPr txBox="true"/>
          <p:nvPr/>
        </p:nvSpPr>
        <p:spPr>
          <a:xfrm rot="0">
            <a:off x="13862304" y="280263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Local voice activity detection via ONNX</a:t>
            </a:r>
          </a:p>
        </p:txBody>
      </p:sp>
      <p:grpSp>
        <p:nvGrpSpPr>
          <p:cNvPr name="Group 30" id="30"/>
          <p:cNvGrpSpPr/>
          <p:nvPr/>
        </p:nvGrpSpPr>
        <p:grpSpPr>
          <a:xfrm rot="0">
            <a:off x="1224915" y="4585335"/>
            <a:ext cx="3722370" cy="2007870"/>
            <a:chOff x="0" y="0"/>
            <a:chExt cx="4963160" cy="2677160"/>
          </a:xfrm>
        </p:grpSpPr>
        <p:sp>
          <p:nvSpPr>
            <p:cNvPr name="Freeform 31" id="31"/>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EEF7F8"/>
            </a:solidFill>
            <a:ln w="19050" cap="sq">
              <a:solidFill>
                <a:srgbClr val="E1DFEB"/>
              </a:solidFill>
              <a:prstDash val="solid"/>
              <a:miter/>
            </a:ln>
          </p:spPr>
        </p:sp>
      </p:grpSp>
      <p:grpSp>
        <p:nvGrpSpPr>
          <p:cNvPr name="Group 32" id="32"/>
          <p:cNvGrpSpPr/>
          <p:nvPr/>
        </p:nvGrpSpPr>
        <p:grpSpPr>
          <a:xfrm rot="0">
            <a:off x="1234440" y="4594860"/>
            <a:ext cx="96012" cy="1988820"/>
            <a:chOff x="0" y="0"/>
            <a:chExt cx="128016" cy="2651760"/>
          </a:xfrm>
        </p:grpSpPr>
        <p:sp>
          <p:nvSpPr>
            <p:cNvPr name="Freeform 33" id="33"/>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3F5DD3"/>
            </a:solidFill>
          </p:spPr>
        </p:sp>
      </p:grpSp>
      <p:sp>
        <p:nvSpPr>
          <p:cNvPr name="TextBox 34" id="34"/>
          <p:cNvSpPr txBox="true"/>
          <p:nvPr/>
        </p:nvSpPr>
        <p:spPr>
          <a:xfrm rot="0">
            <a:off x="1517904" y="479145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Deepgram Nova-3</a:t>
            </a:r>
          </a:p>
        </p:txBody>
      </p:sp>
      <p:sp>
        <p:nvSpPr>
          <p:cNvPr name="TextBox 35" id="35"/>
          <p:cNvSpPr txBox="true"/>
          <p:nvPr/>
        </p:nvSpPr>
        <p:spPr>
          <a:xfrm rot="0">
            <a:off x="1517904" y="527151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Streaming speech-to-text</a:t>
            </a:r>
          </a:p>
        </p:txBody>
      </p:sp>
      <p:grpSp>
        <p:nvGrpSpPr>
          <p:cNvPr name="Group 36" id="36"/>
          <p:cNvGrpSpPr/>
          <p:nvPr/>
        </p:nvGrpSpPr>
        <p:grpSpPr>
          <a:xfrm rot="0">
            <a:off x="5339715" y="4585335"/>
            <a:ext cx="3722370" cy="2007870"/>
            <a:chOff x="0" y="0"/>
            <a:chExt cx="4963160" cy="2677160"/>
          </a:xfrm>
        </p:grpSpPr>
        <p:sp>
          <p:nvSpPr>
            <p:cNvPr name="Freeform 37" id="37"/>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EEF7F8"/>
            </a:solidFill>
            <a:ln w="19050" cap="sq">
              <a:solidFill>
                <a:srgbClr val="E1DFEB"/>
              </a:solidFill>
              <a:prstDash val="solid"/>
              <a:miter/>
            </a:ln>
          </p:spPr>
        </p:sp>
      </p:grpSp>
      <p:grpSp>
        <p:nvGrpSpPr>
          <p:cNvPr name="Group 38" id="38"/>
          <p:cNvGrpSpPr/>
          <p:nvPr/>
        </p:nvGrpSpPr>
        <p:grpSpPr>
          <a:xfrm rot="0">
            <a:off x="5349240" y="4594860"/>
            <a:ext cx="96012" cy="1988820"/>
            <a:chOff x="0" y="0"/>
            <a:chExt cx="128016" cy="2651760"/>
          </a:xfrm>
        </p:grpSpPr>
        <p:sp>
          <p:nvSpPr>
            <p:cNvPr name="Freeform 39" id="39"/>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6C2FDB"/>
            </a:solidFill>
          </p:spPr>
        </p:sp>
      </p:grpSp>
      <p:sp>
        <p:nvSpPr>
          <p:cNvPr name="TextBox 40" id="40"/>
          <p:cNvSpPr txBox="true"/>
          <p:nvPr/>
        </p:nvSpPr>
        <p:spPr>
          <a:xfrm rot="0">
            <a:off x="5632704" y="479145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OpenAI GPT-4o-mini</a:t>
            </a:r>
          </a:p>
        </p:txBody>
      </p:sp>
      <p:sp>
        <p:nvSpPr>
          <p:cNvPr name="TextBox 41" id="41"/>
          <p:cNvSpPr txBox="true"/>
          <p:nvPr/>
        </p:nvSpPr>
        <p:spPr>
          <a:xfrm rot="0">
            <a:off x="5632704" y="527151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Reasoning + function calling</a:t>
            </a:r>
          </a:p>
        </p:txBody>
      </p:sp>
      <p:grpSp>
        <p:nvGrpSpPr>
          <p:cNvPr name="Group 42" id="42"/>
          <p:cNvGrpSpPr/>
          <p:nvPr/>
        </p:nvGrpSpPr>
        <p:grpSpPr>
          <a:xfrm rot="0">
            <a:off x="9454515" y="4585335"/>
            <a:ext cx="3722370" cy="2007870"/>
            <a:chOff x="0" y="0"/>
            <a:chExt cx="4963160" cy="2677160"/>
          </a:xfrm>
        </p:grpSpPr>
        <p:sp>
          <p:nvSpPr>
            <p:cNvPr name="Freeform 43" id="43"/>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EEF7F8"/>
            </a:solidFill>
            <a:ln w="19050" cap="sq">
              <a:solidFill>
                <a:srgbClr val="E1DFEB"/>
              </a:solidFill>
              <a:prstDash val="solid"/>
              <a:miter/>
            </a:ln>
          </p:spPr>
        </p:sp>
      </p:grpSp>
      <p:grpSp>
        <p:nvGrpSpPr>
          <p:cNvPr name="Group 44" id="44"/>
          <p:cNvGrpSpPr/>
          <p:nvPr/>
        </p:nvGrpSpPr>
        <p:grpSpPr>
          <a:xfrm rot="0">
            <a:off x="9464040" y="4594860"/>
            <a:ext cx="96012" cy="1988820"/>
            <a:chOff x="0" y="0"/>
            <a:chExt cx="128016" cy="2651760"/>
          </a:xfrm>
        </p:grpSpPr>
        <p:sp>
          <p:nvSpPr>
            <p:cNvPr name="Freeform 45" id="45"/>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47BEB5"/>
            </a:solidFill>
          </p:spPr>
        </p:sp>
      </p:grpSp>
      <p:sp>
        <p:nvSpPr>
          <p:cNvPr name="TextBox 46" id="46"/>
          <p:cNvSpPr txBox="true"/>
          <p:nvPr/>
        </p:nvSpPr>
        <p:spPr>
          <a:xfrm rot="0">
            <a:off x="9747504" y="479145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Cartesia Sonic-3</a:t>
            </a:r>
          </a:p>
        </p:txBody>
      </p:sp>
      <p:sp>
        <p:nvSpPr>
          <p:cNvPr name="TextBox 47" id="47"/>
          <p:cNvSpPr txBox="true"/>
          <p:nvPr/>
        </p:nvSpPr>
        <p:spPr>
          <a:xfrm rot="0">
            <a:off x="9747504" y="527151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Streaming text-to-speech</a:t>
            </a:r>
          </a:p>
        </p:txBody>
      </p:sp>
      <p:grpSp>
        <p:nvGrpSpPr>
          <p:cNvPr name="Group 48" id="48"/>
          <p:cNvGrpSpPr/>
          <p:nvPr/>
        </p:nvGrpSpPr>
        <p:grpSpPr>
          <a:xfrm rot="0">
            <a:off x="13569315" y="4585335"/>
            <a:ext cx="3722370" cy="2007870"/>
            <a:chOff x="0" y="0"/>
            <a:chExt cx="4963160" cy="2677160"/>
          </a:xfrm>
        </p:grpSpPr>
        <p:sp>
          <p:nvSpPr>
            <p:cNvPr name="Freeform 49" id="49"/>
            <p:cNvSpPr/>
            <p:nvPr/>
          </p:nvSpPr>
          <p:spPr>
            <a:xfrm flipH="false" flipV="false" rot="0">
              <a:off x="0" y="0"/>
              <a:ext cx="4963160" cy="2677160"/>
            </a:xfrm>
            <a:custGeom>
              <a:avLst/>
              <a:gdLst/>
              <a:ahLst/>
              <a:cxnLst/>
              <a:rect r="r" b="b" t="t" l="l"/>
              <a:pathLst>
                <a:path h="2677160" w="4963160">
                  <a:moveTo>
                    <a:pt x="0" y="446151"/>
                  </a:moveTo>
                  <a:cubicBezTo>
                    <a:pt x="0" y="199771"/>
                    <a:pt x="199771" y="0"/>
                    <a:pt x="446151" y="0"/>
                  </a:cubicBezTo>
                  <a:lnTo>
                    <a:pt x="4517009" y="0"/>
                  </a:lnTo>
                  <a:cubicBezTo>
                    <a:pt x="4763389" y="0"/>
                    <a:pt x="4963160" y="199771"/>
                    <a:pt x="4963160" y="446151"/>
                  </a:cubicBezTo>
                  <a:lnTo>
                    <a:pt x="4963160" y="2231009"/>
                  </a:lnTo>
                  <a:cubicBezTo>
                    <a:pt x="4963160" y="2477389"/>
                    <a:pt x="4763389" y="2677160"/>
                    <a:pt x="4517009" y="2677160"/>
                  </a:cubicBezTo>
                  <a:lnTo>
                    <a:pt x="446151" y="2677160"/>
                  </a:lnTo>
                  <a:cubicBezTo>
                    <a:pt x="199771" y="2677160"/>
                    <a:pt x="0" y="2477389"/>
                    <a:pt x="0" y="2231009"/>
                  </a:cubicBezTo>
                  <a:close/>
                </a:path>
              </a:pathLst>
            </a:custGeom>
            <a:solidFill>
              <a:srgbClr val="EEF7F8"/>
            </a:solidFill>
            <a:ln w="19050" cap="sq">
              <a:solidFill>
                <a:srgbClr val="E1DFEB"/>
              </a:solidFill>
              <a:prstDash val="solid"/>
              <a:miter/>
            </a:ln>
          </p:spPr>
        </p:sp>
      </p:grpSp>
      <p:grpSp>
        <p:nvGrpSpPr>
          <p:cNvPr name="Group 50" id="50"/>
          <p:cNvGrpSpPr/>
          <p:nvPr/>
        </p:nvGrpSpPr>
        <p:grpSpPr>
          <a:xfrm rot="0">
            <a:off x="13578840" y="4594860"/>
            <a:ext cx="96012" cy="1988820"/>
            <a:chOff x="0" y="0"/>
            <a:chExt cx="128016" cy="2651760"/>
          </a:xfrm>
        </p:grpSpPr>
        <p:sp>
          <p:nvSpPr>
            <p:cNvPr name="Freeform 51" id="51"/>
            <p:cNvSpPr/>
            <p:nvPr/>
          </p:nvSpPr>
          <p:spPr>
            <a:xfrm flipH="false" flipV="false" rot="0">
              <a:off x="0" y="0"/>
              <a:ext cx="128016" cy="2651760"/>
            </a:xfrm>
            <a:custGeom>
              <a:avLst/>
              <a:gdLst/>
              <a:ahLst/>
              <a:cxnLst/>
              <a:rect r="r" b="b" t="t" l="l"/>
              <a:pathLst>
                <a:path h="2651760" w="128016">
                  <a:moveTo>
                    <a:pt x="0" y="0"/>
                  </a:moveTo>
                  <a:lnTo>
                    <a:pt x="128016" y="0"/>
                  </a:lnTo>
                  <a:lnTo>
                    <a:pt x="128016" y="2651760"/>
                  </a:lnTo>
                  <a:lnTo>
                    <a:pt x="0" y="2651760"/>
                  </a:lnTo>
                  <a:close/>
                </a:path>
              </a:pathLst>
            </a:custGeom>
            <a:solidFill>
              <a:srgbClr val="EB8741"/>
            </a:solidFill>
          </p:spPr>
        </p:sp>
      </p:grpSp>
      <p:sp>
        <p:nvSpPr>
          <p:cNvPr name="TextBox 52" id="52"/>
          <p:cNvSpPr txBox="true"/>
          <p:nvPr/>
        </p:nvSpPr>
        <p:spPr>
          <a:xfrm rot="0">
            <a:off x="13862304" y="4791456"/>
            <a:ext cx="3246120" cy="37490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FDB-v3 + NeMo + FFmpeg</a:t>
            </a:r>
          </a:p>
        </p:txBody>
      </p:sp>
      <p:sp>
        <p:nvSpPr>
          <p:cNvPr name="TextBox 53" id="53"/>
          <p:cNvSpPr txBox="true"/>
          <p:nvPr/>
        </p:nvSpPr>
        <p:spPr>
          <a:xfrm rot="0">
            <a:off x="13862304" y="5271516"/>
            <a:ext cx="3246120" cy="1184148"/>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Benchmarking, transcript evaluation &amp; audio tooling</a:t>
            </a:r>
          </a:p>
        </p:txBody>
      </p:sp>
      <p:sp>
        <p:nvSpPr>
          <p:cNvPr name="TextBox 54" id="54"/>
          <p:cNvSpPr txBox="true"/>
          <p:nvPr/>
        </p:nvSpPr>
        <p:spPr>
          <a:xfrm rot="0">
            <a:off x="1339596" y="7346823"/>
            <a:ext cx="15014448" cy="100164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Unified inference routing reduced the need for multiple standalone provider API keys and simplified initialization.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6816" y="839908"/>
            <a:ext cx="17214367" cy="8607184"/>
          </a:xfrm>
          <a:custGeom>
            <a:avLst/>
            <a:gdLst/>
            <a:ahLst/>
            <a:cxnLst/>
            <a:rect r="r" b="b" t="t" l="l"/>
            <a:pathLst>
              <a:path h="8607184" w="17214367">
                <a:moveTo>
                  <a:pt x="0" y="0"/>
                </a:moveTo>
                <a:lnTo>
                  <a:pt x="17214368" y="0"/>
                </a:lnTo>
                <a:lnTo>
                  <a:pt x="17214368" y="8607184"/>
                </a:lnTo>
                <a:lnTo>
                  <a:pt x="0" y="8607184"/>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Impact &amp; Use Cases</a:t>
            </a:r>
          </a:p>
        </p:txBody>
      </p:sp>
      <p:grpSp>
        <p:nvGrpSpPr>
          <p:cNvPr name="Group 3" id="3"/>
          <p:cNvGrpSpPr/>
          <p:nvPr/>
        </p:nvGrpSpPr>
        <p:grpSpPr>
          <a:xfrm rot="0">
            <a:off x="1289304" y="1289304"/>
            <a:ext cx="2468880" cy="466344"/>
            <a:chOff x="0" y="0"/>
            <a:chExt cx="3291840" cy="621792"/>
          </a:xfrm>
        </p:grpSpPr>
        <p:sp>
          <p:nvSpPr>
            <p:cNvPr name="Freeform 4" id="4"/>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5" id="5"/>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WHERE IT CAN ACT</a:t>
              </a:r>
            </a:p>
          </p:txBody>
        </p:sp>
      </p:grpSp>
      <p:grpSp>
        <p:nvGrpSpPr>
          <p:cNvPr name="Group 6" id="6"/>
          <p:cNvGrpSpPr/>
          <p:nvPr/>
        </p:nvGrpSpPr>
        <p:grpSpPr>
          <a:xfrm rot="0">
            <a:off x="1158716" y="2118836"/>
            <a:ext cx="3649028" cy="1728788"/>
            <a:chOff x="0" y="0"/>
            <a:chExt cx="4865370" cy="2305050"/>
          </a:xfrm>
        </p:grpSpPr>
        <p:sp>
          <p:nvSpPr>
            <p:cNvPr name="Freeform 7" id="7"/>
            <p:cNvSpPr/>
            <p:nvPr/>
          </p:nvSpPr>
          <p:spPr>
            <a:xfrm flipH="false" flipV="false" rot="0">
              <a:off x="0" y="0"/>
              <a:ext cx="4865370" cy="2305050"/>
            </a:xfrm>
            <a:custGeom>
              <a:avLst/>
              <a:gdLst/>
              <a:ahLst/>
              <a:cxnLst/>
              <a:rect r="r" b="b" t="t" l="l"/>
              <a:pathLst>
                <a:path h="2305050" w="4865370">
                  <a:moveTo>
                    <a:pt x="0" y="384175"/>
                  </a:moveTo>
                  <a:cubicBezTo>
                    <a:pt x="0" y="171958"/>
                    <a:pt x="171958" y="0"/>
                    <a:pt x="384175" y="0"/>
                  </a:cubicBezTo>
                  <a:lnTo>
                    <a:pt x="4481195" y="0"/>
                  </a:lnTo>
                  <a:cubicBezTo>
                    <a:pt x="4693412" y="0"/>
                    <a:pt x="4865370" y="171958"/>
                    <a:pt x="4865370" y="384175"/>
                  </a:cubicBezTo>
                  <a:lnTo>
                    <a:pt x="4865370" y="1920875"/>
                  </a:lnTo>
                  <a:cubicBezTo>
                    <a:pt x="4865370" y="2133092"/>
                    <a:pt x="4693412" y="2305050"/>
                    <a:pt x="4481195" y="2305050"/>
                  </a:cubicBezTo>
                  <a:lnTo>
                    <a:pt x="384175" y="2305050"/>
                  </a:lnTo>
                  <a:cubicBezTo>
                    <a:pt x="171958" y="2305050"/>
                    <a:pt x="0" y="2133092"/>
                    <a:pt x="0" y="1920875"/>
                  </a:cubicBezTo>
                  <a:close/>
                </a:path>
              </a:pathLst>
            </a:custGeom>
            <a:solidFill>
              <a:srgbClr val="F5F4FA"/>
            </a:solidFill>
            <a:ln w="14288" cap="sq">
              <a:solidFill>
                <a:srgbClr val="E1DFEB"/>
              </a:solidFill>
              <a:prstDash val="solid"/>
              <a:miter/>
            </a:ln>
          </p:spPr>
        </p:sp>
      </p:grpSp>
      <p:sp>
        <p:nvSpPr>
          <p:cNvPr name="TextBox 8" id="8"/>
          <p:cNvSpPr txBox="true"/>
          <p:nvPr/>
        </p:nvSpPr>
        <p:spPr>
          <a:xfrm rot="0">
            <a:off x="1408176" y="2350008"/>
            <a:ext cx="3150108" cy="649224"/>
          </a:xfrm>
          <a:prstGeom prst="rect">
            <a:avLst/>
          </a:prstGeom>
        </p:spPr>
        <p:txBody>
          <a:bodyPr anchor="t" rtlCol="false" tIns="0" lIns="0" bIns="0" rIns="0">
            <a:spAutoFit/>
          </a:bodyPr>
          <a:lstStyle/>
          <a:p>
            <a:pPr algn="ctr">
              <a:lnSpc>
                <a:spcPts val="3960"/>
              </a:lnSpc>
            </a:pPr>
            <a:r>
              <a:rPr lang="en-US" sz="3300" b="true">
                <a:solidFill>
                  <a:srgbClr val="6C2FDB"/>
                </a:solidFill>
                <a:latin typeface="Aptos Bold"/>
                <a:ea typeface="Aptos Bold"/>
                <a:cs typeface="Aptos Bold"/>
                <a:sym typeface="Aptos Bold"/>
              </a:rPr>
              <a:t>4</a:t>
            </a:r>
          </a:p>
        </p:txBody>
      </p:sp>
      <p:sp>
        <p:nvSpPr>
          <p:cNvPr name="TextBox 9" id="9"/>
          <p:cNvSpPr txBox="true"/>
          <p:nvPr/>
        </p:nvSpPr>
        <p:spPr>
          <a:xfrm rot="0">
            <a:off x="1408176" y="2998851"/>
            <a:ext cx="3150108" cy="384429"/>
          </a:xfrm>
          <a:prstGeom prst="rect">
            <a:avLst/>
          </a:prstGeom>
        </p:spPr>
        <p:txBody>
          <a:bodyPr anchor="t" rtlCol="false" tIns="0" lIns="0" bIns="0" rIns="0">
            <a:spAutoFit/>
          </a:bodyPr>
          <a:lstStyle/>
          <a:p>
            <a:pPr algn="ctr">
              <a:lnSpc>
                <a:spcPts val="1620"/>
              </a:lnSpc>
            </a:pPr>
            <a:r>
              <a:rPr lang="en-US" sz="1350" b="true">
                <a:solidFill>
                  <a:srgbClr val="5C5C70"/>
                </a:solidFill>
                <a:latin typeface="Aptos Bold"/>
                <a:ea typeface="Aptos Bold"/>
                <a:cs typeface="Aptos Bold"/>
                <a:sym typeface="Aptos Bold"/>
              </a:rPr>
              <a:t>DOMAINS</a:t>
            </a:r>
          </a:p>
        </p:txBody>
      </p:sp>
      <p:grpSp>
        <p:nvGrpSpPr>
          <p:cNvPr name="Group 10" id="10"/>
          <p:cNvGrpSpPr/>
          <p:nvPr/>
        </p:nvGrpSpPr>
        <p:grpSpPr>
          <a:xfrm rot="0">
            <a:off x="5273516" y="2118836"/>
            <a:ext cx="3649028" cy="1728788"/>
            <a:chOff x="0" y="0"/>
            <a:chExt cx="4865370" cy="2305050"/>
          </a:xfrm>
        </p:grpSpPr>
        <p:sp>
          <p:nvSpPr>
            <p:cNvPr name="Freeform 11" id="11"/>
            <p:cNvSpPr/>
            <p:nvPr/>
          </p:nvSpPr>
          <p:spPr>
            <a:xfrm flipH="false" flipV="false" rot="0">
              <a:off x="0" y="0"/>
              <a:ext cx="4865370" cy="2305050"/>
            </a:xfrm>
            <a:custGeom>
              <a:avLst/>
              <a:gdLst/>
              <a:ahLst/>
              <a:cxnLst/>
              <a:rect r="r" b="b" t="t" l="l"/>
              <a:pathLst>
                <a:path h="2305050" w="4865370">
                  <a:moveTo>
                    <a:pt x="0" y="384175"/>
                  </a:moveTo>
                  <a:cubicBezTo>
                    <a:pt x="0" y="171958"/>
                    <a:pt x="171958" y="0"/>
                    <a:pt x="384175" y="0"/>
                  </a:cubicBezTo>
                  <a:lnTo>
                    <a:pt x="4481195" y="0"/>
                  </a:lnTo>
                  <a:cubicBezTo>
                    <a:pt x="4693412" y="0"/>
                    <a:pt x="4865370" y="171958"/>
                    <a:pt x="4865370" y="384175"/>
                  </a:cubicBezTo>
                  <a:lnTo>
                    <a:pt x="4865370" y="1920875"/>
                  </a:lnTo>
                  <a:cubicBezTo>
                    <a:pt x="4865370" y="2133092"/>
                    <a:pt x="4693412" y="2305050"/>
                    <a:pt x="4481195" y="2305050"/>
                  </a:cubicBezTo>
                  <a:lnTo>
                    <a:pt x="384175" y="2305050"/>
                  </a:lnTo>
                  <a:cubicBezTo>
                    <a:pt x="171958" y="2305050"/>
                    <a:pt x="0" y="2133092"/>
                    <a:pt x="0" y="1920875"/>
                  </a:cubicBezTo>
                  <a:close/>
                </a:path>
              </a:pathLst>
            </a:custGeom>
            <a:solidFill>
              <a:srgbClr val="F5F4FA"/>
            </a:solidFill>
            <a:ln w="14288" cap="sq">
              <a:solidFill>
                <a:srgbClr val="E1DFEB"/>
              </a:solidFill>
              <a:prstDash val="solid"/>
              <a:miter/>
            </a:ln>
          </p:spPr>
        </p:sp>
      </p:grpSp>
      <p:sp>
        <p:nvSpPr>
          <p:cNvPr name="TextBox 12" id="12"/>
          <p:cNvSpPr txBox="true"/>
          <p:nvPr/>
        </p:nvSpPr>
        <p:spPr>
          <a:xfrm rot="0">
            <a:off x="5522976" y="2350008"/>
            <a:ext cx="3150108" cy="649224"/>
          </a:xfrm>
          <a:prstGeom prst="rect">
            <a:avLst/>
          </a:prstGeom>
        </p:spPr>
        <p:txBody>
          <a:bodyPr anchor="t" rtlCol="false" tIns="0" lIns="0" bIns="0" rIns="0">
            <a:spAutoFit/>
          </a:bodyPr>
          <a:lstStyle/>
          <a:p>
            <a:pPr algn="ctr">
              <a:lnSpc>
                <a:spcPts val="3960"/>
              </a:lnSpc>
            </a:pPr>
            <a:r>
              <a:rPr lang="en-US" sz="3300" b="true">
                <a:solidFill>
                  <a:srgbClr val="3F5DD3"/>
                </a:solidFill>
                <a:latin typeface="Aptos Bold"/>
                <a:ea typeface="Aptos Bold"/>
                <a:cs typeface="Aptos Bold"/>
                <a:sym typeface="Aptos Bold"/>
              </a:rPr>
              <a:t>12</a:t>
            </a:r>
          </a:p>
        </p:txBody>
      </p:sp>
      <p:sp>
        <p:nvSpPr>
          <p:cNvPr name="TextBox 13" id="13"/>
          <p:cNvSpPr txBox="true"/>
          <p:nvPr/>
        </p:nvSpPr>
        <p:spPr>
          <a:xfrm rot="0">
            <a:off x="5522976" y="2998851"/>
            <a:ext cx="3150108" cy="384429"/>
          </a:xfrm>
          <a:prstGeom prst="rect">
            <a:avLst/>
          </a:prstGeom>
        </p:spPr>
        <p:txBody>
          <a:bodyPr anchor="t" rtlCol="false" tIns="0" lIns="0" bIns="0" rIns="0">
            <a:spAutoFit/>
          </a:bodyPr>
          <a:lstStyle/>
          <a:p>
            <a:pPr algn="ctr">
              <a:lnSpc>
                <a:spcPts val="1620"/>
              </a:lnSpc>
            </a:pPr>
            <a:r>
              <a:rPr lang="en-US" sz="1350" b="true">
                <a:solidFill>
                  <a:srgbClr val="5C5C70"/>
                </a:solidFill>
                <a:latin typeface="Aptos Bold"/>
                <a:ea typeface="Aptos Bold"/>
                <a:cs typeface="Aptos Bold"/>
                <a:sym typeface="Aptos Bold"/>
              </a:rPr>
              <a:t>EXECUTABLE TOOLS</a:t>
            </a:r>
          </a:p>
        </p:txBody>
      </p:sp>
      <p:grpSp>
        <p:nvGrpSpPr>
          <p:cNvPr name="Group 14" id="14"/>
          <p:cNvGrpSpPr/>
          <p:nvPr/>
        </p:nvGrpSpPr>
        <p:grpSpPr>
          <a:xfrm rot="0">
            <a:off x="9388316" y="2118836"/>
            <a:ext cx="3649028" cy="1728788"/>
            <a:chOff x="0" y="0"/>
            <a:chExt cx="4865370" cy="2305050"/>
          </a:xfrm>
        </p:grpSpPr>
        <p:sp>
          <p:nvSpPr>
            <p:cNvPr name="Freeform 15" id="15"/>
            <p:cNvSpPr/>
            <p:nvPr/>
          </p:nvSpPr>
          <p:spPr>
            <a:xfrm flipH="false" flipV="false" rot="0">
              <a:off x="0" y="0"/>
              <a:ext cx="4865370" cy="2305050"/>
            </a:xfrm>
            <a:custGeom>
              <a:avLst/>
              <a:gdLst/>
              <a:ahLst/>
              <a:cxnLst/>
              <a:rect r="r" b="b" t="t" l="l"/>
              <a:pathLst>
                <a:path h="2305050" w="4865370">
                  <a:moveTo>
                    <a:pt x="0" y="384175"/>
                  </a:moveTo>
                  <a:cubicBezTo>
                    <a:pt x="0" y="171958"/>
                    <a:pt x="171958" y="0"/>
                    <a:pt x="384175" y="0"/>
                  </a:cubicBezTo>
                  <a:lnTo>
                    <a:pt x="4481195" y="0"/>
                  </a:lnTo>
                  <a:cubicBezTo>
                    <a:pt x="4693412" y="0"/>
                    <a:pt x="4865370" y="171958"/>
                    <a:pt x="4865370" y="384175"/>
                  </a:cubicBezTo>
                  <a:lnTo>
                    <a:pt x="4865370" y="1920875"/>
                  </a:lnTo>
                  <a:cubicBezTo>
                    <a:pt x="4865370" y="2133092"/>
                    <a:pt x="4693412" y="2305050"/>
                    <a:pt x="4481195" y="2305050"/>
                  </a:cubicBezTo>
                  <a:lnTo>
                    <a:pt x="384175" y="2305050"/>
                  </a:lnTo>
                  <a:cubicBezTo>
                    <a:pt x="171958" y="2305050"/>
                    <a:pt x="0" y="2133092"/>
                    <a:pt x="0" y="1920875"/>
                  </a:cubicBezTo>
                  <a:close/>
                </a:path>
              </a:pathLst>
            </a:custGeom>
            <a:solidFill>
              <a:srgbClr val="F5F4FA"/>
            </a:solidFill>
            <a:ln w="14288" cap="sq">
              <a:solidFill>
                <a:srgbClr val="E1DFEB"/>
              </a:solidFill>
              <a:prstDash val="solid"/>
              <a:miter/>
            </a:ln>
          </p:spPr>
        </p:sp>
      </p:grpSp>
      <p:sp>
        <p:nvSpPr>
          <p:cNvPr name="TextBox 16" id="16"/>
          <p:cNvSpPr txBox="true"/>
          <p:nvPr/>
        </p:nvSpPr>
        <p:spPr>
          <a:xfrm rot="0">
            <a:off x="9637776" y="2350008"/>
            <a:ext cx="3150108" cy="649224"/>
          </a:xfrm>
          <a:prstGeom prst="rect">
            <a:avLst/>
          </a:prstGeom>
        </p:spPr>
        <p:txBody>
          <a:bodyPr anchor="t" rtlCol="false" tIns="0" lIns="0" bIns="0" rIns="0">
            <a:spAutoFit/>
          </a:bodyPr>
          <a:lstStyle/>
          <a:p>
            <a:pPr algn="ctr">
              <a:lnSpc>
                <a:spcPts val="3960"/>
              </a:lnSpc>
            </a:pPr>
            <a:r>
              <a:rPr lang="en-US" sz="3300" b="true">
                <a:solidFill>
                  <a:srgbClr val="47BEB5"/>
                </a:solidFill>
                <a:latin typeface="Aptos Bold"/>
                <a:ea typeface="Aptos Bold"/>
                <a:cs typeface="Aptos Bold"/>
                <a:sym typeface="Aptos Bold"/>
              </a:rPr>
              <a:t>101</a:t>
            </a:r>
          </a:p>
        </p:txBody>
      </p:sp>
      <p:sp>
        <p:nvSpPr>
          <p:cNvPr name="TextBox 17" id="17"/>
          <p:cNvSpPr txBox="true"/>
          <p:nvPr/>
        </p:nvSpPr>
        <p:spPr>
          <a:xfrm rot="0">
            <a:off x="9637776" y="2998851"/>
            <a:ext cx="3150108" cy="384429"/>
          </a:xfrm>
          <a:prstGeom prst="rect">
            <a:avLst/>
          </a:prstGeom>
        </p:spPr>
        <p:txBody>
          <a:bodyPr anchor="t" rtlCol="false" tIns="0" lIns="0" bIns="0" rIns="0">
            <a:spAutoFit/>
          </a:bodyPr>
          <a:lstStyle/>
          <a:p>
            <a:pPr algn="ctr">
              <a:lnSpc>
                <a:spcPts val="1620"/>
              </a:lnSpc>
            </a:pPr>
            <a:r>
              <a:rPr lang="en-US" sz="1350" b="true">
                <a:solidFill>
                  <a:srgbClr val="5C5C70"/>
                </a:solidFill>
                <a:latin typeface="Aptos Bold"/>
                <a:ea typeface="Aptos Bold"/>
                <a:cs typeface="Aptos Bold"/>
                <a:sym typeface="Aptos Bold"/>
              </a:rPr>
              <a:t>FDB-v3 SCENARIOS</a:t>
            </a:r>
          </a:p>
        </p:txBody>
      </p:sp>
      <p:grpSp>
        <p:nvGrpSpPr>
          <p:cNvPr name="Group 18" id="18"/>
          <p:cNvGrpSpPr/>
          <p:nvPr/>
        </p:nvGrpSpPr>
        <p:grpSpPr>
          <a:xfrm rot="0">
            <a:off x="13503116" y="2118836"/>
            <a:ext cx="3649028" cy="1728788"/>
            <a:chOff x="0" y="0"/>
            <a:chExt cx="4865370" cy="2305050"/>
          </a:xfrm>
        </p:grpSpPr>
        <p:sp>
          <p:nvSpPr>
            <p:cNvPr name="Freeform 19" id="19"/>
            <p:cNvSpPr/>
            <p:nvPr/>
          </p:nvSpPr>
          <p:spPr>
            <a:xfrm flipH="false" flipV="false" rot="0">
              <a:off x="0" y="0"/>
              <a:ext cx="4865370" cy="2305050"/>
            </a:xfrm>
            <a:custGeom>
              <a:avLst/>
              <a:gdLst/>
              <a:ahLst/>
              <a:cxnLst/>
              <a:rect r="r" b="b" t="t" l="l"/>
              <a:pathLst>
                <a:path h="2305050" w="4865370">
                  <a:moveTo>
                    <a:pt x="0" y="384175"/>
                  </a:moveTo>
                  <a:cubicBezTo>
                    <a:pt x="0" y="171958"/>
                    <a:pt x="171958" y="0"/>
                    <a:pt x="384175" y="0"/>
                  </a:cubicBezTo>
                  <a:lnTo>
                    <a:pt x="4481195" y="0"/>
                  </a:lnTo>
                  <a:cubicBezTo>
                    <a:pt x="4693412" y="0"/>
                    <a:pt x="4865370" y="171958"/>
                    <a:pt x="4865370" y="384175"/>
                  </a:cubicBezTo>
                  <a:lnTo>
                    <a:pt x="4865370" y="1920875"/>
                  </a:lnTo>
                  <a:cubicBezTo>
                    <a:pt x="4865370" y="2133092"/>
                    <a:pt x="4693412" y="2305050"/>
                    <a:pt x="4481195" y="2305050"/>
                  </a:cubicBezTo>
                  <a:lnTo>
                    <a:pt x="384175" y="2305050"/>
                  </a:lnTo>
                  <a:cubicBezTo>
                    <a:pt x="171958" y="2305050"/>
                    <a:pt x="0" y="2133092"/>
                    <a:pt x="0" y="1920875"/>
                  </a:cubicBezTo>
                  <a:close/>
                </a:path>
              </a:pathLst>
            </a:custGeom>
            <a:solidFill>
              <a:srgbClr val="F5F4FA"/>
            </a:solidFill>
            <a:ln w="14288" cap="sq">
              <a:solidFill>
                <a:srgbClr val="E1DFEB"/>
              </a:solidFill>
              <a:prstDash val="solid"/>
              <a:miter/>
            </a:ln>
          </p:spPr>
        </p:sp>
      </p:grpSp>
      <p:sp>
        <p:nvSpPr>
          <p:cNvPr name="TextBox 20" id="20"/>
          <p:cNvSpPr txBox="true"/>
          <p:nvPr/>
        </p:nvSpPr>
        <p:spPr>
          <a:xfrm rot="0">
            <a:off x="13752576" y="2350008"/>
            <a:ext cx="3150108" cy="649224"/>
          </a:xfrm>
          <a:prstGeom prst="rect">
            <a:avLst/>
          </a:prstGeom>
        </p:spPr>
        <p:txBody>
          <a:bodyPr anchor="t" rtlCol="false" tIns="0" lIns="0" bIns="0" rIns="0">
            <a:spAutoFit/>
          </a:bodyPr>
          <a:lstStyle/>
          <a:p>
            <a:pPr algn="ctr">
              <a:lnSpc>
                <a:spcPts val="3960"/>
              </a:lnSpc>
            </a:pPr>
            <a:r>
              <a:rPr lang="en-US" sz="3300" b="true">
                <a:solidFill>
                  <a:srgbClr val="EB8741"/>
                </a:solidFill>
                <a:latin typeface="Aptos Bold"/>
                <a:ea typeface="Aptos Bold"/>
                <a:cs typeface="Aptos Bold"/>
                <a:sym typeface="Aptos Bold"/>
              </a:rPr>
              <a:t>SUB-SECOND</a:t>
            </a:r>
          </a:p>
        </p:txBody>
      </p:sp>
      <p:sp>
        <p:nvSpPr>
          <p:cNvPr name="TextBox 21" id="21"/>
          <p:cNvSpPr txBox="true"/>
          <p:nvPr/>
        </p:nvSpPr>
        <p:spPr>
          <a:xfrm rot="0">
            <a:off x="13752576" y="2998851"/>
            <a:ext cx="3150108" cy="384429"/>
          </a:xfrm>
          <a:prstGeom prst="rect">
            <a:avLst/>
          </a:prstGeom>
        </p:spPr>
        <p:txBody>
          <a:bodyPr anchor="t" rtlCol="false" tIns="0" lIns="0" bIns="0" rIns="0">
            <a:spAutoFit/>
          </a:bodyPr>
          <a:lstStyle/>
          <a:p>
            <a:pPr algn="ctr">
              <a:lnSpc>
                <a:spcPts val="1620"/>
              </a:lnSpc>
            </a:pPr>
            <a:r>
              <a:rPr lang="en-US" sz="1350" b="true">
                <a:solidFill>
                  <a:srgbClr val="5C5C70"/>
                </a:solidFill>
                <a:latin typeface="Aptos Bold"/>
                <a:ea typeface="Aptos Bold"/>
                <a:cs typeface="Aptos Bold"/>
                <a:sym typeface="Aptos Bold"/>
              </a:rPr>
              <a:t>TARGET EXPERIENCE</a:t>
            </a:r>
          </a:p>
        </p:txBody>
      </p:sp>
      <p:grpSp>
        <p:nvGrpSpPr>
          <p:cNvPr name="Group 22" id="22"/>
          <p:cNvGrpSpPr/>
          <p:nvPr/>
        </p:nvGrpSpPr>
        <p:grpSpPr>
          <a:xfrm rot="0">
            <a:off x="1224915" y="4448175"/>
            <a:ext cx="7631430" cy="1596390"/>
            <a:chOff x="0" y="0"/>
            <a:chExt cx="10175240" cy="2128520"/>
          </a:xfrm>
        </p:grpSpPr>
        <p:sp>
          <p:nvSpPr>
            <p:cNvPr name="Freeform 23" id="23"/>
            <p:cNvSpPr/>
            <p:nvPr/>
          </p:nvSpPr>
          <p:spPr>
            <a:xfrm flipH="false" flipV="false" rot="0">
              <a:off x="0" y="0"/>
              <a:ext cx="10175240" cy="2128520"/>
            </a:xfrm>
            <a:custGeom>
              <a:avLst/>
              <a:gdLst/>
              <a:ahLst/>
              <a:cxnLst/>
              <a:rect r="r" b="b" t="t" l="l"/>
              <a:pathLst>
                <a:path h="2128520" w="10175240">
                  <a:moveTo>
                    <a:pt x="0" y="354711"/>
                  </a:moveTo>
                  <a:cubicBezTo>
                    <a:pt x="0" y="158877"/>
                    <a:pt x="158877" y="0"/>
                    <a:pt x="354711" y="0"/>
                  </a:cubicBezTo>
                  <a:lnTo>
                    <a:pt x="9820529" y="0"/>
                  </a:lnTo>
                  <a:cubicBezTo>
                    <a:pt x="10016490" y="0"/>
                    <a:pt x="10175240" y="158877"/>
                    <a:pt x="10175240" y="354711"/>
                  </a:cubicBezTo>
                  <a:lnTo>
                    <a:pt x="10175240" y="1773809"/>
                  </a:lnTo>
                  <a:cubicBezTo>
                    <a:pt x="10175240" y="1969770"/>
                    <a:pt x="10016363" y="2128520"/>
                    <a:pt x="9820529" y="2128520"/>
                  </a:cubicBezTo>
                  <a:lnTo>
                    <a:pt x="354711" y="2128520"/>
                  </a:lnTo>
                  <a:cubicBezTo>
                    <a:pt x="158877" y="2128520"/>
                    <a:pt x="0" y="1969643"/>
                    <a:pt x="0" y="1773809"/>
                  </a:cubicBezTo>
                  <a:close/>
                </a:path>
              </a:pathLst>
            </a:custGeom>
            <a:solidFill>
              <a:srgbClr val="F5F4FA"/>
            </a:solidFill>
            <a:ln w="19050" cap="sq">
              <a:solidFill>
                <a:srgbClr val="E1DFEB"/>
              </a:solidFill>
              <a:prstDash val="solid"/>
              <a:miter/>
            </a:ln>
          </p:spPr>
        </p:sp>
      </p:grpSp>
      <p:grpSp>
        <p:nvGrpSpPr>
          <p:cNvPr name="Group 24" id="24"/>
          <p:cNvGrpSpPr/>
          <p:nvPr/>
        </p:nvGrpSpPr>
        <p:grpSpPr>
          <a:xfrm rot="0">
            <a:off x="1234440" y="4457700"/>
            <a:ext cx="96012" cy="1577340"/>
            <a:chOff x="0" y="0"/>
            <a:chExt cx="128016" cy="2103120"/>
          </a:xfrm>
        </p:grpSpPr>
        <p:sp>
          <p:nvSpPr>
            <p:cNvPr name="Freeform 25" id="25"/>
            <p:cNvSpPr/>
            <p:nvPr/>
          </p:nvSpPr>
          <p:spPr>
            <a:xfrm flipH="false" flipV="false" rot="0">
              <a:off x="0" y="0"/>
              <a:ext cx="128016" cy="2103120"/>
            </a:xfrm>
            <a:custGeom>
              <a:avLst/>
              <a:gdLst/>
              <a:ahLst/>
              <a:cxnLst/>
              <a:rect r="r" b="b" t="t" l="l"/>
              <a:pathLst>
                <a:path h="2103120" w="128016">
                  <a:moveTo>
                    <a:pt x="0" y="0"/>
                  </a:moveTo>
                  <a:lnTo>
                    <a:pt x="128016" y="0"/>
                  </a:lnTo>
                  <a:lnTo>
                    <a:pt x="128016" y="2103120"/>
                  </a:lnTo>
                  <a:lnTo>
                    <a:pt x="0" y="2103120"/>
                  </a:lnTo>
                  <a:close/>
                </a:path>
              </a:pathLst>
            </a:custGeom>
            <a:solidFill>
              <a:srgbClr val="6C2FDB"/>
            </a:solidFill>
          </p:spPr>
        </p:sp>
      </p:grpSp>
      <p:sp>
        <p:nvSpPr>
          <p:cNvPr name="TextBox 26" id="26"/>
          <p:cNvSpPr txBox="true"/>
          <p:nvPr/>
        </p:nvSpPr>
        <p:spPr>
          <a:xfrm rot="0">
            <a:off x="1517904" y="4644771"/>
            <a:ext cx="71551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E-Commerce</a:t>
            </a:r>
          </a:p>
        </p:txBody>
      </p:sp>
      <p:sp>
        <p:nvSpPr>
          <p:cNvPr name="TextBox 27" id="27"/>
          <p:cNvSpPr txBox="true"/>
          <p:nvPr/>
        </p:nvSpPr>
        <p:spPr>
          <a:xfrm rot="0">
            <a:off x="1517904" y="5134356"/>
            <a:ext cx="7155180" cy="77266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Order tracking, product discovery, cart updates</a:t>
            </a:r>
          </a:p>
        </p:txBody>
      </p:sp>
      <p:grpSp>
        <p:nvGrpSpPr>
          <p:cNvPr name="Group 28" id="28"/>
          <p:cNvGrpSpPr/>
          <p:nvPr/>
        </p:nvGrpSpPr>
        <p:grpSpPr>
          <a:xfrm rot="0">
            <a:off x="9454515" y="4448175"/>
            <a:ext cx="7631430" cy="1596390"/>
            <a:chOff x="0" y="0"/>
            <a:chExt cx="10175240" cy="2128520"/>
          </a:xfrm>
        </p:grpSpPr>
        <p:sp>
          <p:nvSpPr>
            <p:cNvPr name="Freeform 29" id="29"/>
            <p:cNvSpPr/>
            <p:nvPr/>
          </p:nvSpPr>
          <p:spPr>
            <a:xfrm flipH="false" flipV="false" rot="0">
              <a:off x="0" y="0"/>
              <a:ext cx="10175240" cy="2128520"/>
            </a:xfrm>
            <a:custGeom>
              <a:avLst/>
              <a:gdLst/>
              <a:ahLst/>
              <a:cxnLst/>
              <a:rect r="r" b="b" t="t" l="l"/>
              <a:pathLst>
                <a:path h="2128520" w="10175240">
                  <a:moveTo>
                    <a:pt x="0" y="354711"/>
                  </a:moveTo>
                  <a:cubicBezTo>
                    <a:pt x="0" y="158877"/>
                    <a:pt x="158877" y="0"/>
                    <a:pt x="354711" y="0"/>
                  </a:cubicBezTo>
                  <a:lnTo>
                    <a:pt x="9820529" y="0"/>
                  </a:lnTo>
                  <a:cubicBezTo>
                    <a:pt x="10016490" y="0"/>
                    <a:pt x="10175240" y="158877"/>
                    <a:pt x="10175240" y="354711"/>
                  </a:cubicBezTo>
                  <a:lnTo>
                    <a:pt x="10175240" y="1773809"/>
                  </a:lnTo>
                  <a:cubicBezTo>
                    <a:pt x="10175240" y="1969770"/>
                    <a:pt x="10016363" y="2128520"/>
                    <a:pt x="9820529" y="2128520"/>
                  </a:cubicBezTo>
                  <a:lnTo>
                    <a:pt x="354711" y="2128520"/>
                  </a:lnTo>
                  <a:cubicBezTo>
                    <a:pt x="158877" y="2128520"/>
                    <a:pt x="0" y="1969643"/>
                    <a:pt x="0" y="1773809"/>
                  </a:cubicBezTo>
                  <a:close/>
                </a:path>
              </a:pathLst>
            </a:custGeom>
            <a:solidFill>
              <a:srgbClr val="EEF7F8"/>
            </a:solidFill>
            <a:ln w="19050" cap="sq">
              <a:solidFill>
                <a:srgbClr val="E1DFEB"/>
              </a:solidFill>
              <a:prstDash val="solid"/>
              <a:miter/>
            </a:ln>
          </p:spPr>
        </p:sp>
      </p:grpSp>
      <p:grpSp>
        <p:nvGrpSpPr>
          <p:cNvPr name="Group 30" id="30"/>
          <p:cNvGrpSpPr/>
          <p:nvPr/>
        </p:nvGrpSpPr>
        <p:grpSpPr>
          <a:xfrm rot="0">
            <a:off x="9464040" y="4457700"/>
            <a:ext cx="96012" cy="1577340"/>
            <a:chOff x="0" y="0"/>
            <a:chExt cx="128016" cy="2103120"/>
          </a:xfrm>
        </p:grpSpPr>
        <p:sp>
          <p:nvSpPr>
            <p:cNvPr name="Freeform 31" id="31"/>
            <p:cNvSpPr/>
            <p:nvPr/>
          </p:nvSpPr>
          <p:spPr>
            <a:xfrm flipH="false" flipV="false" rot="0">
              <a:off x="0" y="0"/>
              <a:ext cx="128016" cy="2103120"/>
            </a:xfrm>
            <a:custGeom>
              <a:avLst/>
              <a:gdLst/>
              <a:ahLst/>
              <a:cxnLst/>
              <a:rect r="r" b="b" t="t" l="l"/>
              <a:pathLst>
                <a:path h="2103120" w="128016">
                  <a:moveTo>
                    <a:pt x="0" y="0"/>
                  </a:moveTo>
                  <a:lnTo>
                    <a:pt x="128016" y="0"/>
                  </a:lnTo>
                  <a:lnTo>
                    <a:pt x="128016" y="2103120"/>
                  </a:lnTo>
                  <a:lnTo>
                    <a:pt x="0" y="2103120"/>
                  </a:lnTo>
                  <a:close/>
                </a:path>
              </a:pathLst>
            </a:custGeom>
            <a:solidFill>
              <a:srgbClr val="3F5DD3"/>
            </a:solidFill>
          </p:spPr>
        </p:sp>
      </p:grpSp>
      <p:sp>
        <p:nvSpPr>
          <p:cNvPr name="TextBox 32" id="32"/>
          <p:cNvSpPr txBox="true"/>
          <p:nvPr/>
        </p:nvSpPr>
        <p:spPr>
          <a:xfrm rot="0">
            <a:off x="9747504" y="4644771"/>
            <a:ext cx="71551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Travel &amp; Identity</a:t>
            </a:r>
          </a:p>
        </p:txBody>
      </p:sp>
      <p:sp>
        <p:nvSpPr>
          <p:cNvPr name="TextBox 33" id="33"/>
          <p:cNvSpPr txBox="true"/>
          <p:nvPr/>
        </p:nvSpPr>
        <p:spPr>
          <a:xfrm rot="0">
            <a:off x="9747504" y="5134356"/>
            <a:ext cx="7155180" cy="77266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Flight search/booking, identity document updates</a:t>
            </a:r>
          </a:p>
        </p:txBody>
      </p:sp>
      <p:grpSp>
        <p:nvGrpSpPr>
          <p:cNvPr name="Group 34" id="34"/>
          <p:cNvGrpSpPr/>
          <p:nvPr/>
        </p:nvGrpSpPr>
        <p:grpSpPr>
          <a:xfrm rot="0">
            <a:off x="1224915" y="6436995"/>
            <a:ext cx="7631430" cy="1596390"/>
            <a:chOff x="0" y="0"/>
            <a:chExt cx="10175240" cy="2128520"/>
          </a:xfrm>
        </p:grpSpPr>
        <p:sp>
          <p:nvSpPr>
            <p:cNvPr name="Freeform 35" id="35"/>
            <p:cNvSpPr/>
            <p:nvPr/>
          </p:nvSpPr>
          <p:spPr>
            <a:xfrm flipH="false" flipV="false" rot="0">
              <a:off x="0" y="0"/>
              <a:ext cx="10175240" cy="2128520"/>
            </a:xfrm>
            <a:custGeom>
              <a:avLst/>
              <a:gdLst/>
              <a:ahLst/>
              <a:cxnLst/>
              <a:rect r="r" b="b" t="t" l="l"/>
              <a:pathLst>
                <a:path h="2128520" w="10175240">
                  <a:moveTo>
                    <a:pt x="0" y="354711"/>
                  </a:moveTo>
                  <a:cubicBezTo>
                    <a:pt x="0" y="158877"/>
                    <a:pt x="158877" y="0"/>
                    <a:pt x="354711" y="0"/>
                  </a:cubicBezTo>
                  <a:lnTo>
                    <a:pt x="9820529" y="0"/>
                  </a:lnTo>
                  <a:cubicBezTo>
                    <a:pt x="10016490" y="0"/>
                    <a:pt x="10175240" y="158877"/>
                    <a:pt x="10175240" y="354711"/>
                  </a:cubicBezTo>
                  <a:lnTo>
                    <a:pt x="10175240" y="1773809"/>
                  </a:lnTo>
                  <a:cubicBezTo>
                    <a:pt x="10175240" y="1969770"/>
                    <a:pt x="10016363" y="2128520"/>
                    <a:pt x="9820529" y="2128520"/>
                  </a:cubicBezTo>
                  <a:lnTo>
                    <a:pt x="354711" y="2128520"/>
                  </a:lnTo>
                  <a:cubicBezTo>
                    <a:pt x="158877" y="2128520"/>
                    <a:pt x="0" y="1969643"/>
                    <a:pt x="0" y="1773809"/>
                  </a:cubicBezTo>
                  <a:close/>
                </a:path>
              </a:pathLst>
            </a:custGeom>
            <a:solidFill>
              <a:srgbClr val="F5F4FA"/>
            </a:solidFill>
            <a:ln w="19050" cap="sq">
              <a:solidFill>
                <a:srgbClr val="E1DFEB"/>
              </a:solidFill>
              <a:prstDash val="solid"/>
              <a:miter/>
            </a:ln>
          </p:spPr>
        </p:sp>
      </p:grpSp>
      <p:grpSp>
        <p:nvGrpSpPr>
          <p:cNvPr name="Group 36" id="36"/>
          <p:cNvGrpSpPr/>
          <p:nvPr/>
        </p:nvGrpSpPr>
        <p:grpSpPr>
          <a:xfrm rot="0">
            <a:off x="1234440" y="6446520"/>
            <a:ext cx="96012" cy="1577340"/>
            <a:chOff x="0" y="0"/>
            <a:chExt cx="128016" cy="2103120"/>
          </a:xfrm>
        </p:grpSpPr>
        <p:sp>
          <p:nvSpPr>
            <p:cNvPr name="Freeform 37" id="37"/>
            <p:cNvSpPr/>
            <p:nvPr/>
          </p:nvSpPr>
          <p:spPr>
            <a:xfrm flipH="false" flipV="false" rot="0">
              <a:off x="0" y="0"/>
              <a:ext cx="128016" cy="2103120"/>
            </a:xfrm>
            <a:custGeom>
              <a:avLst/>
              <a:gdLst/>
              <a:ahLst/>
              <a:cxnLst/>
              <a:rect r="r" b="b" t="t" l="l"/>
              <a:pathLst>
                <a:path h="2103120" w="128016">
                  <a:moveTo>
                    <a:pt x="0" y="0"/>
                  </a:moveTo>
                  <a:lnTo>
                    <a:pt x="128016" y="0"/>
                  </a:lnTo>
                  <a:lnTo>
                    <a:pt x="128016" y="2103120"/>
                  </a:lnTo>
                  <a:lnTo>
                    <a:pt x="0" y="2103120"/>
                  </a:lnTo>
                  <a:close/>
                </a:path>
              </a:pathLst>
            </a:custGeom>
            <a:solidFill>
              <a:srgbClr val="47BEB5"/>
            </a:solidFill>
          </p:spPr>
        </p:sp>
      </p:grpSp>
      <p:sp>
        <p:nvSpPr>
          <p:cNvPr name="TextBox 38" id="38"/>
          <p:cNvSpPr txBox="true"/>
          <p:nvPr/>
        </p:nvSpPr>
        <p:spPr>
          <a:xfrm rot="0">
            <a:off x="1517904" y="6633591"/>
            <a:ext cx="71551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Finance &amp; Billing</a:t>
            </a:r>
          </a:p>
        </p:txBody>
      </p:sp>
      <p:sp>
        <p:nvSpPr>
          <p:cNvPr name="TextBox 39" id="39"/>
          <p:cNvSpPr txBox="true"/>
          <p:nvPr/>
        </p:nvSpPr>
        <p:spPr>
          <a:xfrm rot="0">
            <a:off x="1517904" y="7123176"/>
            <a:ext cx="7155180" cy="77266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Benefits, currency conversion, autopay changes</a:t>
            </a:r>
          </a:p>
        </p:txBody>
      </p:sp>
      <p:grpSp>
        <p:nvGrpSpPr>
          <p:cNvPr name="Group 40" id="40"/>
          <p:cNvGrpSpPr/>
          <p:nvPr/>
        </p:nvGrpSpPr>
        <p:grpSpPr>
          <a:xfrm rot="0">
            <a:off x="9454515" y="6436995"/>
            <a:ext cx="7631430" cy="1596390"/>
            <a:chOff x="0" y="0"/>
            <a:chExt cx="10175240" cy="2128520"/>
          </a:xfrm>
        </p:grpSpPr>
        <p:sp>
          <p:nvSpPr>
            <p:cNvPr name="Freeform 41" id="41"/>
            <p:cNvSpPr/>
            <p:nvPr/>
          </p:nvSpPr>
          <p:spPr>
            <a:xfrm flipH="false" flipV="false" rot="0">
              <a:off x="0" y="0"/>
              <a:ext cx="10175240" cy="2128520"/>
            </a:xfrm>
            <a:custGeom>
              <a:avLst/>
              <a:gdLst/>
              <a:ahLst/>
              <a:cxnLst/>
              <a:rect r="r" b="b" t="t" l="l"/>
              <a:pathLst>
                <a:path h="2128520" w="10175240">
                  <a:moveTo>
                    <a:pt x="0" y="354711"/>
                  </a:moveTo>
                  <a:cubicBezTo>
                    <a:pt x="0" y="158877"/>
                    <a:pt x="158877" y="0"/>
                    <a:pt x="354711" y="0"/>
                  </a:cubicBezTo>
                  <a:lnTo>
                    <a:pt x="9820529" y="0"/>
                  </a:lnTo>
                  <a:cubicBezTo>
                    <a:pt x="10016490" y="0"/>
                    <a:pt x="10175240" y="158877"/>
                    <a:pt x="10175240" y="354711"/>
                  </a:cubicBezTo>
                  <a:lnTo>
                    <a:pt x="10175240" y="1773809"/>
                  </a:lnTo>
                  <a:cubicBezTo>
                    <a:pt x="10175240" y="1969770"/>
                    <a:pt x="10016363" y="2128520"/>
                    <a:pt x="9820529" y="2128520"/>
                  </a:cubicBezTo>
                  <a:lnTo>
                    <a:pt x="354711" y="2128520"/>
                  </a:lnTo>
                  <a:cubicBezTo>
                    <a:pt x="158877" y="2128520"/>
                    <a:pt x="0" y="1969643"/>
                    <a:pt x="0" y="1773809"/>
                  </a:cubicBezTo>
                  <a:close/>
                </a:path>
              </a:pathLst>
            </a:custGeom>
            <a:solidFill>
              <a:srgbClr val="EEF7F8"/>
            </a:solidFill>
            <a:ln w="19050" cap="sq">
              <a:solidFill>
                <a:srgbClr val="E1DFEB"/>
              </a:solidFill>
              <a:prstDash val="solid"/>
              <a:miter/>
            </a:ln>
          </p:spPr>
        </p:sp>
      </p:grpSp>
      <p:grpSp>
        <p:nvGrpSpPr>
          <p:cNvPr name="Group 42" id="42"/>
          <p:cNvGrpSpPr/>
          <p:nvPr/>
        </p:nvGrpSpPr>
        <p:grpSpPr>
          <a:xfrm rot="0">
            <a:off x="9464040" y="6446520"/>
            <a:ext cx="96012" cy="1577340"/>
            <a:chOff x="0" y="0"/>
            <a:chExt cx="128016" cy="2103120"/>
          </a:xfrm>
        </p:grpSpPr>
        <p:sp>
          <p:nvSpPr>
            <p:cNvPr name="Freeform 43" id="43"/>
            <p:cNvSpPr/>
            <p:nvPr/>
          </p:nvSpPr>
          <p:spPr>
            <a:xfrm flipH="false" flipV="false" rot="0">
              <a:off x="0" y="0"/>
              <a:ext cx="128016" cy="2103120"/>
            </a:xfrm>
            <a:custGeom>
              <a:avLst/>
              <a:gdLst/>
              <a:ahLst/>
              <a:cxnLst/>
              <a:rect r="r" b="b" t="t" l="l"/>
              <a:pathLst>
                <a:path h="2103120" w="128016">
                  <a:moveTo>
                    <a:pt x="0" y="0"/>
                  </a:moveTo>
                  <a:lnTo>
                    <a:pt x="128016" y="0"/>
                  </a:lnTo>
                  <a:lnTo>
                    <a:pt x="128016" y="2103120"/>
                  </a:lnTo>
                  <a:lnTo>
                    <a:pt x="0" y="2103120"/>
                  </a:lnTo>
                  <a:close/>
                </a:path>
              </a:pathLst>
            </a:custGeom>
            <a:solidFill>
              <a:srgbClr val="EB8741"/>
            </a:solidFill>
          </p:spPr>
        </p:sp>
      </p:grpSp>
      <p:sp>
        <p:nvSpPr>
          <p:cNvPr name="TextBox 44" id="44"/>
          <p:cNvSpPr txBox="true"/>
          <p:nvPr/>
        </p:nvSpPr>
        <p:spPr>
          <a:xfrm rot="0">
            <a:off x="9747504" y="6633591"/>
            <a:ext cx="71551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Housing &amp; Location</a:t>
            </a:r>
          </a:p>
        </p:txBody>
      </p:sp>
      <p:sp>
        <p:nvSpPr>
          <p:cNvPr name="TextBox 45" id="45"/>
          <p:cNvSpPr txBox="true"/>
          <p:nvPr/>
        </p:nvSpPr>
        <p:spPr>
          <a:xfrm rot="0">
            <a:off x="9747504" y="7123176"/>
            <a:ext cx="7155180" cy="77266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Apartment search, commute calculation, filters</a:t>
            </a:r>
          </a:p>
        </p:txBody>
      </p:sp>
      <p:sp>
        <p:nvSpPr>
          <p:cNvPr name="TextBox 46" id="46"/>
          <p:cNvSpPr txBox="true"/>
          <p:nvPr/>
        </p:nvSpPr>
        <p:spPr>
          <a:xfrm rot="0">
            <a:off x="1339596" y="8590788"/>
            <a:ext cx="15014448" cy="443484"/>
          </a:xfrm>
          <a:prstGeom prst="rect">
            <a:avLst/>
          </a:prstGeom>
        </p:spPr>
        <p:txBody>
          <a:bodyPr anchor="t" rtlCol="false" tIns="0" lIns="0" bIns="0" rIns="0">
            <a:spAutoFit/>
          </a:bodyPr>
          <a:lstStyle/>
          <a:p>
            <a:pPr algn="l">
              <a:lnSpc>
                <a:spcPts val="2340"/>
              </a:lnSpc>
            </a:pPr>
            <a:r>
              <a:rPr lang="en-US" sz="1950" b="true">
                <a:solidFill>
                  <a:srgbClr val="12122D"/>
                </a:solidFill>
                <a:latin typeface="Aptos Bold"/>
                <a:ea typeface="Aptos Bold"/>
                <a:cs typeface="Aptos Bold"/>
                <a:sym typeface="Aptos Bold"/>
              </a:rPr>
              <a:t>The same voice interface can move from “answering” to “doing” across multiple real-world workflows.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Innovation Highlights, Results &amp; Limitations</a:t>
            </a:r>
          </a:p>
        </p:txBody>
      </p:sp>
      <p:grpSp>
        <p:nvGrpSpPr>
          <p:cNvPr name="Group 3" id="3"/>
          <p:cNvGrpSpPr/>
          <p:nvPr/>
        </p:nvGrpSpPr>
        <p:grpSpPr>
          <a:xfrm rot="0">
            <a:off x="1289304" y="1289304"/>
            <a:ext cx="2468880" cy="466344"/>
            <a:chOff x="0" y="0"/>
            <a:chExt cx="3291840" cy="621792"/>
          </a:xfrm>
        </p:grpSpPr>
        <p:sp>
          <p:nvSpPr>
            <p:cNvPr name="Freeform 4" id="4"/>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5" id="5"/>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EVIDENCE + TRADE-OFFS</a:t>
              </a:r>
            </a:p>
          </p:txBody>
        </p:sp>
      </p:grpSp>
      <p:grpSp>
        <p:nvGrpSpPr>
          <p:cNvPr name="Group 6" id="6"/>
          <p:cNvGrpSpPr/>
          <p:nvPr/>
        </p:nvGrpSpPr>
        <p:grpSpPr>
          <a:xfrm rot="0">
            <a:off x="1224915" y="2047875"/>
            <a:ext cx="5025390" cy="1870710"/>
            <a:chOff x="0" y="0"/>
            <a:chExt cx="6700520" cy="2494280"/>
          </a:xfrm>
        </p:grpSpPr>
        <p:sp>
          <p:nvSpPr>
            <p:cNvPr name="Freeform 7" id="7"/>
            <p:cNvSpPr/>
            <p:nvPr/>
          </p:nvSpPr>
          <p:spPr>
            <a:xfrm flipH="false" flipV="false" rot="0">
              <a:off x="0" y="0"/>
              <a:ext cx="6700520" cy="2494280"/>
            </a:xfrm>
            <a:custGeom>
              <a:avLst/>
              <a:gdLst/>
              <a:ahLst/>
              <a:cxnLst/>
              <a:rect r="r" b="b" t="t" l="l"/>
              <a:pathLst>
                <a:path h="2494280" w="6700520">
                  <a:moveTo>
                    <a:pt x="0" y="415671"/>
                  </a:moveTo>
                  <a:cubicBezTo>
                    <a:pt x="0" y="186182"/>
                    <a:pt x="186182" y="0"/>
                    <a:pt x="415671" y="0"/>
                  </a:cubicBezTo>
                  <a:lnTo>
                    <a:pt x="6284849" y="0"/>
                  </a:lnTo>
                  <a:cubicBezTo>
                    <a:pt x="6514465" y="0"/>
                    <a:pt x="6700520" y="186182"/>
                    <a:pt x="6700520" y="415671"/>
                  </a:cubicBezTo>
                  <a:lnTo>
                    <a:pt x="6700520" y="2078609"/>
                  </a:lnTo>
                  <a:cubicBezTo>
                    <a:pt x="6700520" y="2308225"/>
                    <a:pt x="6514338" y="2494280"/>
                    <a:pt x="6284849" y="2494280"/>
                  </a:cubicBezTo>
                  <a:lnTo>
                    <a:pt x="415671" y="2494280"/>
                  </a:lnTo>
                  <a:cubicBezTo>
                    <a:pt x="186182" y="2494280"/>
                    <a:pt x="0" y="2308098"/>
                    <a:pt x="0" y="2078609"/>
                  </a:cubicBezTo>
                  <a:close/>
                </a:path>
              </a:pathLst>
            </a:custGeom>
            <a:solidFill>
              <a:srgbClr val="F5F4FA"/>
            </a:solidFill>
            <a:ln w="19050" cap="sq">
              <a:solidFill>
                <a:srgbClr val="E1DFEB"/>
              </a:solidFill>
              <a:prstDash val="solid"/>
              <a:miter/>
            </a:ln>
          </p:spPr>
        </p:sp>
      </p:grpSp>
      <p:grpSp>
        <p:nvGrpSpPr>
          <p:cNvPr name="Group 8" id="8"/>
          <p:cNvGrpSpPr/>
          <p:nvPr/>
        </p:nvGrpSpPr>
        <p:grpSpPr>
          <a:xfrm rot="0">
            <a:off x="1234440" y="2057400"/>
            <a:ext cx="96012" cy="1851660"/>
            <a:chOff x="0" y="0"/>
            <a:chExt cx="128016" cy="2468880"/>
          </a:xfrm>
        </p:grpSpPr>
        <p:sp>
          <p:nvSpPr>
            <p:cNvPr name="Freeform 9" id="9"/>
            <p:cNvSpPr/>
            <p:nvPr/>
          </p:nvSpPr>
          <p:spPr>
            <a:xfrm flipH="false" flipV="false" rot="0">
              <a:off x="0" y="0"/>
              <a:ext cx="128016" cy="2468880"/>
            </a:xfrm>
            <a:custGeom>
              <a:avLst/>
              <a:gdLst/>
              <a:ahLst/>
              <a:cxnLst/>
              <a:rect r="r" b="b" t="t" l="l"/>
              <a:pathLst>
                <a:path h="2468880" w="128016">
                  <a:moveTo>
                    <a:pt x="0" y="0"/>
                  </a:moveTo>
                  <a:lnTo>
                    <a:pt x="128016" y="0"/>
                  </a:lnTo>
                  <a:lnTo>
                    <a:pt x="128016" y="2468880"/>
                  </a:lnTo>
                  <a:lnTo>
                    <a:pt x="0" y="2468880"/>
                  </a:lnTo>
                  <a:close/>
                </a:path>
              </a:pathLst>
            </a:custGeom>
            <a:solidFill>
              <a:srgbClr val="6C2FDB"/>
            </a:solidFill>
          </p:spPr>
        </p:sp>
      </p:grpSp>
      <p:sp>
        <p:nvSpPr>
          <p:cNvPr name="TextBox 10" id="10"/>
          <p:cNvSpPr txBox="true"/>
          <p:nvPr/>
        </p:nvSpPr>
        <p:spPr>
          <a:xfrm rot="0">
            <a:off x="1517904" y="2244471"/>
            <a:ext cx="454914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Full-duplex interaction</a:t>
            </a:r>
          </a:p>
        </p:txBody>
      </p:sp>
      <p:sp>
        <p:nvSpPr>
          <p:cNvPr name="TextBox 11" id="11"/>
          <p:cNvSpPr txBox="true"/>
          <p:nvPr/>
        </p:nvSpPr>
        <p:spPr>
          <a:xfrm rot="0">
            <a:off x="1517904" y="2734056"/>
            <a:ext cx="4549140" cy="104698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Interruptions are first-class: speaking over the agent immediately changes the active turn.</a:t>
            </a:r>
          </a:p>
        </p:txBody>
      </p:sp>
      <p:grpSp>
        <p:nvGrpSpPr>
          <p:cNvPr name="Group 12" id="12"/>
          <p:cNvGrpSpPr/>
          <p:nvPr/>
        </p:nvGrpSpPr>
        <p:grpSpPr>
          <a:xfrm rot="0">
            <a:off x="1224915" y="4173855"/>
            <a:ext cx="5025390" cy="1870710"/>
            <a:chOff x="0" y="0"/>
            <a:chExt cx="6700520" cy="2494280"/>
          </a:xfrm>
        </p:grpSpPr>
        <p:sp>
          <p:nvSpPr>
            <p:cNvPr name="Freeform 13" id="13"/>
            <p:cNvSpPr/>
            <p:nvPr/>
          </p:nvSpPr>
          <p:spPr>
            <a:xfrm flipH="false" flipV="false" rot="0">
              <a:off x="0" y="0"/>
              <a:ext cx="6700520" cy="2494280"/>
            </a:xfrm>
            <a:custGeom>
              <a:avLst/>
              <a:gdLst/>
              <a:ahLst/>
              <a:cxnLst/>
              <a:rect r="r" b="b" t="t" l="l"/>
              <a:pathLst>
                <a:path h="2494280" w="6700520">
                  <a:moveTo>
                    <a:pt x="0" y="415671"/>
                  </a:moveTo>
                  <a:cubicBezTo>
                    <a:pt x="0" y="186182"/>
                    <a:pt x="186182" y="0"/>
                    <a:pt x="415671" y="0"/>
                  </a:cubicBezTo>
                  <a:lnTo>
                    <a:pt x="6284849" y="0"/>
                  </a:lnTo>
                  <a:cubicBezTo>
                    <a:pt x="6514465" y="0"/>
                    <a:pt x="6700520" y="186182"/>
                    <a:pt x="6700520" y="415671"/>
                  </a:cubicBezTo>
                  <a:lnTo>
                    <a:pt x="6700520" y="2078609"/>
                  </a:lnTo>
                  <a:cubicBezTo>
                    <a:pt x="6700520" y="2308225"/>
                    <a:pt x="6514338" y="2494280"/>
                    <a:pt x="6284849" y="2494280"/>
                  </a:cubicBezTo>
                  <a:lnTo>
                    <a:pt x="415671" y="2494280"/>
                  </a:lnTo>
                  <a:cubicBezTo>
                    <a:pt x="186182" y="2494280"/>
                    <a:pt x="0" y="2308098"/>
                    <a:pt x="0" y="2078609"/>
                  </a:cubicBezTo>
                  <a:close/>
                </a:path>
              </a:pathLst>
            </a:custGeom>
            <a:solidFill>
              <a:srgbClr val="EEF7F8"/>
            </a:solidFill>
            <a:ln w="19050" cap="sq">
              <a:solidFill>
                <a:srgbClr val="E1DFEB"/>
              </a:solidFill>
              <a:prstDash val="solid"/>
              <a:miter/>
            </a:ln>
          </p:spPr>
        </p:sp>
      </p:grpSp>
      <p:grpSp>
        <p:nvGrpSpPr>
          <p:cNvPr name="Group 14" id="14"/>
          <p:cNvGrpSpPr/>
          <p:nvPr/>
        </p:nvGrpSpPr>
        <p:grpSpPr>
          <a:xfrm rot="0">
            <a:off x="1234440" y="4183380"/>
            <a:ext cx="96012" cy="1851660"/>
            <a:chOff x="0" y="0"/>
            <a:chExt cx="128016" cy="2468880"/>
          </a:xfrm>
        </p:grpSpPr>
        <p:sp>
          <p:nvSpPr>
            <p:cNvPr name="Freeform 15" id="15"/>
            <p:cNvSpPr/>
            <p:nvPr/>
          </p:nvSpPr>
          <p:spPr>
            <a:xfrm flipH="false" flipV="false" rot="0">
              <a:off x="0" y="0"/>
              <a:ext cx="128016" cy="2468880"/>
            </a:xfrm>
            <a:custGeom>
              <a:avLst/>
              <a:gdLst/>
              <a:ahLst/>
              <a:cxnLst/>
              <a:rect r="r" b="b" t="t" l="l"/>
              <a:pathLst>
                <a:path h="2468880" w="128016">
                  <a:moveTo>
                    <a:pt x="0" y="0"/>
                  </a:moveTo>
                  <a:lnTo>
                    <a:pt x="128016" y="0"/>
                  </a:lnTo>
                  <a:lnTo>
                    <a:pt x="128016" y="2468880"/>
                  </a:lnTo>
                  <a:lnTo>
                    <a:pt x="0" y="2468880"/>
                  </a:lnTo>
                  <a:close/>
                </a:path>
              </a:pathLst>
            </a:custGeom>
            <a:solidFill>
              <a:srgbClr val="3F5DD3"/>
            </a:solidFill>
          </p:spPr>
        </p:sp>
      </p:grpSp>
      <p:sp>
        <p:nvSpPr>
          <p:cNvPr name="TextBox 16" id="16"/>
          <p:cNvSpPr txBox="true"/>
          <p:nvPr/>
        </p:nvSpPr>
        <p:spPr>
          <a:xfrm rot="0">
            <a:off x="1517904" y="4370451"/>
            <a:ext cx="454914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Executable tool registry</a:t>
            </a:r>
          </a:p>
        </p:txBody>
      </p:sp>
      <p:sp>
        <p:nvSpPr>
          <p:cNvPr name="TextBox 17" id="17"/>
          <p:cNvSpPr txBox="true"/>
          <p:nvPr/>
        </p:nvSpPr>
        <p:spPr>
          <a:xfrm rot="0">
            <a:off x="1517904" y="4860036"/>
            <a:ext cx="4549140" cy="104698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12 Python functions across four domains are triggered from natural-language intent.</a:t>
            </a:r>
          </a:p>
        </p:txBody>
      </p:sp>
      <p:grpSp>
        <p:nvGrpSpPr>
          <p:cNvPr name="Group 18" id="18"/>
          <p:cNvGrpSpPr/>
          <p:nvPr/>
        </p:nvGrpSpPr>
        <p:grpSpPr>
          <a:xfrm rot="0">
            <a:off x="1224915" y="6299835"/>
            <a:ext cx="5025390" cy="1870710"/>
            <a:chOff x="0" y="0"/>
            <a:chExt cx="6700520" cy="2494280"/>
          </a:xfrm>
        </p:grpSpPr>
        <p:sp>
          <p:nvSpPr>
            <p:cNvPr name="Freeform 19" id="19"/>
            <p:cNvSpPr/>
            <p:nvPr/>
          </p:nvSpPr>
          <p:spPr>
            <a:xfrm flipH="false" flipV="false" rot="0">
              <a:off x="0" y="0"/>
              <a:ext cx="6700520" cy="2494280"/>
            </a:xfrm>
            <a:custGeom>
              <a:avLst/>
              <a:gdLst/>
              <a:ahLst/>
              <a:cxnLst/>
              <a:rect r="r" b="b" t="t" l="l"/>
              <a:pathLst>
                <a:path h="2494280" w="6700520">
                  <a:moveTo>
                    <a:pt x="0" y="415671"/>
                  </a:moveTo>
                  <a:cubicBezTo>
                    <a:pt x="0" y="186182"/>
                    <a:pt x="186182" y="0"/>
                    <a:pt x="415671" y="0"/>
                  </a:cubicBezTo>
                  <a:lnTo>
                    <a:pt x="6284849" y="0"/>
                  </a:lnTo>
                  <a:cubicBezTo>
                    <a:pt x="6514465" y="0"/>
                    <a:pt x="6700520" y="186182"/>
                    <a:pt x="6700520" y="415671"/>
                  </a:cubicBezTo>
                  <a:lnTo>
                    <a:pt x="6700520" y="2078609"/>
                  </a:lnTo>
                  <a:cubicBezTo>
                    <a:pt x="6700520" y="2308225"/>
                    <a:pt x="6514338" y="2494280"/>
                    <a:pt x="6284849" y="2494280"/>
                  </a:cubicBezTo>
                  <a:lnTo>
                    <a:pt x="415671" y="2494280"/>
                  </a:lnTo>
                  <a:cubicBezTo>
                    <a:pt x="186182" y="2494280"/>
                    <a:pt x="0" y="2308098"/>
                    <a:pt x="0" y="2078609"/>
                  </a:cubicBezTo>
                  <a:close/>
                </a:path>
              </a:pathLst>
            </a:custGeom>
            <a:solidFill>
              <a:srgbClr val="F5F4FA"/>
            </a:solidFill>
            <a:ln w="19050" cap="sq">
              <a:solidFill>
                <a:srgbClr val="E1DFEB"/>
              </a:solidFill>
              <a:prstDash val="solid"/>
              <a:miter/>
            </a:ln>
          </p:spPr>
        </p:sp>
      </p:grpSp>
      <p:grpSp>
        <p:nvGrpSpPr>
          <p:cNvPr name="Group 20" id="20"/>
          <p:cNvGrpSpPr/>
          <p:nvPr/>
        </p:nvGrpSpPr>
        <p:grpSpPr>
          <a:xfrm rot="0">
            <a:off x="1234440" y="6309360"/>
            <a:ext cx="96012" cy="1851660"/>
            <a:chOff x="0" y="0"/>
            <a:chExt cx="128016" cy="2468880"/>
          </a:xfrm>
        </p:grpSpPr>
        <p:sp>
          <p:nvSpPr>
            <p:cNvPr name="Freeform 21" id="21"/>
            <p:cNvSpPr/>
            <p:nvPr/>
          </p:nvSpPr>
          <p:spPr>
            <a:xfrm flipH="false" flipV="false" rot="0">
              <a:off x="0" y="0"/>
              <a:ext cx="128016" cy="2468880"/>
            </a:xfrm>
            <a:custGeom>
              <a:avLst/>
              <a:gdLst/>
              <a:ahLst/>
              <a:cxnLst/>
              <a:rect r="r" b="b" t="t" l="l"/>
              <a:pathLst>
                <a:path h="2468880" w="128016">
                  <a:moveTo>
                    <a:pt x="0" y="0"/>
                  </a:moveTo>
                  <a:lnTo>
                    <a:pt x="128016" y="0"/>
                  </a:lnTo>
                  <a:lnTo>
                    <a:pt x="128016" y="2468880"/>
                  </a:lnTo>
                  <a:lnTo>
                    <a:pt x="0" y="2468880"/>
                  </a:lnTo>
                  <a:close/>
                </a:path>
              </a:pathLst>
            </a:custGeom>
            <a:solidFill>
              <a:srgbClr val="47BEB5"/>
            </a:solidFill>
          </p:spPr>
        </p:sp>
      </p:grpSp>
      <p:sp>
        <p:nvSpPr>
          <p:cNvPr name="TextBox 22" id="22"/>
          <p:cNvSpPr txBox="true"/>
          <p:nvPr/>
        </p:nvSpPr>
        <p:spPr>
          <a:xfrm rot="0">
            <a:off x="1517904" y="6496431"/>
            <a:ext cx="454914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Reproducible benchmark</a:t>
            </a:r>
          </a:p>
        </p:txBody>
      </p:sp>
      <p:sp>
        <p:nvSpPr>
          <p:cNvPr name="TextBox 23" id="23"/>
          <p:cNvSpPr txBox="true"/>
          <p:nvPr/>
        </p:nvSpPr>
        <p:spPr>
          <a:xfrm rot="0">
            <a:off x="1517904" y="6986016"/>
            <a:ext cx="4549140" cy="1046988"/>
          </a:xfrm>
          <a:prstGeom prst="rect">
            <a:avLst/>
          </a:prstGeom>
        </p:spPr>
        <p:txBody>
          <a:bodyPr anchor="t" rtlCol="false" tIns="0" lIns="0" bIns="0" rIns="0">
            <a:spAutoFit/>
          </a:bodyPr>
          <a:lstStyle/>
          <a:p>
            <a:pPr algn="l">
              <a:lnSpc>
                <a:spcPts val="1980"/>
              </a:lnSpc>
            </a:pPr>
            <a:r>
              <a:rPr lang="en-US" sz="1650">
                <a:solidFill>
                  <a:srgbClr val="5C5C70"/>
                </a:solidFill>
                <a:latin typeface="Aptos"/>
                <a:ea typeface="Aptos"/>
                <a:cs typeface="Aptos"/>
                <a:sym typeface="Aptos"/>
              </a:rPr>
              <a:t>FDB-v3 streams 101 predefined .wav scenarios and measures response latency + tool accuracy.</a:t>
            </a:r>
          </a:p>
        </p:txBody>
      </p:sp>
      <p:sp>
        <p:nvSpPr>
          <p:cNvPr name="TextBox 24" id="24"/>
          <p:cNvSpPr txBox="true"/>
          <p:nvPr/>
        </p:nvSpPr>
        <p:spPr>
          <a:xfrm rot="0">
            <a:off x="6825996" y="2075688"/>
            <a:ext cx="4041648" cy="443484"/>
          </a:xfrm>
          <a:prstGeom prst="rect">
            <a:avLst/>
          </a:prstGeom>
        </p:spPr>
        <p:txBody>
          <a:bodyPr anchor="t" rtlCol="false" tIns="0" lIns="0" bIns="0" rIns="0">
            <a:spAutoFit/>
          </a:bodyPr>
          <a:lstStyle/>
          <a:p>
            <a:pPr algn="l">
              <a:lnSpc>
                <a:spcPts val="3060"/>
              </a:lnSpc>
            </a:pPr>
            <a:r>
              <a:rPr lang="en-US" sz="2550" b="true">
                <a:solidFill>
                  <a:srgbClr val="12122D"/>
                </a:solidFill>
                <a:latin typeface="Aptos Bold"/>
                <a:ea typeface="Aptos Bold"/>
                <a:cs typeface="Aptos Bold"/>
                <a:sym typeface="Aptos Bold"/>
              </a:rPr>
              <a:t>RESULTS</a:t>
            </a:r>
          </a:p>
        </p:txBody>
      </p:sp>
      <p:sp>
        <p:nvSpPr>
          <p:cNvPr name="TextBox 25" id="25"/>
          <p:cNvSpPr txBox="true"/>
          <p:nvPr/>
        </p:nvSpPr>
        <p:spPr>
          <a:xfrm rot="0">
            <a:off x="6880860" y="2720340"/>
            <a:ext cx="4137660" cy="3200400"/>
          </a:xfrm>
          <a:prstGeom prst="rect">
            <a:avLst/>
          </a:prstGeom>
        </p:spPr>
        <p:txBody>
          <a:bodyPr anchor="t" rtlCol="false" tIns="0" lIns="0" bIns="0" rIns="0">
            <a:spAutoFit/>
          </a:bodyPr>
          <a:lstStyle/>
          <a:p>
            <a:pPr algn="l">
              <a:lnSpc>
                <a:spcPts val="2340"/>
              </a:lnSpc>
            </a:pPr>
            <a:r>
              <a:rPr lang="en-US" sz="1950">
                <a:solidFill>
                  <a:srgbClr val="1F1F34"/>
                </a:solidFill>
                <a:latin typeface="Aptos"/>
                <a:ea typeface="Aptos"/>
                <a:cs typeface="Aptos"/>
                <a:sym typeface="Aptos"/>
              </a:rPr>
              <a:t>•  Successfully navigated 101 predefined scenarios</a:t>
            </a:r>
          </a:p>
          <a:p>
            <a:pPr algn="l">
              <a:lnSpc>
                <a:spcPts val="2340"/>
              </a:lnSpc>
            </a:pPr>
            <a:r>
              <a:rPr lang="en-US" sz="1950">
                <a:solidFill>
                  <a:srgbClr val="1F1F34"/>
                </a:solidFill>
                <a:latin typeface="Aptos"/>
                <a:ea typeface="Aptos"/>
                <a:cs typeface="Aptos"/>
                <a:sym typeface="Aptos"/>
              </a:rPr>
              <a:t>•  Measures first-speech latency</a:t>
            </a:r>
          </a:p>
          <a:p>
            <a:pPr algn="l">
              <a:lnSpc>
                <a:spcPts val="2340"/>
              </a:lnSpc>
            </a:pPr>
            <a:r>
              <a:rPr lang="en-US" sz="1950">
                <a:solidFill>
                  <a:srgbClr val="1F1F34"/>
                </a:solidFill>
                <a:latin typeface="Aptos"/>
                <a:ea typeface="Aptos"/>
                <a:cs typeface="Aptos"/>
                <a:sym typeface="Aptos"/>
              </a:rPr>
              <a:t>•  Measures perceived total latency</a:t>
            </a:r>
          </a:p>
          <a:p>
            <a:pPr algn="l">
              <a:lnSpc>
                <a:spcPts val="2340"/>
              </a:lnSpc>
            </a:pPr>
            <a:r>
              <a:rPr lang="en-US" sz="1950">
                <a:solidFill>
                  <a:srgbClr val="1F1F34"/>
                </a:solidFill>
                <a:latin typeface="Aptos"/>
                <a:ea typeface="Aptos"/>
                <a:cs typeface="Aptos"/>
                <a:sym typeface="Aptos"/>
              </a:rPr>
              <a:t>•  Measures tool-call accuracy</a:t>
            </a:r>
          </a:p>
        </p:txBody>
      </p:sp>
      <p:sp>
        <p:nvSpPr>
          <p:cNvPr name="TextBox 26" id="26"/>
          <p:cNvSpPr txBox="true"/>
          <p:nvPr/>
        </p:nvSpPr>
        <p:spPr>
          <a:xfrm rot="0">
            <a:off x="11626596" y="2075688"/>
            <a:ext cx="4041648" cy="443484"/>
          </a:xfrm>
          <a:prstGeom prst="rect">
            <a:avLst/>
          </a:prstGeom>
        </p:spPr>
        <p:txBody>
          <a:bodyPr anchor="t" rtlCol="false" tIns="0" lIns="0" bIns="0" rIns="0">
            <a:spAutoFit/>
          </a:bodyPr>
          <a:lstStyle/>
          <a:p>
            <a:pPr algn="l">
              <a:lnSpc>
                <a:spcPts val="3060"/>
              </a:lnSpc>
            </a:pPr>
            <a:r>
              <a:rPr lang="en-US" sz="2550" b="true">
                <a:solidFill>
                  <a:srgbClr val="12122D"/>
                </a:solidFill>
                <a:latin typeface="Aptos Bold"/>
                <a:ea typeface="Aptos Bold"/>
                <a:cs typeface="Aptos Bold"/>
                <a:sym typeface="Aptos Bold"/>
              </a:rPr>
              <a:t>LIMITATIONS</a:t>
            </a:r>
          </a:p>
        </p:txBody>
      </p:sp>
      <p:sp>
        <p:nvSpPr>
          <p:cNvPr name="TextBox 27" id="27"/>
          <p:cNvSpPr txBox="true"/>
          <p:nvPr/>
        </p:nvSpPr>
        <p:spPr>
          <a:xfrm rot="0">
            <a:off x="11681460" y="2720340"/>
            <a:ext cx="4343400" cy="4297680"/>
          </a:xfrm>
          <a:prstGeom prst="rect">
            <a:avLst/>
          </a:prstGeom>
        </p:spPr>
        <p:txBody>
          <a:bodyPr anchor="t" rtlCol="false" tIns="0" lIns="0" bIns="0" rIns="0">
            <a:spAutoFit/>
          </a:bodyPr>
          <a:lstStyle/>
          <a:p>
            <a:pPr algn="l">
              <a:lnSpc>
                <a:spcPts val="2340"/>
              </a:lnSpc>
            </a:pPr>
            <a:r>
              <a:rPr lang="en-US" sz="1950">
                <a:solidFill>
                  <a:srgbClr val="1F1F34"/>
                </a:solidFill>
                <a:latin typeface="Aptos"/>
                <a:ea typeface="Aptos"/>
                <a:cs typeface="Aptos"/>
                <a:sym typeface="Aptos"/>
              </a:rPr>
              <a:t>•  Current tool registry uses mock APIs</a:t>
            </a:r>
          </a:p>
          <a:p>
            <a:pPr algn="l">
              <a:lnSpc>
                <a:spcPts val="2340"/>
              </a:lnSpc>
            </a:pPr>
            <a:r>
              <a:rPr lang="en-US" sz="1950">
                <a:solidFill>
                  <a:srgbClr val="1F1F34"/>
                </a:solidFill>
                <a:latin typeface="Aptos"/>
                <a:ea typeface="Aptos"/>
                <a:cs typeface="Aptos"/>
                <a:sym typeface="Aptos"/>
              </a:rPr>
              <a:t>•  Current architecture is cascaded STT → LLM → TTS</a:t>
            </a:r>
          </a:p>
          <a:p>
            <a:pPr algn="l">
              <a:lnSpc>
                <a:spcPts val="2340"/>
              </a:lnSpc>
            </a:pPr>
            <a:r>
              <a:rPr lang="en-US" sz="1950">
                <a:solidFill>
                  <a:srgbClr val="1F1F34"/>
                </a:solidFill>
                <a:latin typeface="Aptos"/>
                <a:ea typeface="Aptos"/>
                <a:cs typeface="Aptos"/>
                <a:sym typeface="Aptos"/>
              </a:rPr>
              <a:t>•  Production integrations and human escalation are future work</a:t>
            </a:r>
          </a:p>
          <a:p>
            <a:pPr algn="l">
              <a:lnSpc>
                <a:spcPts val="2340"/>
              </a:lnSpc>
            </a:pPr>
            <a:r>
              <a:rPr lang="en-US" sz="1950">
                <a:solidFill>
                  <a:srgbClr val="1F1F34"/>
                </a:solidFill>
                <a:latin typeface="Aptos"/>
                <a:ea typeface="Aptos"/>
                <a:cs typeface="Aptos"/>
                <a:sym typeface="Aptos"/>
              </a:rPr>
              <a:t>•  Reference document does not provide final numeric latency scores</a:t>
            </a:r>
          </a:p>
        </p:txBody>
      </p:sp>
      <p:grpSp>
        <p:nvGrpSpPr>
          <p:cNvPr name="Group 28" id="28"/>
          <p:cNvGrpSpPr/>
          <p:nvPr/>
        </p:nvGrpSpPr>
        <p:grpSpPr>
          <a:xfrm rot="0">
            <a:off x="6789420" y="7063740"/>
            <a:ext cx="9258300" cy="466344"/>
            <a:chOff x="0" y="0"/>
            <a:chExt cx="12344400" cy="621792"/>
          </a:xfrm>
        </p:grpSpPr>
        <p:sp>
          <p:nvSpPr>
            <p:cNvPr name="Freeform 29" id="29"/>
            <p:cNvSpPr/>
            <p:nvPr/>
          </p:nvSpPr>
          <p:spPr>
            <a:xfrm flipH="false" flipV="false" rot="0">
              <a:off x="0" y="0"/>
              <a:ext cx="12344400" cy="621792"/>
            </a:xfrm>
            <a:custGeom>
              <a:avLst/>
              <a:gdLst/>
              <a:ahLst/>
              <a:cxnLst/>
              <a:rect r="r" b="b" t="t" l="l"/>
              <a:pathLst>
                <a:path h="621792" w="12344400">
                  <a:moveTo>
                    <a:pt x="0" y="103632"/>
                  </a:moveTo>
                  <a:cubicBezTo>
                    <a:pt x="0" y="46355"/>
                    <a:pt x="46355" y="0"/>
                    <a:pt x="103632" y="0"/>
                  </a:cubicBezTo>
                  <a:lnTo>
                    <a:pt x="12240768" y="0"/>
                  </a:lnTo>
                  <a:cubicBezTo>
                    <a:pt x="12298045" y="0"/>
                    <a:pt x="12344400" y="46355"/>
                    <a:pt x="12344400" y="103632"/>
                  </a:cubicBezTo>
                  <a:lnTo>
                    <a:pt x="12344400" y="518160"/>
                  </a:lnTo>
                  <a:cubicBezTo>
                    <a:pt x="12344400" y="575437"/>
                    <a:pt x="12298045" y="621792"/>
                    <a:pt x="12240768" y="621792"/>
                  </a:cubicBezTo>
                  <a:lnTo>
                    <a:pt x="103632" y="621792"/>
                  </a:lnTo>
                  <a:cubicBezTo>
                    <a:pt x="46355" y="621792"/>
                    <a:pt x="0" y="575437"/>
                    <a:pt x="0" y="518160"/>
                  </a:cubicBezTo>
                  <a:close/>
                </a:path>
              </a:pathLst>
            </a:custGeom>
            <a:solidFill>
              <a:srgbClr val="6C2FDB"/>
            </a:solidFill>
          </p:spPr>
        </p:sp>
        <p:sp>
          <p:nvSpPr>
            <p:cNvPr name="TextBox 30" id="30"/>
            <p:cNvSpPr txBox="true"/>
            <p:nvPr/>
          </p:nvSpPr>
          <p:spPr>
            <a:xfrm>
              <a:off x="0" y="-9525"/>
              <a:ext cx="1234440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NEXT VALIDATION: PUBLISH REPRODUCIBLE BENCHMARK RESULTS</a:t>
              </a: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89304" y="1289304"/>
            <a:ext cx="2468880" cy="466344"/>
            <a:chOff x="0" y="0"/>
            <a:chExt cx="3291840" cy="621792"/>
          </a:xfrm>
        </p:grpSpPr>
        <p:sp>
          <p:nvSpPr>
            <p:cNvPr name="Freeform 3" id="3"/>
            <p:cNvSpPr/>
            <p:nvPr/>
          </p:nvSpPr>
          <p:spPr>
            <a:xfrm flipH="false" flipV="false" rot="0">
              <a:off x="0" y="0"/>
              <a:ext cx="3291840" cy="621792"/>
            </a:xfrm>
            <a:custGeom>
              <a:avLst/>
              <a:gdLst/>
              <a:ahLst/>
              <a:cxnLst/>
              <a:rect r="r" b="b" t="t" l="l"/>
              <a:pathLst>
                <a:path h="621792" w="3291840">
                  <a:moveTo>
                    <a:pt x="0" y="103632"/>
                  </a:moveTo>
                  <a:cubicBezTo>
                    <a:pt x="0" y="46355"/>
                    <a:pt x="46355" y="0"/>
                    <a:pt x="103632" y="0"/>
                  </a:cubicBezTo>
                  <a:lnTo>
                    <a:pt x="3188208" y="0"/>
                  </a:lnTo>
                  <a:cubicBezTo>
                    <a:pt x="3245485" y="0"/>
                    <a:pt x="3291840" y="46355"/>
                    <a:pt x="3291840" y="103632"/>
                  </a:cubicBezTo>
                  <a:lnTo>
                    <a:pt x="3291840" y="518160"/>
                  </a:lnTo>
                  <a:cubicBezTo>
                    <a:pt x="3291840" y="575437"/>
                    <a:pt x="3245485" y="621792"/>
                    <a:pt x="3188208" y="621792"/>
                  </a:cubicBezTo>
                  <a:lnTo>
                    <a:pt x="103632" y="621792"/>
                  </a:lnTo>
                  <a:cubicBezTo>
                    <a:pt x="46355" y="621792"/>
                    <a:pt x="0" y="575437"/>
                    <a:pt x="0" y="518160"/>
                  </a:cubicBezTo>
                  <a:close/>
                </a:path>
              </a:pathLst>
            </a:custGeom>
            <a:solidFill>
              <a:srgbClr val="6C2FDB"/>
            </a:solidFill>
          </p:spPr>
        </p:sp>
        <p:sp>
          <p:nvSpPr>
            <p:cNvPr name="TextBox 4" id="4"/>
            <p:cNvSpPr txBox="true"/>
            <p:nvPr/>
          </p:nvSpPr>
          <p:spPr>
            <a:xfrm>
              <a:off x="0" y="-9525"/>
              <a:ext cx="3291840" cy="631317"/>
            </a:xfrm>
            <a:prstGeom prst="rect">
              <a:avLst/>
            </a:prstGeom>
          </p:spPr>
          <p:txBody>
            <a:bodyPr anchor="ctr" rtlCol="false" tIns="50800" lIns="50800" bIns="50800" rIns="50800"/>
            <a:lstStyle/>
            <a:p>
              <a:pPr algn="ctr">
                <a:lnSpc>
                  <a:spcPts val="1620"/>
                </a:lnSpc>
              </a:pPr>
              <a:r>
                <a:rPr lang="en-US" sz="1350" b="true">
                  <a:solidFill>
                    <a:srgbClr val="FFFFFF"/>
                  </a:solidFill>
                  <a:latin typeface="Aptos Bold"/>
                  <a:ea typeface="Aptos Bold"/>
                  <a:cs typeface="Aptos Bold"/>
                  <a:sym typeface="Aptos Bold"/>
                </a:rPr>
                <a:t>WHY THIS DEMO STANDS OUT</a:t>
              </a:r>
            </a:p>
          </p:txBody>
        </p:sp>
      </p:grpSp>
      <p:grpSp>
        <p:nvGrpSpPr>
          <p:cNvPr name="Group 5" id="5"/>
          <p:cNvGrpSpPr/>
          <p:nvPr/>
        </p:nvGrpSpPr>
        <p:grpSpPr>
          <a:xfrm rot="0">
            <a:off x="1224915" y="2116455"/>
            <a:ext cx="7631430" cy="1637538"/>
            <a:chOff x="0" y="0"/>
            <a:chExt cx="10175240" cy="2183384"/>
          </a:xfrm>
        </p:grpSpPr>
        <p:sp>
          <p:nvSpPr>
            <p:cNvPr name="Freeform 6" id="6"/>
            <p:cNvSpPr/>
            <p:nvPr/>
          </p:nvSpPr>
          <p:spPr>
            <a:xfrm flipH="false" flipV="false" rot="0">
              <a:off x="0" y="0"/>
              <a:ext cx="10175240" cy="2183384"/>
            </a:xfrm>
            <a:custGeom>
              <a:avLst/>
              <a:gdLst/>
              <a:ahLst/>
              <a:cxnLst/>
              <a:rect r="r" b="b" t="t" l="l"/>
              <a:pathLst>
                <a:path h="2183384" w="10175240">
                  <a:moveTo>
                    <a:pt x="0" y="363855"/>
                  </a:moveTo>
                  <a:cubicBezTo>
                    <a:pt x="0" y="162941"/>
                    <a:pt x="162941" y="0"/>
                    <a:pt x="363855" y="0"/>
                  </a:cubicBezTo>
                  <a:lnTo>
                    <a:pt x="9811385" y="0"/>
                  </a:lnTo>
                  <a:cubicBezTo>
                    <a:pt x="10012426" y="0"/>
                    <a:pt x="10175240" y="162941"/>
                    <a:pt x="10175240" y="363855"/>
                  </a:cubicBezTo>
                  <a:lnTo>
                    <a:pt x="10175240" y="1819529"/>
                  </a:lnTo>
                  <a:cubicBezTo>
                    <a:pt x="10175240" y="2020570"/>
                    <a:pt x="10012299" y="2183384"/>
                    <a:pt x="9811385" y="2183384"/>
                  </a:cubicBezTo>
                  <a:lnTo>
                    <a:pt x="363855" y="2183384"/>
                  </a:lnTo>
                  <a:cubicBezTo>
                    <a:pt x="162941" y="2183384"/>
                    <a:pt x="0" y="2020443"/>
                    <a:pt x="0" y="1819529"/>
                  </a:cubicBezTo>
                  <a:close/>
                </a:path>
              </a:pathLst>
            </a:custGeom>
            <a:solidFill>
              <a:srgbClr val="F5F4FA"/>
            </a:solidFill>
            <a:ln w="19050" cap="sq">
              <a:solidFill>
                <a:srgbClr val="E1DFEB"/>
              </a:solidFill>
              <a:prstDash val="solid"/>
              <a:miter/>
            </a:ln>
          </p:spPr>
        </p:sp>
      </p:grpSp>
      <p:grpSp>
        <p:nvGrpSpPr>
          <p:cNvPr name="Group 7" id="7"/>
          <p:cNvGrpSpPr/>
          <p:nvPr/>
        </p:nvGrpSpPr>
        <p:grpSpPr>
          <a:xfrm rot="0">
            <a:off x="1234440" y="2125980"/>
            <a:ext cx="96012" cy="1618488"/>
            <a:chOff x="0" y="0"/>
            <a:chExt cx="128016" cy="2157984"/>
          </a:xfrm>
        </p:grpSpPr>
        <p:sp>
          <p:nvSpPr>
            <p:cNvPr name="Freeform 8" id="8"/>
            <p:cNvSpPr/>
            <p:nvPr/>
          </p:nvSpPr>
          <p:spPr>
            <a:xfrm flipH="false" flipV="false" rot="0">
              <a:off x="0" y="0"/>
              <a:ext cx="128016" cy="2157984"/>
            </a:xfrm>
            <a:custGeom>
              <a:avLst/>
              <a:gdLst/>
              <a:ahLst/>
              <a:cxnLst/>
              <a:rect r="r" b="b" t="t" l="l"/>
              <a:pathLst>
                <a:path h="2157984" w="128016">
                  <a:moveTo>
                    <a:pt x="0" y="0"/>
                  </a:moveTo>
                  <a:lnTo>
                    <a:pt x="128016" y="0"/>
                  </a:lnTo>
                  <a:lnTo>
                    <a:pt x="128016" y="2157984"/>
                  </a:lnTo>
                  <a:lnTo>
                    <a:pt x="0" y="2157984"/>
                  </a:lnTo>
                  <a:close/>
                </a:path>
              </a:pathLst>
            </a:custGeom>
            <a:solidFill>
              <a:srgbClr val="6C2FDB"/>
            </a:solidFill>
          </p:spPr>
        </p:sp>
      </p:grpSp>
      <p:grpSp>
        <p:nvGrpSpPr>
          <p:cNvPr name="Group 9" id="9"/>
          <p:cNvGrpSpPr/>
          <p:nvPr/>
        </p:nvGrpSpPr>
        <p:grpSpPr>
          <a:xfrm rot="0">
            <a:off x="9367266" y="2125980"/>
            <a:ext cx="7631430" cy="1637538"/>
            <a:chOff x="0" y="0"/>
            <a:chExt cx="10175240" cy="2183384"/>
          </a:xfrm>
        </p:grpSpPr>
        <p:sp>
          <p:nvSpPr>
            <p:cNvPr name="Freeform 10" id="10"/>
            <p:cNvSpPr/>
            <p:nvPr/>
          </p:nvSpPr>
          <p:spPr>
            <a:xfrm flipH="false" flipV="false" rot="0">
              <a:off x="0" y="0"/>
              <a:ext cx="10175240" cy="2183384"/>
            </a:xfrm>
            <a:custGeom>
              <a:avLst/>
              <a:gdLst/>
              <a:ahLst/>
              <a:cxnLst/>
              <a:rect r="r" b="b" t="t" l="l"/>
              <a:pathLst>
                <a:path h="2183384" w="10175240">
                  <a:moveTo>
                    <a:pt x="0" y="363855"/>
                  </a:moveTo>
                  <a:cubicBezTo>
                    <a:pt x="0" y="162941"/>
                    <a:pt x="162941" y="0"/>
                    <a:pt x="363855" y="0"/>
                  </a:cubicBezTo>
                  <a:lnTo>
                    <a:pt x="9811385" y="0"/>
                  </a:lnTo>
                  <a:cubicBezTo>
                    <a:pt x="10012426" y="0"/>
                    <a:pt x="10175240" y="162941"/>
                    <a:pt x="10175240" y="363855"/>
                  </a:cubicBezTo>
                  <a:lnTo>
                    <a:pt x="10175240" y="1819529"/>
                  </a:lnTo>
                  <a:cubicBezTo>
                    <a:pt x="10175240" y="2020570"/>
                    <a:pt x="10012299" y="2183384"/>
                    <a:pt x="9811385" y="2183384"/>
                  </a:cubicBezTo>
                  <a:lnTo>
                    <a:pt x="363855" y="2183384"/>
                  </a:lnTo>
                  <a:cubicBezTo>
                    <a:pt x="162941" y="2183384"/>
                    <a:pt x="0" y="2020443"/>
                    <a:pt x="0" y="1819529"/>
                  </a:cubicBezTo>
                  <a:close/>
                </a:path>
              </a:pathLst>
            </a:custGeom>
            <a:solidFill>
              <a:srgbClr val="EEF7F8"/>
            </a:solidFill>
            <a:ln w="19050" cap="sq">
              <a:solidFill>
                <a:srgbClr val="E1DFEB"/>
              </a:solidFill>
              <a:prstDash val="solid"/>
              <a:miter/>
            </a:ln>
          </p:spPr>
        </p:sp>
      </p:grpSp>
      <p:grpSp>
        <p:nvGrpSpPr>
          <p:cNvPr name="Group 11" id="11"/>
          <p:cNvGrpSpPr/>
          <p:nvPr/>
        </p:nvGrpSpPr>
        <p:grpSpPr>
          <a:xfrm rot="0">
            <a:off x="9464040" y="2125980"/>
            <a:ext cx="96012" cy="1618488"/>
            <a:chOff x="0" y="0"/>
            <a:chExt cx="128016" cy="2157984"/>
          </a:xfrm>
        </p:grpSpPr>
        <p:sp>
          <p:nvSpPr>
            <p:cNvPr name="Freeform 12" id="12"/>
            <p:cNvSpPr/>
            <p:nvPr/>
          </p:nvSpPr>
          <p:spPr>
            <a:xfrm flipH="false" flipV="false" rot="0">
              <a:off x="0" y="0"/>
              <a:ext cx="128016" cy="2157984"/>
            </a:xfrm>
            <a:custGeom>
              <a:avLst/>
              <a:gdLst/>
              <a:ahLst/>
              <a:cxnLst/>
              <a:rect r="r" b="b" t="t" l="l"/>
              <a:pathLst>
                <a:path h="2157984" w="128016">
                  <a:moveTo>
                    <a:pt x="0" y="0"/>
                  </a:moveTo>
                  <a:lnTo>
                    <a:pt x="128016" y="0"/>
                  </a:lnTo>
                  <a:lnTo>
                    <a:pt x="128016" y="2157984"/>
                  </a:lnTo>
                  <a:lnTo>
                    <a:pt x="0" y="2157984"/>
                  </a:lnTo>
                  <a:close/>
                </a:path>
              </a:pathLst>
            </a:custGeom>
            <a:solidFill>
              <a:srgbClr val="3F5DD3"/>
            </a:solidFill>
          </p:spPr>
        </p:sp>
      </p:grpSp>
      <p:grpSp>
        <p:nvGrpSpPr>
          <p:cNvPr name="Group 13" id="13"/>
          <p:cNvGrpSpPr/>
          <p:nvPr/>
        </p:nvGrpSpPr>
        <p:grpSpPr>
          <a:xfrm rot="0">
            <a:off x="1224915" y="4173855"/>
            <a:ext cx="7631430" cy="1637538"/>
            <a:chOff x="0" y="0"/>
            <a:chExt cx="10175240" cy="2183384"/>
          </a:xfrm>
        </p:grpSpPr>
        <p:sp>
          <p:nvSpPr>
            <p:cNvPr name="Freeform 14" id="14"/>
            <p:cNvSpPr/>
            <p:nvPr/>
          </p:nvSpPr>
          <p:spPr>
            <a:xfrm flipH="false" flipV="false" rot="0">
              <a:off x="0" y="0"/>
              <a:ext cx="10175240" cy="2183384"/>
            </a:xfrm>
            <a:custGeom>
              <a:avLst/>
              <a:gdLst/>
              <a:ahLst/>
              <a:cxnLst/>
              <a:rect r="r" b="b" t="t" l="l"/>
              <a:pathLst>
                <a:path h="2183384" w="10175240">
                  <a:moveTo>
                    <a:pt x="0" y="363855"/>
                  </a:moveTo>
                  <a:cubicBezTo>
                    <a:pt x="0" y="162941"/>
                    <a:pt x="162941" y="0"/>
                    <a:pt x="363855" y="0"/>
                  </a:cubicBezTo>
                  <a:lnTo>
                    <a:pt x="9811385" y="0"/>
                  </a:lnTo>
                  <a:cubicBezTo>
                    <a:pt x="10012426" y="0"/>
                    <a:pt x="10175240" y="162941"/>
                    <a:pt x="10175240" y="363855"/>
                  </a:cubicBezTo>
                  <a:lnTo>
                    <a:pt x="10175240" y="1819529"/>
                  </a:lnTo>
                  <a:cubicBezTo>
                    <a:pt x="10175240" y="2020570"/>
                    <a:pt x="10012299" y="2183384"/>
                    <a:pt x="9811385" y="2183384"/>
                  </a:cubicBezTo>
                  <a:lnTo>
                    <a:pt x="363855" y="2183384"/>
                  </a:lnTo>
                  <a:cubicBezTo>
                    <a:pt x="162941" y="2183384"/>
                    <a:pt x="0" y="2020443"/>
                    <a:pt x="0" y="1819529"/>
                  </a:cubicBezTo>
                  <a:close/>
                </a:path>
              </a:pathLst>
            </a:custGeom>
            <a:solidFill>
              <a:srgbClr val="F5F4FA"/>
            </a:solidFill>
            <a:ln w="19050" cap="sq">
              <a:solidFill>
                <a:srgbClr val="E1DFEB"/>
              </a:solidFill>
              <a:prstDash val="solid"/>
              <a:miter/>
            </a:ln>
          </p:spPr>
        </p:sp>
      </p:grpSp>
      <p:grpSp>
        <p:nvGrpSpPr>
          <p:cNvPr name="Group 15" id="15"/>
          <p:cNvGrpSpPr/>
          <p:nvPr/>
        </p:nvGrpSpPr>
        <p:grpSpPr>
          <a:xfrm rot="0">
            <a:off x="1234440" y="4183380"/>
            <a:ext cx="96012" cy="1618488"/>
            <a:chOff x="0" y="0"/>
            <a:chExt cx="128016" cy="2157984"/>
          </a:xfrm>
        </p:grpSpPr>
        <p:sp>
          <p:nvSpPr>
            <p:cNvPr name="Freeform 16" id="16"/>
            <p:cNvSpPr/>
            <p:nvPr/>
          </p:nvSpPr>
          <p:spPr>
            <a:xfrm flipH="false" flipV="false" rot="0">
              <a:off x="0" y="0"/>
              <a:ext cx="128016" cy="2157984"/>
            </a:xfrm>
            <a:custGeom>
              <a:avLst/>
              <a:gdLst/>
              <a:ahLst/>
              <a:cxnLst/>
              <a:rect r="r" b="b" t="t" l="l"/>
              <a:pathLst>
                <a:path h="2157984" w="128016">
                  <a:moveTo>
                    <a:pt x="0" y="0"/>
                  </a:moveTo>
                  <a:lnTo>
                    <a:pt x="128016" y="0"/>
                  </a:lnTo>
                  <a:lnTo>
                    <a:pt x="128016" y="2157984"/>
                  </a:lnTo>
                  <a:lnTo>
                    <a:pt x="0" y="2157984"/>
                  </a:lnTo>
                  <a:close/>
                </a:path>
              </a:pathLst>
            </a:custGeom>
            <a:solidFill>
              <a:srgbClr val="47BEB5"/>
            </a:solidFill>
          </p:spPr>
        </p:sp>
      </p:grpSp>
      <p:grpSp>
        <p:nvGrpSpPr>
          <p:cNvPr name="Group 17" id="17"/>
          <p:cNvGrpSpPr/>
          <p:nvPr/>
        </p:nvGrpSpPr>
        <p:grpSpPr>
          <a:xfrm rot="0">
            <a:off x="9454515" y="4173855"/>
            <a:ext cx="7631430" cy="1637538"/>
            <a:chOff x="0" y="0"/>
            <a:chExt cx="10175240" cy="2183384"/>
          </a:xfrm>
        </p:grpSpPr>
        <p:sp>
          <p:nvSpPr>
            <p:cNvPr name="Freeform 18" id="18"/>
            <p:cNvSpPr/>
            <p:nvPr/>
          </p:nvSpPr>
          <p:spPr>
            <a:xfrm flipH="false" flipV="false" rot="0">
              <a:off x="0" y="0"/>
              <a:ext cx="10175240" cy="2183384"/>
            </a:xfrm>
            <a:custGeom>
              <a:avLst/>
              <a:gdLst/>
              <a:ahLst/>
              <a:cxnLst/>
              <a:rect r="r" b="b" t="t" l="l"/>
              <a:pathLst>
                <a:path h="2183384" w="10175240">
                  <a:moveTo>
                    <a:pt x="0" y="363855"/>
                  </a:moveTo>
                  <a:cubicBezTo>
                    <a:pt x="0" y="162941"/>
                    <a:pt x="162941" y="0"/>
                    <a:pt x="363855" y="0"/>
                  </a:cubicBezTo>
                  <a:lnTo>
                    <a:pt x="9811385" y="0"/>
                  </a:lnTo>
                  <a:cubicBezTo>
                    <a:pt x="10012426" y="0"/>
                    <a:pt x="10175240" y="162941"/>
                    <a:pt x="10175240" y="363855"/>
                  </a:cubicBezTo>
                  <a:lnTo>
                    <a:pt x="10175240" y="1819529"/>
                  </a:lnTo>
                  <a:cubicBezTo>
                    <a:pt x="10175240" y="2020570"/>
                    <a:pt x="10012299" y="2183384"/>
                    <a:pt x="9811385" y="2183384"/>
                  </a:cubicBezTo>
                  <a:lnTo>
                    <a:pt x="363855" y="2183384"/>
                  </a:lnTo>
                  <a:cubicBezTo>
                    <a:pt x="162941" y="2183384"/>
                    <a:pt x="0" y="2020443"/>
                    <a:pt x="0" y="1819529"/>
                  </a:cubicBezTo>
                  <a:close/>
                </a:path>
              </a:pathLst>
            </a:custGeom>
            <a:solidFill>
              <a:srgbClr val="EEF7F8"/>
            </a:solidFill>
            <a:ln w="19050" cap="sq">
              <a:solidFill>
                <a:srgbClr val="E1DFEB"/>
              </a:solidFill>
              <a:prstDash val="solid"/>
              <a:miter/>
            </a:ln>
          </p:spPr>
        </p:sp>
      </p:grpSp>
      <p:grpSp>
        <p:nvGrpSpPr>
          <p:cNvPr name="Group 19" id="19"/>
          <p:cNvGrpSpPr/>
          <p:nvPr/>
        </p:nvGrpSpPr>
        <p:grpSpPr>
          <a:xfrm rot="0">
            <a:off x="9464040" y="4183380"/>
            <a:ext cx="96012" cy="1618488"/>
            <a:chOff x="0" y="0"/>
            <a:chExt cx="128016" cy="2157984"/>
          </a:xfrm>
        </p:grpSpPr>
        <p:sp>
          <p:nvSpPr>
            <p:cNvPr name="Freeform 20" id="20"/>
            <p:cNvSpPr/>
            <p:nvPr/>
          </p:nvSpPr>
          <p:spPr>
            <a:xfrm flipH="false" flipV="false" rot="0">
              <a:off x="0" y="0"/>
              <a:ext cx="128016" cy="2157984"/>
            </a:xfrm>
            <a:custGeom>
              <a:avLst/>
              <a:gdLst/>
              <a:ahLst/>
              <a:cxnLst/>
              <a:rect r="r" b="b" t="t" l="l"/>
              <a:pathLst>
                <a:path h="2157984" w="128016">
                  <a:moveTo>
                    <a:pt x="0" y="0"/>
                  </a:moveTo>
                  <a:lnTo>
                    <a:pt x="128016" y="0"/>
                  </a:lnTo>
                  <a:lnTo>
                    <a:pt x="128016" y="2157984"/>
                  </a:lnTo>
                  <a:lnTo>
                    <a:pt x="0" y="2157984"/>
                  </a:lnTo>
                  <a:close/>
                </a:path>
              </a:pathLst>
            </a:custGeom>
            <a:solidFill>
              <a:srgbClr val="EB8741"/>
            </a:solidFill>
          </p:spPr>
        </p:sp>
      </p:grpSp>
      <p:grpSp>
        <p:nvGrpSpPr>
          <p:cNvPr name="Group 21" id="21"/>
          <p:cNvGrpSpPr/>
          <p:nvPr/>
        </p:nvGrpSpPr>
        <p:grpSpPr>
          <a:xfrm rot="0">
            <a:off x="1224915" y="6231255"/>
            <a:ext cx="15861030" cy="1637538"/>
            <a:chOff x="0" y="0"/>
            <a:chExt cx="21148040" cy="2183384"/>
          </a:xfrm>
        </p:grpSpPr>
        <p:sp>
          <p:nvSpPr>
            <p:cNvPr name="Freeform 22" id="22"/>
            <p:cNvSpPr/>
            <p:nvPr/>
          </p:nvSpPr>
          <p:spPr>
            <a:xfrm flipH="false" flipV="false" rot="0">
              <a:off x="0" y="0"/>
              <a:ext cx="21148041" cy="2183384"/>
            </a:xfrm>
            <a:custGeom>
              <a:avLst/>
              <a:gdLst/>
              <a:ahLst/>
              <a:cxnLst/>
              <a:rect r="r" b="b" t="t" l="l"/>
              <a:pathLst>
                <a:path h="2183384" w="21148041">
                  <a:moveTo>
                    <a:pt x="0" y="363855"/>
                  </a:moveTo>
                  <a:cubicBezTo>
                    <a:pt x="0" y="162941"/>
                    <a:pt x="162941" y="0"/>
                    <a:pt x="363855" y="0"/>
                  </a:cubicBezTo>
                  <a:lnTo>
                    <a:pt x="20784186" y="0"/>
                  </a:lnTo>
                  <a:cubicBezTo>
                    <a:pt x="20985226" y="0"/>
                    <a:pt x="21148041" y="162941"/>
                    <a:pt x="21148041" y="363855"/>
                  </a:cubicBezTo>
                  <a:lnTo>
                    <a:pt x="21148041" y="1819529"/>
                  </a:lnTo>
                  <a:cubicBezTo>
                    <a:pt x="21148041" y="2020570"/>
                    <a:pt x="20985099" y="2183384"/>
                    <a:pt x="20784186" y="2183384"/>
                  </a:cubicBezTo>
                  <a:lnTo>
                    <a:pt x="363855" y="2183384"/>
                  </a:lnTo>
                  <a:cubicBezTo>
                    <a:pt x="162941" y="2183384"/>
                    <a:pt x="0" y="2020443"/>
                    <a:pt x="0" y="1819529"/>
                  </a:cubicBezTo>
                  <a:close/>
                </a:path>
              </a:pathLst>
            </a:custGeom>
            <a:solidFill>
              <a:srgbClr val="F5F4FA"/>
            </a:solidFill>
            <a:ln w="19050" cap="sq">
              <a:solidFill>
                <a:srgbClr val="E1DFEB"/>
              </a:solidFill>
              <a:prstDash val="solid"/>
              <a:miter/>
            </a:ln>
          </p:spPr>
        </p:sp>
      </p:grpSp>
      <p:grpSp>
        <p:nvGrpSpPr>
          <p:cNvPr name="Group 23" id="23"/>
          <p:cNvGrpSpPr/>
          <p:nvPr/>
        </p:nvGrpSpPr>
        <p:grpSpPr>
          <a:xfrm rot="0">
            <a:off x="1234440" y="6240780"/>
            <a:ext cx="96012" cy="1618488"/>
            <a:chOff x="0" y="0"/>
            <a:chExt cx="128016" cy="2157984"/>
          </a:xfrm>
        </p:grpSpPr>
        <p:sp>
          <p:nvSpPr>
            <p:cNvPr name="Freeform 24" id="24"/>
            <p:cNvSpPr/>
            <p:nvPr/>
          </p:nvSpPr>
          <p:spPr>
            <a:xfrm flipH="false" flipV="false" rot="0">
              <a:off x="0" y="0"/>
              <a:ext cx="128016" cy="2157984"/>
            </a:xfrm>
            <a:custGeom>
              <a:avLst/>
              <a:gdLst/>
              <a:ahLst/>
              <a:cxnLst/>
              <a:rect r="r" b="b" t="t" l="l"/>
              <a:pathLst>
                <a:path h="2157984" w="128016">
                  <a:moveTo>
                    <a:pt x="0" y="0"/>
                  </a:moveTo>
                  <a:lnTo>
                    <a:pt x="128016" y="0"/>
                  </a:lnTo>
                  <a:lnTo>
                    <a:pt x="128016" y="2157984"/>
                  </a:lnTo>
                  <a:lnTo>
                    <a:pt x="0" y="2157984"/>
                  </a:lnTo>
                  <a:close/>
                </a:path>
              </a:pathLst>
            </a:custGeom>
            <a:solidFill>
              <a:srgbClr val="6C2FDB"/>
            </a:solidFill>
          </p:spPr>
        </p:sp>
      </p:grpSp>
      <p:sp>
        <p:nvSpPr>
          <p:cNvPr name="TextBox 25" id="25"/>
          <p:cNvSpPr txBox="true"/>
          <p:nvPr/>
        </p:nvSpPr>
        <p:spPr>
          <a:xfrm rot="0">
            <a:off x="1298448" y="549021"/>
            <a:ext cx="15700248" cy="708279"/>
          </a:xfrm>
          <a:prstGeom prst="rect">
            <a:avLst/>
          </a:prstGeom>
        </p:spPr>
        <p:txBody>
          <a:bodyPr anchor="t" rtlCol="false" tIns="0" lIns="0" bIns="0" rIns="0">
            <a:spAutoFit/>
          </a:bodyPr>
          <a:lstStyle/>
          <a:p>
            <a:pPr algn="l">
              <a:lnSpc>
                <a:spcPts val="4860"/>
              </a:lnSpc>
            </a:pPr>
            <a:r>
              <a:rPr lang="en-US" sz="4050" b="true">
                <a:solidFill>
                  <a:srgbClr val="12122D"/>
                </a:solidFill>
                <a:latin typeface="Aptos Bold"/>
                <a:ea typeface="Aptos Bold"/>
                <a:cs typeface="Aptos Bold"/>
                <a:sym typeface="Aptos Bold"/>
              </a:rPr>
              <a:t>Brownie Points: Differentiation</a:t>
            </a:r>
          </a:p>
        </p:txBody>
      </p:sp>
      <p:sp>
        <p:nvSpPr>
          <p:cNvPr name="TextBox 26" id="26"/>
          <p:cNvSpPr txBox="true"/>
          <p:nvPr/>
        </p:nvSpPr>
        <p:spPr>
          <a:xfrm rot="0">
            <a:off x="1517904" y="2313051"/>
            <a:ext cx="71551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Conversation is interruptible</a:t>
            </a:r>
          </a:p>
        </p:txBody>
      </p:sp>
      <p:sp>
        <p:nvSpPr>
          <p:cNvPr name="TextBox 27" id="27"/>
          <p:cNvSpPr txBox="true"/>
          <p:nvPr/>
        </p:nvSpPr>
        <p:spPr>
          <a:xfrm rot="0">
            <a:off x="1517904" y="2793111"/>
            <a:ext cx="7155180" cy="523875"/>
          </a:xfrm>
          <a:prstGeom prst="rect">
            <a:avLst/>
          </a:prstGeom>
        </p:spPr>
        <p:txBody>
          <a:bodyPr anchor="t" rtlCol="false" tIns="0" lIns="0" bIns="0" rIns="0">
            <a:spAutoFit/>
          </a:bodyPr>
          <a:lstStyle/>
          <a:p>
            <a:pPr algn="l">
              <a:lnSpc>
                <a:spcPts val="2039"/>
              </a:lnSpc>
            </a:pPr>
            <a:r>
              <a:rPr lang="en-US" sz="1699">
                <a:solidFill>
                  <a:srgbClr val="5C5C70"/>
                </a:solidFill>
                <a:latin typeface="Aptos"/>
                <a:ea typeface="Aptos"/>
                <a:cs typeface="Aptos"/>
                <a:sym typeface="Aptos"/>
              </a:rPr>
              <a:t>Not just streaming output: user speech can stop the agent mid-response and restart the interaction.</a:t>
            </a:r>
          </a:p>
        </p:txBody>
      </p:sp>
      <p:sp>
        <p:nvSpPr>
          <p:cNvPr name="TextBox 28" id="28"/>
          <p:cNvSpPr txBox="true"/>
          <p:nvPr/>
        </p:nvSpPr>
        <p:spPr>
          <a:xfrm rot="0">
            <a:off x="9747504" y="2313051"/>
            <a:ext cx="7155180" cy="323850"/>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Voice can execute actions</a:t>
            </a:r>
          </a:p>
        </p:txBody>
      </p:sp>
      <p:sp>
        <p:nvSpPr>
          <p:cNvPr name="TextBox 29" id="29"/>
          <p:cNvSpPr txBox="true"/>
          <p:nvPr/>
        </p:nvSpPr>
        <p:spPr>
          <a:xfrm rot="0">
            <a:off x="9747504" y="2802636"/>
            <a:ext cx="7155180" cy="476250"/>
          </a:xfrm>
          <a:prstGeom prst="rect">
            <a:avLst/>
          </a:prstGeom>
        </p:spPr>
        <p:txBody>
          <a:bodyPr anchor="t" rtlCol="false" tIns="0" lIns="0" bIns="0" rIns="0">
            <a:spAutoFit/>
          </a:bodyPr>
          <a:lstStyle/>
          <a:p>
            <a:pPr algn="l">
              <a:lnSpc>
                <a:spcPts val="1919"/>
              </a:lnSpc>
            </a:pPr>
            <a:r>
              <a:rPr lang="en-US" sz="1599">
                <a:solidFill>
                  <a:srgbClr val="5C5C70"/>
                </a:solidFill>
                <a:latin typeface="Aptos"/>
                <a:ea typeface="Aptos"/>
                <a:cs typeface="Aptos"/>
                <a:sym typeface="Aptos"/>
              </a:rPr>
              <a:t>The LLM is connected to real Python functions, making the assistant action-oriented.</a:t>
            </a:r>
          </a:p>
        </p:txBody>
      </p:sp>
      <p:sp>
        <p:nvSpPr>
          <p:cNvPr name="TextBox 30" id="30"/>
          <p:cNvSpPr txBox="true"/>
          <p:nvPr/>
        </p:nvSpPr>
        <p:spPr>
          <a:xfrm rot="0">
            <a:off x="1517904" y="4370451"/>
            <a:ext cx="71551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Cross-domain tool surface</a:t>
            </a:r>
          </a:p>
        </p:txBody>
      </p:sp>
      <p:sp>
        <p:nvSpPr>
          <p:cNvPr name="TextBox 31" id="31"/>
          <p:cNvSpPr txBox="true"/>
          <p:nvPr/>
        </p:nvSpPr>
        <p:spPr>
          <a:xfrm rot="0">
            <a:off x="1517904" y="4860036"/>
            <a:ext cx="7155180" cy="476250"/>
          </a:xfrm>
          <a:prstGeom prst="rect">
            <a:avLst/>
          </a:prstGeom>
        </p:spPr>
        <p:txBody>
          <a:bodyPr anchor="t" rtlCol="false" tIns="0" lIns="0" bIns="0" rIns="0">
            <a:spAutoFit/>
          </a:bodyPr>
          <a:lstStyle/>
          <a:p>
            <a:pPr algn="l">
              <a:lnSpc>
                <a:spcPts val="1919"/>
              </a:lnSpc>
            </a:pPr>
            <a:r>
              <a:rPr lang="en-US" sz="1599">
                <a:solidFill>
                  <a:srgbClr val="5C5C70"/>
                </a:solidFill>
                <a:latin typeface="Aptos"/>
                <a:ea typeface="Aptos"/>
                <a:cs typeface="Aptos"/>
                <a:sym typeface="Aptos"/>
              </a:rPr>
              <a:t>12 tools cover four common consumer workflows without changing the voice interface.</a:t>
            </a:r>
          </a:p>
        </p:txBody>
      </p:sp>
      <p:sp>
        <p:nvSpPr>
          <p:cNvPr name="TextBox 32" id="32"/>
          <p:cNvSpPr txBox="true"/>
          <p:nvPr/>
        </p:nvSpPr>
        <p:spPr>
          <a:xfrm rot="0">
            <a:off x="9747504" y="4370451"/>
            <a:ext cx="71551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Benchmark-first mindset</a:t>
            </a:r>
          </a:p>
        </p:txBody>
      </p:sp>
      <p:sp>
        <p:nvSpPr>
          <p:cNvPr name="TextBox 33" id="33"/>
          <p:cNvSpPr txBox="true"/>
          <p:nvPr/>
        </p:nvSpPr>
        <p:spPr>
          <a:xfrm rot="0">
            <a:off x="9692640" y="4988052"/>
            <a:ext cx="7155180" cy="813816"/>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FDB-v3 gives the project a repeatable way to measure latency and tool-call behavior.</a:t>
            </a:r>
          </a:p>
        </p:txBody>
      </p:sp>
      <p:sp>
        <p:nvSpPr>
          <p:cNvPr name="TextBox 34" id="34"/>
          <p:cNvSpPr txBox="true"/>
          <p:nvPr/>
        </p:nvSpPr>
        <p:spPr>
          <a:xfrm rot="0">
            <a:off x="1517904" y="6427851"/>
            <a:ext cx="15384780" cy="38442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Engineering resilience</a:t>
            </a:r>
          </a:p>
        </p:txBody>
      </p:sp>
      <p:sp>
        <p:nvSpPr>
          <p:cNvPr name="TextBox 35" id="35"/>
          <p:cNvSpPr txBox="true"/>
          <p:nvPr/>
        </p:nvSpPr>
        <p:spPr>
          <a:xfrm rot="0">
            <a:off x="1517904" y="6917436"/>
            <a:ext cx="15384780" cy="813816"/>
          </a:xfrm>
          <a:prstGeom prst="rect">
            <a:avLst/>
          </a:prstGeom>
        </p:spPr>
        <p:txBody>
          <a:bodyPr anchor="t" rtlCol="false" tIns="0" lIns="0" bIns="0" rIns="0">
            <a:spAutoFit/>
          </a:bodyPr>
          <a:lstStyle/>
          <a:p>
            <a:pPr algn="l">
              <a:lnSpc>
                <a:spcPts val="1800"/>
              </a:lnSpc>
            </a:pPr>
            <a:r>
              <a:rPr lang="en-US" sz="1500">
                <a:solidFill>
                  <a:srgbClr val="5C5C70"/>
                </a:solidFill>
                <a:latin typeface="Aptos"/>
                <a:ea typeface="Aptos"/>
                <a:cs typeface="Aptos"/>
                <a:sym typeface="Aptos"/>
              </a:rPr>
              <a:t>The team addressed external-drive filesystem artifacts and consolidated inference credentials.</a:t>
            </a:r>
          </a:p>
        </p:txBody>
      </p:sp>
      <p:sp>
        <p:nvSpPr>
          <p:cNvPr name="TextBox 36" id="36"/>
          <p:cNvSpPr txBox="true"/>
          <p:nvPr/>
        </p:nvSpPr>
        <p:spPr>
          <a:xfrm rot="0">
            <a:off x="1339596" y="8444103"/>
            <a:ext cx="15014448" cy="453009"/>
          </a:xfrm>
          <a:prstGeom prst="rect">
            <a:avLst/>
          </a:prstGeom>
        </p:spPr>
        <p:txBody>
          <a:bodyPr anchor="t" rtlCol="false" tIns="0" lIns="0" bIns="0" rIns="0">
            <a:spAutoFit/>
          </a:bodyPr>
          <a:lstStyle/>
          <a:p>
            <a:pPr algn="l">
              <a:lnSpc>
                <a:spcPts val="2520"/>
              </a:lnSpc>
            </a:pPr>
            <a:r>
              <a:rPr lang="en-US" sz="2100" b="true">
                <a:solidFill>
                  <a:srgbClr val="12122D"/>
                </a:solidFill>
                <a:latin typeface="Aptos Bold"/>
                <a:ea typeface="Aptos Bold"/>
                <a:cs typeface="Aptos Bold"/>
                <a:sym typeface="Aptos Bold"/>
              </a:rPr>
              <a:t>Core differentiator: a voice interface that can listen, reason, act, speak—and be interrupted.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76943" y="3652986"/>
            <a:ext cx="10134115" cy="2981027"/>
            <a:chOff x="0" y="0"/>
            <a:chExt cx="7596973" cy="2234708"/>
          </a:xfrm>
        </p:grpSpPr>
        <p:sp>
          <p:nvSpPr>
            <p:cNvPr name="Freeform 3" id="3"/>
            <p:cNvSpPr/>
            <p:nvPr/>
          </p:nvSpPr>
          <p:spPr>
            <a:xfrm flipH="false" flipV="false" rot="0">
              <a:off x="0" y="0"/>
              <a:ext cx="7596973" cy="2234708"/>
            </a:xfrm>
            <a:custGeom>
              <a:avLst/>
              <a:gdLst/>
              <a:ahLst/>
              <a:cxnLst/>
              <a:rect r="r" b="b" t="t" l="l"/>
              <a:pathLst>
                <a:path h="2234708" w="7596973">
                  <a:moveTo>
                    <a:pt x="0" y="0"/>
                  </a:moveTo>
                  <a:lnTo>
                    <a:pt x="7596973" y="0"/>
                  </a:lnTo>
                  <a:lnTo>
                    <a:pt x="7596973" y="2234708"/>
                  </a:lnTo>
                  <a:lnTo>
                    <a:pt x="0" y="2234708"/>
                  </a:lnTo>
                  <a:close/>
                </a:path>
              </a:pathLst>
            </a:custGeom>
            <a:blipFill>
              <a:blip r:embed="rId2">
                <a:alphaModFix amt="0"/>
              </a:blip>
              <a:stretch>
                <a:fillRect l="0" t="-79126" r="-78138" b="-56871"/>
              </a:stretch>
            </a:blipFill>
          </p:spPr>
        </p:sp>
        <p:sp>
          <p:nvSpPr>
            <p:cNvPr name="TextBox 4" id="4"/>
            <p:cNvSpPr txBox="true"/>
            <p:nvPr/>
          </p:nvSpPr>
          <p:spPr>
            <a:xfrm>
              <a:off x="0" y="-47625"/>
              <a:ext cx="7596973" cy="2282333"/>
            </a:xfrm>
            <a:prstGeom prst="rect">
              <a:avLst/>
            </a:prstGeom>
          </p:spPr>
          <p:txBody>
            <a:bodyPr anchor="ctr" rtlCol="false" tIns="0" lIns="0" bIns="0" rIns="0"/>
            <a:lstStyle/>
            <a:p>
              <a:pPr algn="l">
                <a:lnSpc>
                  <a:spcPts val="17280"/>
                </a:lnSpc>
              </a:pPr>
              <a:r>
                <a:rPr lang="en-US" b="true" sz="14400">
                  <a:solidFill>
                    <a:srgbClr val="14142B"/>
                  </a:solidFill>
                  <a:latin typeface="Arial Bold"/>
                  <a:ea typeface="Arial Bold"/>
                  <a:cs typeface="Arial Bold"/>
                  <a:sym typeface="Arial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DAHWrtRG4J0</dc:identifier>
  <dcterms:modified xsi:type="dcterms:W3CDTF">2011-08-01T06:04:30Z</dcterms:modified>
  <cp:revision>1</cp:revision>
  <dc:title>SRMIST_Code4Fun_Submission</dc:title>
</cp:coreProperties>
</file>